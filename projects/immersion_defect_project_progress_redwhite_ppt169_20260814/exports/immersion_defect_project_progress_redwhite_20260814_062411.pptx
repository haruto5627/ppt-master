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各位好。这是演示用虚构项目进展。总体完成百分之六十一点四，比基线落后三点八个百分点。阶段验收仍指向十二月十五日。关键路径已经从窗口摸底转到浸没头保养和边缘工程。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工艺窗口百分之八十八超前，物料百分之八十一按期。检测策略百分之五十八，非图形和显影后检测的相关性只有零点六二，目标零点八零。设备清洁百分之四十四、边缘百分之三十九落后。五项决策要在八月二十一日前关掉，才能追回大约六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能力不是买一台检测机。底层是工艺窗口和物料，中间是设备健康和检测策略，上层才是边缘工程和量产资格。文献里这六包反复出现，不是SEMI强制模板，但够用来排关键路径。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进度条把落后说清楚：设备清洁百分之四十四，边缘百分之三十九，量产资格百分之二十二还没到窗口。超前项不能掩盖这两条短板。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非图形监控和水印计数的相关系数是零点六二，锁不住就无法用空白片代理图形缺陷。SEM 看不见比例从百分之二十八降到百分之二十二，内控仍要低于百分之十五。需要增加复核机时，并把分层规则推进统计过程控制。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S01 空白片九、S03 十一，S02 二十七，目标不超过十二。台面刚清洁过，气帘复测还没排进窗口。末镜雾度相对 S01 高一点八倍。周期清洗合格点预测再延七天。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最高风险是产能挤占保养窗口。其次是监控失真，以及用检测阈值制造虚假回收。疏水顶层涂膜可能把水印换成团状缺陷，先观察不要贸然切材料。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请当场表态五项：冻结阈值、给 S02 八小时保养、批准切边加宽试验、增加 SEM 机时、以及第三十五周密度仍高于零点二四就评估换头。不决策，年底资格包会失去升级路径。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project_progress_redwhi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project_progress_redwhi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9684" y="540068"/>
            <a:ext cx="5576316" cy="1279207"/>
            <a:chOff x="519684" y="540068"/>
            <a:chExt cx="5576316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4010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PROJECT REVIEW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684" y="927735"/>
              <a:ext cx="48664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浸没缺陷能力建设项目进展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53656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DEF-193I-24 ｜ 阶段验收 2026-12-15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5562600" cy="9525"/>
            </a:xfrm>
            <a:custGeom>
              <a:avLst/>
              <a:gdLst/>
              <a:ahLst/>
              <a:cxnLst/>
              <a:rect l="l" t="t" r="r" b="b"/>
              <a:pathLst>
                <a:path w="5562600" h="9525">
                  <a:moveTo>
                    <a:pt x="0" y="0"/>
                  </a:moveTo>
                  <a:lnTo>
                    <a:pt x="5562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9684" y="2349818"/>
            <a:ext cx="3244596" cy="2296477"/>
            <a:chOff x="519684" y="2349818"/>
            <a:chExt cx="3244596" cy="229647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23920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OVERALL COMPLETION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9684" y="3251835"/>
              <a:ext cx="12170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61.4%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4256" y="3901440"/>
              <a:ext cx="2898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较基线落后 3.8 个百分点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780" y="4352925"/>
              <a:ext cx="32385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关键路径：hood PM 与边缘工程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08142" y="3283268"/>
            <a:ext cx="5436108" cy="1788033"/>
            <a:chOff x="5708142" y="3283268"/>
            <a:chExt cx="5436108" cy="1788033"/>
          </a:xfrm>
        </p:grpSpPr>
        <p:sp>
          <p:nvSpPr>
            <p:cNvPr id="13" name="Freeform 13"/>
            <p:cNvSpPr/>
            <p:nvPr/>
          </p:nvSpPr>
          <p:spPr>
            <a:xfrm>
              <a:off x="5905500" y="3619500"/>
              <a:ext cx="5143500" cy="952500"/>
            </a:xfrm>
            <a:custGeom>
              <a:avLst/>
              <a:gdLst/>
              <a:ahLst/>
              <a:cxnLst/>
              <a:rect l="l" t="t" r="r" b="b"/>
              <a:pathLst>
                <a:path w="5143500" h="952500">
                  <a:moveTo>
                    <a:pt x="0" y="952500"/>
                  </a:moveTo>
                  <a:lnTo>
                    <a:pt x="1524000" y="952500"/>
                  </a:lnTo>
                  <a:lnTo>
                    <a:pt x="1524000" y="381000"/>
                  </a:lnTo>
                  <a:lnTo>
                    <a:pt x="3238500" y="381000"/>
                  </a:lnTo>
                  <a:lnTo>
                    <a:pt x="3238500" y="0"/>
                  </a:lnTo>
                  <a:lnTo>
                    <a:pt x="5143500" y="0"/>
                  </a:ln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5829300" y="4495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353300" y="3924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067800" y="3543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953750" y="3524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08142" y="480726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窗口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366426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物料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51392" y="3283268"/>
              <a:ext cx="4361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70642" y="3283268"/>
              <a:ext cx="397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资格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23" name="Rectangle 23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25729" y="6236018"/>
              <a:ext cx="14250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演示用虚构案例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93352" y="62522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188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39878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窗口超前，关键路径在 hood 与边缘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P02 / 08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409700"/>
            <a:ext cx="3429000" cy="4762500"/>
            <a:chOff x="457200" y="1409700"/>
            <a:chExt cx="3429000" cy="4762500"/>
          </a:xfrm>
        </p:grpSpPr>
        <p:sp>
          <p:nvSpPr>
            <p:cNvPr id="7" name="Rectangle 7"/>
            <p:cNvSpPr/>
            <p:nvPr/>
          </p:nvSpPr>
          <p:spPr>
            <a:xfrm>
              <a:off x="457200" y="1409700"/>
              <a:ext cx="3429000" cy="4762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8942" y="1759268"/>
              <a:ext cx="13777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COMPLETION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2084" y="2566035"/>
              <a:ext cx="12170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61.4%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3267075"/>
              <a:ext cx="17754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落后 3.8 个百分点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7338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6656" y="4091940"/>
              <a:ext cx="26170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按时决策可追回约 6 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4600575"/>
              <a:ext cx="2234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守住 12 月 15 日资格包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0" y="1409700"/>
            <a:ext cx="4835957" cy="4762500"/>
            <a:chOff x="4191000" y="1409700"/>
            <a:chExt cx="4835957" cy="4762500"/>
          </a:xfrm>
        </p:grpSpPr>
        <p:sp>
          <p:nvSpPr>
            <p:cNvPr id="15" name="Line 15"/>
            <p:cNvSpPr/>
            <p:nvPr/>
          </p:nvSpPr>
          <p:spPr>
            <a:xfrm>
              <a:off x="4267200" y="14097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191000" y="1828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62856" y="1786890"/>
              <a:ext cx="2770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进展 工艺窗口 88% 超前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4380" y="2162175"/>
              <a:ext cx="1818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物料规格 81% 按期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191000" y="2971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62856" y="2929890"/>
              <a:ext cx="21817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能力 检测策略 58%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4380" y="3305175"/>
              <a:ext cx="4160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非图形与 ADI 相关 0.62，目标 0.80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191000" y="4114800"/>
              <a:ext cx="152400" cy="152400"/>
            </a:xfrm>
            <a:prstGeom prst="ellipse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2856" y="4072890"/>
              <a:ext cx="30266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风险 设备 44% / 边缘 39%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4380" y="4448175"/>
              <a:ext cx="3849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S02 PWP 27，PM 窗口被产能挤占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191000" y="525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62856" y="5215890"/>
              <a:ext cx="44641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决策 D01–D05 须在 8 月 21 日前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4380" y="5591175"/>
              <a:ext cx="3318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冻结阈值，并给出 8 小时 PM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93352" y="64808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188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1237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六包闭环：工艺到 HVM 资格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P03 / 08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6858000" cy="3657600"/>
            <a:chOff x="762000" y="1905000"/>
            <a:chExt cx="6858000" cy="3657600"/>
          </a:xfrm>
        </p:grpSpPr>
        <p:sp>
          <p:nvSpPr>
            <p:cNvPr id="7" name="Rectangle 7"/>
            <p:cNvSpPr/>
            <p:nvPr/>
          </p:nvSpPr>
          <p:spPr>
            <a:xfrm>
              <a:off x="762000" y="1905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6B6B6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2091690"/>
              <a:ext cx="1976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HVM 资格 22%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667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3356" y="2853690"/>
              <a:ext cx="32442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边缘工程 39% 检测策略 58%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3429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7A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3356" y="3615690"/>
              <a:ext cx="2450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设备清洁 / hood 44%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4191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3356" y="4377690"/>
              <a:ext cx="2104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物料与化学品 81%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4953000"/>
              <a:ext cx="6858000" cy="6096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3356" y="5139690"/>
              <a:ext cx="236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工艺窗口与叠层 88%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63356" y="1854518"/>
            <a:ext cx="2755773" cy="3788283"/>
            <a:chOff x="8563356" y="1854518"/>
            <a:chExt cx="2755773" cy="3788283"/>
          </a:xfrm>
        </p:grpSpPr>
        <p:sp>
          <p:nvSpPr>
            <p:cNvPr id="18" name="TextBox 18"/>
            <p:cNvSpPr txBox="1"/>
            <p:nvPr/>
          </p:nvSpPr>
          <p:spPr>
            <a:xfrm>
              <a:off x="8565642" y="1854518"/>
              <a:ext cx="6549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GATES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63356" y="2377440"/>
              <a:ext cx="16971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G1 窗口冻结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3356" y="2948940"/>
              <a:ext cx="16971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G2 物料点检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63356" y="3520440"/>
              <a:ext cx="16971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G3 工具健康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3356" y="4091940"/>
              <a:ext cx="16971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G4 监控相关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63356" y="4663440"/>
              <a:ext cx="13862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G5 资格包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65642" y="5378768"/>
              <a:ext cx="2753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文献工作包，非 SEMI 强制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93352" y="64808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188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72138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落后集中在设备清洁 44% 与边缘 39%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P04 / 08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0456" y="1676400"/>
            <a:ext cx="9479280" cy="3815334"/>
            <a:chOff x="600456" y="1676400"/>
            <a:chExt cx="9479280" cy="3815334"/>
          </a:xfrm>
        </p:grpSpPr>
        <p:sp>
          <p:nvSpPr>
            <p:cNvPr id="7" name="TextBox 7"/>
            <p:cNvSpPr txBox="1"/>
            <p:nvPr/>
          </p:nvSpPr>
          <p:spPr>
            <a:xfrm>
              <a:off x="600456" y="17106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工艺窗口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667000" y="16764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2667000" y="1676400"/>
              <a:ext cx="6029325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69780" y="17049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88%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0456" y="23964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物料规格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67000" y="23622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7000" y="2362200"/>
              <a:ext cx="5553075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69780" y="23907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81%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0456" y="30822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检测策略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7000" y="30480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3048000"/>
              <a:ext cx="3971925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69780" y="30765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58%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0456" y="37680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设备清洁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67000" y="37338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67000" y="3733800"/>
              <a:ext cx="3009900" cy="20955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69780" y="37623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44%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0456" y="44538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边缘工程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667000" y="44196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67000" y="4419600"/>
              <a:ext cx="2667000" cy="209550"/>
            </a:xfrm>
            <a:prstGeom prst="rect">
              <a:avLst/>
            </a:prstGeom>
            <a:solidFill>
              <a:srgbClr val="7A00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669780" y="44481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39%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0456" y="5139690"/>
              <a:ext cx="13085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HVM 资格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667000" y="5105400"/>
              <a:ext cx="6858000" cy="2095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67000" y="5105400"/>
              <a:ext cx="1504950" cy="209550"/>
            </a:xfrm>
            <a:prstGeom prst="rect">
              <a:avLst/>
            </a:prstGeom>
            <a:solidFill>
              <a:srgbClr val="6B6B6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669780" y="51339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22%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93352" y="64808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188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63930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非图形监控尚未锁住 ADI 水印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P05 / 08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72084" y="1805940"/>
            <a:ext cx="10757916" cy="3545205"/>
            <a:chOff x="672084" y="1805940"/>
            <a:chExt cx="10757916" cy="3545205"/>
          </a:xfrm>
        </p:grpSpPr>
        <p:sp>
          <p:nvSpPr>
            <p:cNvPr id="7" name="TextBox 7"/>
            <p:cNvSpPr txBox="1"/>
            <p:nvPr/>
          </p:nvSpPr>
          <p:spPr>
            <a:xfrm>
              <a:off x="676656" y="1805940"/>
              <a:ext cx="3023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非图形 vs ADI 水印相关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72084" y="2566035"/>
              <a:ext cx="91458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0.62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3139440"/>
              <a:ext cx="43241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目标 0.80 ｜ M6 预测延后 7 天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3714750"/>
              <a:ext cx="5029200" cy="9525"/>
            </a:xfrm>
            <a:custGeom>
              <a:avLst/>
              <a:gdLst/>
              <a:ahLst/>
              <a:cxnLst/>
              <a:rect l="l" t="t" r="r" b="b"/>
              <a:pathLst>
                <a:path w="5029200" h="9525">
                  <a:moveTo>
                    <a:pt x="0" y="0"/>
                  </a:moveTo>
                  <a:lnTo>
                    <a:pt x="50292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6656" y="3996690"/>
              <a:ext cx="46195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SNV 28% → 22%（坐标补偿试点）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4453890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内控仍要 &lt;15%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5057775"/>
              <a:ext cx="4277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DSA 当层/前层规则已草稿，未进 SPC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175500" y="2184400"/>
              <a:ext cx="203199" cy="203199"/>
              <a:chOff x="7175500" y="2184400"/>
              <a:chExt cx="203199" cy="20319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175500" y="2184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50800"/>
                    </a:move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175500" y="23367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0" y="25400"/>
                    </a:lnTo>
                    <a:cubicBezTo>
                      <a:pt x="0" y="39428"/>
                      <a:pt x="11372" y="50800"/>
                      <a:pt x="25400" y="50800"/>
                    </a:cubicBez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327899" y="2184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25400" y="0"/>
                    </a:lnTo>
                    <a:cubicBezTo>
                      <a:pt x="39428" y="0"/>
                      <a:pt x="50800" y="11372"/>
                      <a:pt x="50800" y="25400"/>
                    </a:cubicBezTo>
                    <a:lnTo>
                      <a:pt x="50800" y="508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327899" y="23367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50800"/>
                    </a:moveTo>
                    <a:lnTo>
                      <a:pt x="25400" y="50800"/>
                    </a:lnTo>
                    <a:cubicBezTo>
                      <a:pt x="39428" y="50800"/>
                      <a:pt x="50800" y="39428"/>
                      <a:pt x="50800" y="2540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26300" y="22352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296150" y="23050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3175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534656" y="216789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监测缺口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17080" y="2790825"/>
              <a:ext cx="2126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图形 ADI 捕获 91%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17080" y="3248025"/>
              <a:ext cx="1508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非图形相关未锁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17080" y="3705225"/>
              <a:ext cx="2074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SNV 治理停在试点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17080" y="4162425"/>
              <a:ext cx="25930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DUV 小缺陷能力未铺开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7080" y="4791075"/>
              <a:ext cx="2761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需要增补 SEM 机时 20%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93352" y="64808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188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59523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S02 PWP 仍是工具健康短板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P06 / 08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8942" y="1644968"/>
            <a:ext cx="6179058" cy="3999166"/>
            <a:chOff x="678942" y="1644968"/>
            <a:chExt cx="6179058" cy="3999166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1644968"/>
              <a:ext cx="12999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PWP #/wafer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5143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62000" y="39624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  <a:custDash>
                <a:ds d="400000" sp="400000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5904" y="3718560"/>
              <a:ext cx="686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 ≤12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0" y="4257675"/>
              <a:ext cx="857250" cy="885825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95831" y="3981450"/>
              <a:ext cx="13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6492" y="5292090"/>
              <a:ext cx="531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429000" y="2476500"/>
              <a:ext cx="857250" cy="2667000"/>
            </a:xfrm>
            <a:prstGeom prst="rect">
              <a:avLst/>
            </a:prstGeom>
            <a:noFill/>
            <a:ln w="19050">
              <a:solidFill>
                <a:srgbClr val="7A0000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32657" y="220027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91992" y="5292090"/>
              <a:ext cx="531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524500" y="4057650"/>
              <a:ext cx="857250" cy="108585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828157" y="3781425"/>
              <a:ext cx="2499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87492" y="5292090"/>
              <a:ext cx="5312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S03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63256" y="1901190"/>
            <a:ext cx="3760470" cy="2707005"/>
            <a:chOff x="7763256" y="1901190"/>
            <a:chExt cx="3760470" cy="2707005"/>
          </a:xfrm>
        </p:grpSpPr>
        <p:sp>
          <p:nvSpPr>
            <p:cNvPr id="21" name="TextBox 21"/>
            <p:cNvSpPr txBox="1"/>
            <p:nvPr/>
          </p:nvSpPr>
          <p:spPr>
            <a:xfrm>
              <a:off x="7763256" y="1901190"/>
              <a:ext cx="32049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S02 台面清洁 8 月 6 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63256" y="2472690"/>
              <a:ext cx="27066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hood 气帘复测仍未排入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3256" y="3044190"/>
              <a:ext cx="33691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末镜 haze 相对 S01 高 1.8×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64780" y="3838575"/>
              <a:ext cx="375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M5 周期清洗合格预测 8 月 27 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64780" y="4314825"/>
              <a:ext cx="2607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A0000"/>
                  </a:solidFill>
                  <a:latin typeface="+mn-lt"/>
                  <a:ea typeface="+mn-ea"/>
                  <a:cs typeface="+mn-cs"/>
                </a:rPr>
                <a:t>再延 7 天，年底资格包承压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93352" y="64808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188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732338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产能挤占 PM 窗口是当前最高风险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P07 / 08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600200"/>
              <a:ext cx="11125200" cy="914400"/>
              <a:chOff x="533400" y="1600200"/>
              <a:chExt cx="11125200" cy="914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7A0000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93929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+mn-lt"/>
                    <a:ea typeface="+mn-ea"/>
                    <a:cs typeface="+mn-cs"/>
                  </a:rPr>
                  <a:t>R01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95856" y="1939290"/>
                <a:ext cx="31072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S02 hood PM 被产能挤占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925812" y="1971675"/>
                <a:ext cx="5593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7A0000"/>
                    </a:solidFill>
                    <a:latin typeface="+mn-lt"/>
                    <a:ea typeface="+mn-ea"/>
                    <a:cs typeface="+mn-cs"/>
                  </a:rPr>
                  <a:t>高×高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33400" y="2667000"/>
              <a:ext cx="11125200" cy="914400"/>
              <a:chOff x="533400" y="2667000"/>
              <a:chExt cx="11125200" cy="914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26670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29056" y="300609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R02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895856" y="3006090"/>
                <a:ext cx="320497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非图形–ADI 相关锁不住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925812" y="3038475"/>
                <a:ext cx="5593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中×高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3733800"/>
              <a:ext cx="11125200" cy="914400"/>
              <a:chOff x="533400" y="3733800"/>
              <a:chExt cx="11125200" cy="9144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533400" y="37338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29056" y="407289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R03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895856" y="4072890"/>
                <a:ext cx="35259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疏水 topcoat 降水分但抬 blob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925812" y="4105275"/>
                <a:ext cx="5593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中×中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4800600"/>
              <a:ext cx="11125200" cy="914400"/>
              <a:chOff x="533400" y="4800600"/>
              <a:chExt cx="11125200" cy="914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48006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rgbClr val="7A000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29056" y="5139690"/>
                <a:ext cx="53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7A0000"/>
                    </a:solidFill>
                    <a:latin typeface="+mn-lt"/>
                    <a:ea typeface="+mn-ea"/>
                    <a:cs typeface="+mn-cs"/>
                  </a:rPr>
                  <a:t>R04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895856" y="5139690"/>
                <a:ext cx="334487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用阈值制造虚假 D0 回收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925812" y="5172075"/>
                <a:ext cx="5593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500" dirty="0">
                    <a:solidFill>
                      <a:srgbClr val="7A0000"/>
                    </a:solidFill>
                    <a:latin typeface="+mn-lt"/>
                    <a:ea typeface="+mn-ea"/>
                    <a:cs typeface="+mn-cs"/>
                  </a:rPr>
                  <a:t>中×高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93352" y="64808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8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3484" y="346710"/>
            <a:ext cx="11297412" cy="918591"/>
            <a:chOff x="443484" y="346710"/>
            <a:chExt cx="11297412" cy="918591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1885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DEF-193I-24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3484" y="737235"/>
              <a:ext cx="849857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冻结阈值并给出 S02 的 8 小时 PM 窗口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920374" y="346710"/>
              <a:ext cx="820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P08 / 08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1524000"/>
            <a:ext cx="11125200" cy="4381500"/>
            <a:chOff x="533400" y="1524000"/>
            <a:chExt cx="11125200" cy="43815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524000"/>
              <a:ext cx="11125200" cy="800100"/>
              <a:chOff x="533400" y="1524000"/>
              <a:chExt cx="11125200" cy="8001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5240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54380" y="1838325"/>
                <a:ext cx="4427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11630" y="1838325"/>
                <a:ext cx="24560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冻结 W35 前 recipe 阈值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84642" y="1854518"/>
                <a:ext cx="5417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08-16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327642" y="1854518"/>
                <a:ext cx="15499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回收曲线不可审计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2419350"/>
              <a:ext cx="11125200" cy="800100"/>
              <a:chOff x="533400" y="2419350"/>
              <a:chExt cx="11125200" cy="8001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41935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54380" y="2733675"/>
                <a:ext cx="4427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11630" y="2733675"/>
                <a:ext cx="2606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S02 给 8 小时 PM 窗口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84642" y="2749868"/>
                <a:ext cx="5417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08-18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327642" y="2749868"/>
                <a:ext cx="13544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M5 再延 7 天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533400" y="3314700"/>
              <a:ext cx="11125200" cy="800100"/>
              <a:chOff x="533400" y="3314700"/>
              <a:chExt cx="11125200" cy="8001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33147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54380" y="3629025"/>
                <a:ext cx="4427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11630" y="3629025"/>
                <a:ext cx="29769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批准 EBR 加宽 0.3 mm 试验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84642" y="3645218"/>
                <a:ext cx="5417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08-21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27642" y="3645218"/>
                <a:ext cx="15499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边缘颗粒继续回运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4210050"/>
              <a:ext cx="11125200" cy="800100"/>
              <a:chOff x="533400" y="4210050"/>
              <a:chExt cx="11125200" cy="8001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533400" y="421005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54380" y="4524375"/>
                <a:ext cx="4427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11630" y="4524375"/>
                <a:ext cx="27614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增补 SEM 复核机时 20%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84642" y="4540568"/>
                <a:ext cx="5417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08-21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27642" y="4540568"/>
                <a:ext cx="18674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SNV 治理停在试点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33400" y="5105400"/>
              <a:ext cx="11125200" cy="800100"/>
              <a:chOff x="533400" y="5105400"/>
              <a:chExt cx="11125200" cy="8001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5105400"/>
                <a:ext cx="11125200" cy="8001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54380" y="5419725"/>
                <a:ext cx="4427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D05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611630" y="5419725"/>
                <a:ext cx="29413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W35 D0&gt;0.24 则评估换 hood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84642" y="5435918"/>
                <a:ext cx="5417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08-21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27642" y="5435918"/>
                <a:ext cx="17419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资格包失去升级路径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480810"/>
              <a:ext cx="291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演示用虚构数据｜不代表真实工厂成绩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93352" y="6480810"/>
              <a:ext cx="2447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DWG NO. DEF-193I-24-08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project_progress_redwhite">
  <a:themeElements>
    <a:clrScheme name="immersion_defect_project_progress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immersion_defect_project_progress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project_progress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project_progress_redwhite">
  <a:themeElements>
    <a:clrScheme name="immersion_defect_project_progress_redwhite">
      <a:dk1>
        <a:srgbClr val="222222"/>
      </a:dk1>
      <a:lt1>
        <a:srgbClr val="FFFFFF"/>
      </a:lt1>
      <a:dk2>
        <a:srgbClr val="1F497D"/>
      </a:dk2>
      <a:lt2>
        <a:srgbClr val="E7F6FB"/>
      </a:lt2>
      <a:accent1>
        <a:srgbClr val="C00000"/>
      </a:accent1>
      <a:accent2>
        <a:srgbClr val="87D9F5"/>
      </a:accent2>
      <a:accent3>
        <a:srgbClr val="3D9EC4"/>
      </a:accent3>
      <a:accent4>
        <a:srgbClr val="C00000"/>
      </a:accent4>
      <a:accent5>
        <a:srgbClr val="D4EEF6"/>
      </a:accent5>
      <a:accent6>
        <a:srgbClr val="6B6B6B"/>
      </a:accent6>
      <a:hlink>
        <a:srgbClr val="87D9F5"/>
      </a:hlink>
      <a:folHlink>
        <a:srgbClr val="3D9EC4"/>
      </a:folHlink>
    </a:clrScheme>
    <a:fontScheme name="immersion_defect_project_progress_redwhite">
      <a:maj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Microsoft YaHei"/>
        <a:cs typeface="Times New Roma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project_progress_red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2026-08-14T06:24:11Z</dcterms:created>
  <dcterms:modified xsi:type="dcterms:W3CDTF">2026-08-14T06:24:11Z</dcterms:modified>
  <cp:category/>
  <cp:contentStatus/>
</cp:coreProperties>
</file>