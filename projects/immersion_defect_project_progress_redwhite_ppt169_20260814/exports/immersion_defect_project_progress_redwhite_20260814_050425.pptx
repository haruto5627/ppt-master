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各位好。这是演示用虚构项目进展。总体完成百分之六十一点四，比基线落后三点八个百分点。阶段验收仍指向十二月十五日。关键路径已经从窗口摸底转到浸没头保养和边缘工程。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工艺窗口百分之八十八超前，物料百分之八十一按期。检测策略百分之五十八，非图形和显影后检测的相关性只有零点六二，目标零点八零。设备清洁百分之四十四、边缘百分之三十九落后。五项决策要在八月二十一日前关掉，才能追回大约六天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能力不是买一台检测机。底层是工艺窗口和物料，中间是设备健康和检测策略，上层才是边缘工程和量产资格。文献里这六包反复出现，不是SEMI强制模板，但够用来排关键路径。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进度条把落后说清楚：设备清洁百分之四十四，边缘百分之三十九，量产资格百分之二十二还没到窗口。超前项不能掩盖这两条短板。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非图形监控和水印计数的相关系数是零点六二，锁不住就无法用空白片代理图形缺陷。SEM 看不见比例从百分之二十八降到百分之二十二，内控仍要低于百分之十五。需要增加复核机时，并把分层规则推进统计过程控制。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S01 空白片九、S03 十一，S02 二十七，目标不超过十二。台面刚清洁过，气帘复测还没排进窗口。末镜雾度相对 S01 高一点八倍。周期清洗合格点预测再延七天。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最高风险是产能挤占保养窗口。其次是监控失真，以及用检测阈值制造虚假回收。疏水顶层涂膜可能把水印换成团状缺陷，先观察不要贸然切材料。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请当场表态五项：冻结阈值、给 S02 八小时保养、批准切边加宽试验、增加 SEM 机时、以及第三十五周密度仍高于零点二四就评估换头。不决策，年底资格包会失去升级路径。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immersion_defect_project_progress_redwhit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immersion_defect_project_progress_redwhit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517398" y="540068"/>
            <a:ext cx="5578602" cy="1279207"/>
            <a:chOff x="517398" y="540068"/>
            <a:chExt cx="5578602" cy="1279207"/>
          </a:xfrm>
        </p:grpSpPr>
        <p:sp>
          <p:nvSpPr>
            <p:cNvPr id="3" name="TextBox 3"/>
            <p:cNvSpPr txBox="1"/>
            <p:nvPr/>
          </p:nvSpPr>
          <p:spPr>
            <a:xfrm>
              <a:off x="526542" y="540068"/>
              <a:ext cx="3304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PROJECT REVIEW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7398" y="879158"/>
              <a:ext cx="53750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浸没缺陷能力建设项目进展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24256" y="1443990"/>
              <a:ext cx="4422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DEF-193I-24 ｜ 阶段验收 2026-12-15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1809750"/>
              <a:ext cx="5562600" cy="9525"/>
            </a:xfrm>
            <a:custGeom>
              <a:avLst/>
              <a:gdLst/>
              <a:ahLst/>
              <a:cxnLst/>
              <a:rect l="l" t="t" r="r" b="b"/>
              <a:pathLst>
                <a:path w="5562600" h="9525">
                  <a:moveTo>
                    <a:pt x="0" y="0"/>
                  </a:moveTo>
                  <a:lnTo>
                    <a:pt x="55626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2349818"/>
            <a:ext cx="2927604" cy="2296477"/>
            <a:chOff x="514350" y="2349818"/>
            <a:chExt cx="2927604" cy="2296477"/>
          </a:xfrm>
        </p:grpSpPr>
        <p:sp>
          <p:nvSpPr>
            <p:cNvPr id="8" name="TextBox 8"/>
            <p:cNvSpPr txBox="1"/>
            <p:nvPr/>
          </p:nvSpPr>
          <p:spPr>
            <a:xfrm>
              <a:off x="526542" y="2349818"/>
              <a:ext cx="19723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OVERALL COMPLETION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4350" y="2960370"/>
              <a:ext cx="2289821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61.4%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4256" y="3901440"/>
              <a:ext cx="27443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较基线落后 3.8 个百分点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5780" y="4352925"/>
              <a:ext cx="29161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关键路径：hood PM 与边缘工程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08142" y="3283268"/>
            <a:ext cx="5436108" cy="1788033"/>
            <a:chOff x="5708142" y="3283268"/>
            <a:chExt cx="5436108" cy="1788033"/>
          </a:xfrm>
        </p:grpSpPr>
        <p:sp>
          <p:nvSpPr>
            <p:cNvPr id="13" name="Freeform 13"/>
            <p:cNvSpPr/>
            <p:nvPr/>
          </p:nvSpPr>
          <p:spPr>
            <a:xfrm>
              <a:off x="5905500" y="3619500"/>
              <a:ext cx="5143500" cy="952500"/>
            </a:xfrm>
            <a:custGeom>
              <a:avLst/>
              <a:gdLst/>
              <a:ahLst/>
              <a:cxnLst/>
              <a:rect l="l" t="t" r="r" b="b"/>
              <a:pathLst>
                <a:path w="5143500" h="952500">
                  <a:moveTo>
                    <a:pt x="0" y="952500"/>
                  </a:moveTo>
                  <a:lnTo>
                    <a:pt x="1524000" y="952500"/>
                  </a:lnTo>
                  <a:lnTo>
                    <a:pt x="1524000" y="381000"/>
                  </a:lnTo>
                  <a:lnTo>
                    <a:pt x="3238500" y="381000"/>
                  </a:lnTo>
                  <a:lnTo>
                    <a:pt x="3238500" y="0"/>
                  </a:lnTo>
                  <a:lnTo>
                    <a:pt x="5143500" y="0"/>
                  </a:lnTo>
                </a:path>
              </a:pathLst>
            </a:custGeom>
            <a:noFill/>
            <a:ln w="47625" cap="rnd">
              <a:solidFill>
                <a:schemeClr val="accent1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5829300" y="4495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353300" y="39243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9067800" y="35433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0953750" y="352425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08142" y="48072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窗口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6892" y="36642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物料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51392" y="32832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hood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70642" y="32832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资格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" y="6172200"/>
            <a:ext cx="11207496" cy="327851"/>
            <a:chOff x="533400" y="6172200"/>
            <a:chExt cx="11207496" cy="327851"/>
          </a:xfrm>
        </p:grpSpPr>
        <p:sp>
          <p:nvSpPr>
            <p:cNvPr id="23" name="Rectangle 23"/>
            <p:cNvSpPr/>
            <p:nvPr/>
          </p:nvSpPr>
          <p:spPr>
            <a:xfrm>
              <a:off x="533400" y="6172200"/>
              <a:ext cx="180975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3534" y="62360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演示用虚构案例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3120" y="6252210"/>
              <a:ext cx="201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DEF-193I-24-01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2627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DEF-193I-24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706704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窗口超前，关键路径在 hood 与边缘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P02 / 08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1409700"/>
            <a:ext cx="3429000" cy="4762500"/>
            <a:chOff x="457200" y="1409700"/>
            <a:chExt cx="3429000" cy="4762500"/>
          </a:xfrm>
        </p:grpSpPr>
        <p:sp>
          <p:nvSpPr>
            <p:cNvPr id="7" name="Rectangle 7"/>
            <p:cNvSpPr/>
            <p:nvPr/>
          </p:nvSpPr>
          <p:spPr>
            <a:xfrm>
              <a:off x="457200" y="1409700"/>
              <a:ext cx="3429000" cy="47625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8942" y="1759268"/>
              <a:ext cx="11370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COMPLETION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6750" y="2404110"/>
              <a:ext cx="17894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61.4%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180" y="3267075"/>
              <a:ext cx="1681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落后 3.8 个百分点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85800" y="3733800"/>
              <a:ext cx="2743200" cy="9525"/>
            </a:xfrm>
            <a:custGeom>
              <a:avLst/>
              <a:gdLst/>
              <a:ahLst/>
              <a:cxnLst/>
              <a:rect l="l" t="t" r="r" b="b"/>
              <a:pathLst>
                <a:path w="2743200" h="9525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6656" y="4091940"/>
              <a:ext cx="24777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按时决策可追回约 6 天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46005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守住 12 月 15 日资格包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191000" y="1409700"/>
            <a:ext cx="4051402" cy="4762500"/>
            <a:chOff x="4191000" y="1409700"/>
            <a:chExt cx="4051402" cy="4762500"/>
          </a:xfrm>
        </p:grpSpPr>
        <p:sp>
          <p:nvSpPr>
            <p:cNvPr id="15" name="Line 15"/>
            <p:cNvSpPr/>
            <p:nvPr/>
          </p:nvSpPr>
          <p:spPr>
            <a:xfrm>
              <a:off x="4267200" y="14097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191000" y="1828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62856" y="1786890"/>
              <a:ext cx="26231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进展 工艺窗口 88% 超前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4380" y="2162175"/>
              <a:ext cx="1721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物料规格 81% 按期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4191000" y="2971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562856" y="2929890"/>
              <a:ext cx="20658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能力 检测策略 58%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64380" y="3305175"/>
              <a:ext cx="3429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非图形与 ADI 相关 0.62，目标 0.80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4191000" y="4114800"/>
              <a:ext cx="152400" cy="152400"/>
            </a:xfrm>
            <a:prstGeom prst="ellipse">
              <a:avLst/>
            </a:prstGeom>
            <a:solidFill>
              <a:srgbClr val="7A000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62856" y="4072890"/>
              <a:ext cx="28655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风险 设备 44% / 边缘 39%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64380" y="4448175"/>
              <a:ext cx="31729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S02 PWP 27，PM 窗口被产能挤占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4191000" y="5257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62856" y="5215890"/>
              <a:ext cx="36795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决策 D01–D05 须在 8 月 21 日前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64380" y="5591175"/>
              <a:ext cx="2735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冻结阈值，并给出 8 小时 PM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23120" y="6480810"/>
              <a:ext cx="201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DEF-193I-24-02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2627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DEF-193I-24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5889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六包闭环：工艺到 HVM 资格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P03 / 08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905000"/>
            <a:ext cx="6858000" cy="3657600"/>
            <a:chOff x="762000" y="1905000"/>
            <a:chExt cx="6858000" cy="3657600"/>
          </a:xfrm>
        </p:grpSpPr>
        <p:sp>
          <p:nvSpPr>
            <p:cNvPr id="7" name="Rectangle 7"/>
            <p:cNvSpPr/>
            <p:nvPr/>
          </p:nvSpPr>
          <p:spPr>
            <a:xfrm>
              <a:off x="762000" y="1905000"/>
              <a:ext cx="685800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rgbClr val="6B6B6B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3356" y="2091690"/>
              <a:ext cx="16312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HVM 资格 22%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2667000"/>
              <a:ext cx="685800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3356" y="285369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边缘工程 39% 检测策略 58%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3429000"/>
              <a:ext cx="685800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rgbClr val="7A000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3356" y="3615690"/>
              <a:ext cx="23202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7A0000"/>
                  </a:solidFill>
                  <a:latin typeface="Arial"/>
                  <a:ea typeface="Microsoft YaHei"/>
                  <a:cs typeface="Arial"/>
                </a:rPr>
                <a:t>设备清洁 / hood 44%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4191000"/>
              <a:ext cx="685800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3356" y="4377690"/>
              <a:ext cx="1993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物料与化学品 81%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4953000"/>
              <a:ext cx="685800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3356" y="513969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工艺窗口与叠层 88%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563356" y="1854518"/>
            <a:ext cx="2272284" cy="3788283"/>
            <a:chOff x="8563356" y="1854518"/>
            <a:chExt cx="2272284" cy="3788283"/>
          </a:xfrm>
        </p:grpSpPr>
        <p:sp>
          <p:nvSpPr>
            <p:cNvPr id="18" name="TextBox 18"/>
            <p:cNvSpPr txBox="1"/>
            <p:nvPr/>
          </p:nvSpPr>
          <p:spPr>
            <a:xfrm>
              <a:off x="8565642" y="1854518"/>
              <a:ext cx="5417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GATES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63356" y="2377440"/>
              <a:ext cx="14008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G1 窗口冻结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63356" y="2948940"/>
              <a:ext cx="14008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G2 物料点检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63356" y="3520440"/>
              <a:ext cx="14008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G3 工具健康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63356" y="4091940"/>
              <a:ext cx="14008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G4 监控相关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63356" y="4663440"/>
              <a:ext cx="11448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G5 资格包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65642" y="5378768"/>
              <a:ext cx="22699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文献工作包，非 SEMI 强制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23120" y="6480810"/>
              <a:ext cx="201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DEF-193I-24-03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2627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DEF-193I-24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742324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落后集中在设备清洁 44% 与边缘 39%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P04 / 08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0456" y="1676400"/>
            <a:ext cx="9458134" cy="3815334"/>
            <a:chOff x="600456" y="1676400"/>
            <a:chExt cx="9458134" cy="3815334"/>
          </a:xfrm>
        </p:grpSpPr>
        <p:sp>
          <p:nvSpPr>
            <p:cNvPr id="7" name="TextBox 7"/>
            <p:cNvSpPr txBox="1"/>
            <p:nvPr/>
          </p:nvSpPr>
          <p:spPr>
            <a:xfrm>
              <a:off x="600456" y="1710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工艺窗口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667000" y="1676400"/>
              <a:ext cx="6858000" cy="20955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2667000" y="1676400"/>
              <a:ext cx="6029325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69780" y="170497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88%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23964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物料规格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667000" y="2362200"/>
              <a:ext cx="6858000" cy="20955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667000" y="2362200"/>
              <a:ext cx="5553075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669780" y="239077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81%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0456" y="3082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检测策略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667000" y="3048000"/>
              <a:ext cx="6858000" cy="20955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667000" y="3048000"/>
              <a:ext cx="3971925" cy="209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669780" y="307657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58%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0456" y="3768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设备清洁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667000" y="3733800"/>
              <a:ext cx="6858000" cy="20955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667000" y="3733800"/>
              <a:ext cx="3009900" cy="209550"/>
            </a:xfrm>
            <a:prstGeom prst="rect">
              <a:avLst/>
            </a:prstGeom>
            <a:solidFill>
              <a:srgbClr val="7A00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69780" y="376237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A0000"/>
                  </a:solidFill>
                  <a:latin typeface="Consolas"/>
                  <a:ea typeface="Consolas"/>
                  <a:cs typeface="Consolas"/>
                </a:rPr>
                <a:t>44%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0456" y="4453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边缘工程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667000" y="4419600"/>
              <a:ext cx="6858000" cy="20955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667000" y="4419600"/>
              <a:ext cx="2667000" cy="209550"/>
            </a:xfrm>
            <a:prstGeom prst="rect">
              <a:avLst/>
            </a:prstGeom>
            <a:solidFill>
              <a:srgbClr val="7A000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669780" y="444817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A0000"/>
                  </a:solidFill>
                  <a:latin typeface="Consolas"/>
                  <a:ea typeface="Consolas"/>
                  <a:cs typeface="Consolas"/>
                </a:rPr>
                <a:t>39%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0456" y="5139690"/>
              <a:ext cx="1080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HVM 资格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667000" y="5105400"/>
              <a:ext cx="6858000" cy="20955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667000" y="5105400"/>
              <a:ext cx="1504950" cy="209550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669780" y="513397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22%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23120" y="6480810"/>
              <a:ext cx="201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DEF-193I-24-04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2627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DEF-193I-24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61479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非图形监控尚未锁住 ADI 水印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P05 / 08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66750" y="1805940"/>
            <a:ext cx="10763250" cy="3545205"/>
            <a:chOff x="666750" y="1805940"/>
            <a:chExt cx="10763250" cy="3545205"/>
          </a:xfrm>
        </p:grpSpPr>
        <p:sp>
          <p:nvSpPr>
            <p:cNvPr id="7" name="TextBox 7"/>
            <p:cNvSpPr txBox="1"/>
            <p:nvPr/>
          </p:nvSpPr>
          <p:spPr>
            <a:xfrm>
              <a:off x="676656" y="1805940"/>
              <a:ext cx="26239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非图形 vs ADI 水印相关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6750" y="2404110"/>
              <a:ext cx="134418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0.62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6656" y="3139440"/>
              <a:ext cx="35643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目标 0.80 ｜ M6 预测延后 7 天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85800" y="3714750"/>
              <a:ext cx="5029200" cy="9525"/>
            </a:xfrm>
            <a:custGeom>
              <a:avLst/>
              <a:gdLst/>
              <a:ahLst/>
              <a:cxnLst/>
              <a:rect l="l" t="t" r="r" b="b"/>
              <a:pathLst>
                <a:path w="5029200" h="9525">
                  <a:moveTo>
                    <a:pt x="0" y="0"/>
                  </a:moveTo>
                  <a:lnTo>
                    <a:pt x="50292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6656" y="3996690"/>
              <a:ext cx="3807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SNV 28% → 22%（坐标补偿试点）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4453890"/>
              <a:ext cx="16418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内控仍要 &lt;15%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5057775"/>
              <a:ext cx="3525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DSA 当层/前层规则已草稿，未进 SPC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58000" y="1905000"/>
              <a:ext cx="4572000" cy="34290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175500" y="2184400"/>
              <a:ext cx="203199" cy="203199"/>
              <a:chOff x="7175500" y="2184400"/>
              <a:chExt cx="203199" cy="20319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175500" y="21844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50800"/>
                    </a:move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175500" y="23367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0" y="25400"/>
                    </a:lnTo>
                    <a:cubicBezTo>
                      <a:pt x="0" y="39428"/>
                      <a:pt x="11372" y="50800"/>
                      <a:pt x="25400" y="50800"/>
                    </a:cubicBezTo>
                    <a:lnTo>
                      <a:pt x="508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327899" y="21844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25400" y="0"/>
                    </a:lnTo>
                    <a:cubicBezTo>
                      <a:pt x="39428" y="0"/>
                      <a:pt x="50800" y="11372"/>
                      <a:pt x="50800" y="25400"/>
                    </a:cubicBezTo>
                    <a:lnTo>
                      <a:pt x="508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327899" y="23367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50800"/>
                    </a:moveTo>
                    <a:lnTo>
                      <a:pt x="25400" y="50800"/>
                    </a:lnTo>
                    <a:cubicBezTo>
                      <a:pt x="39428" y="50800"/>
                      <a:pt x="50800" y="39428"/>
                      <a:pt x="50800" y="2540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226300" y="22352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296150" y="2305050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31750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534656" y="2167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监测缺口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17080" y="2790825"/>
              <a:ext cx="17541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图形 ADI 捕获 91%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17080" y="32480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非图形相关未锁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17080" y="370522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SNV 治理停在试点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17080" y="4162425"/>
              <a:ext cx="2138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DUV 小缺陷能力未铺开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17080" y="479107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需要增补 SEM 机时 20%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23120" y="6480810"/>
              <a:ext cx="201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DEF-193I-24-05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2627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DEF-193I-24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572455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S02 PWP 仍是工具健康短板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P06 / 08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8942" y="1644968"/>
            <a:ext cx="6179058" cy="3999166"/>
            <a:chOff x="678942" y="1644968"/>
            <a:chExt cx="6179058" cy="3999166"/>
          </a:xfrm>
        </p:grpSpPr>
        <p:sp>
          <p:nvSpPr>
            <p:cNvPr id="7" name="TextBox 7"/>
            <p:cNvSpPr txBox="1"/>
            <p:nvPr/>
          </p:nvSpPr>
          <p:spPr>
            <a:xfrm>
              <a:off x="678942" y="1644968"/>
              <a:ext cx="1164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PWP #/wafer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51435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62000" y="39624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custDash>
                <a:ds d="400000" sp="400000"/>
              </a:custDash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5904" y="3718560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目标 ≤12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4257675"/>
              <a:ext cx="857250" cy="885825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98974" y="39814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41755" y="5292090"/>
              <a:ext cx="440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S01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29000" y="2476500"/>
              <a:ext cx="857250" cy="2667000"/>
            </a:xfrm>
            <a:prstGeom prst="rect">
              <a:avLst/>
            </a:prstGeom>
            <a:noFill/>
            <a:ln w="19050">
              <a:solidFill>
                <a:srgbClr val="7A000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38943" y="220027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0000"/>
                  </a:solidFill>
                  <a:latin typeface="Consolas"/>
                  <a:ea typeface="Consolas"/>
                  <a:cs typeface="Consolas"/>
                </a:rPr>
                <a:t>27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37255" y="5292090"/>
              <a:ext cx="440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S02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524500" y="4057650"/>
              <a:ext cx="857250" cy="10858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34444" y="37814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32755" y="5292090"/>
              <a:ext cx="440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S03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763256" y="1901190"/>
            <a:ext cx="3099816" cy="2707005"/>
            <a:chOff x="7763256" y="1901190"/>
            <a:chExt cx="3099816" cy="2707005"/>
          </a:xfrm>
        </p:grpSpPr>
        <p:sp>
          <p:nvSpPr>
            <p:cNvPr id="21" name="TextBox 21"/>
            <p:cNvSpPr txBox="1"/>
            <p:nvPr/>
          </p:nvSpPr>
          <p:spPr>
            <a:xfrm>
              <a:off x="7763256" y="1901190"/>
              <a:ext cx="26426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S02 台面清洁 8 月 6 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63256" y="247269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hood 气帘复测仍未排入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63256" y="3044190"/>
              <a:ext cx="30937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末镜 haze 相对 S01 高 1.8×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64780" y="3838575"/>
              <a:ext cx="30982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M5 周期清洗合格预测 8 月 27 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64780" y="4314825"/>
              <a:ext cx="246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A0000"/>
                  </a:solidFill>
                  <a:latin typeface="Arial"/>
                  <a:ea typeface="Microsoft YaHei"/>
                  <a:cs typeface="Arial"/>
                </a:rPr>
                <a:t>再延 7 天，年底资格包承压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23120" y="6480810"/>
              <a:ext cx="201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DEF-193I-24-06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2627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DEF-193I-24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70418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产能挤占 PM 窗口是当前最高风险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P07 / 08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1600200"/>
            <a:ext cx="11125200" cy="4114800"/>
            <a:chOff x="533400" y="1600200"/>
            <a:chExt cx="11125200" cy="41148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600200"/>
              <a:ext cx="11125200" cy="914400"/>
              <a:chOff x="533400" y="1600200"/>
              <a:chExt cx="11125200" cy="9144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33400" y="16002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rgbClr val="7A0000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29056" y="193929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7A0000"/>
                    </a:solidFill>
                    <a:latin typeface="Consolas"/>
                    <a:ea typeface="Consolas"/>
                    <a:cs typeface="Consolas"/>
                  </a:rPr>
                  <a:t>R01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895856" y="1939290"/>
                <a:ext cx="276083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S02 hood PM 被产能挤占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954959" y="1971675"/>
                <a:ext cx="53016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rgbClr val="7A0000"/>
                    </a:solidFill>
                    <a:latin typeface="Consolas"/>
                    <a:ea typeface="Microsoft YaHei"/>
                    <a:cs typeface="Consolas"/>
                  </a:rPr>
                  <a:t>高×高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533400" y="2667000"/>
              <a:ext cx="11125200" cy="914400"/>
              <a:chOff x="533400" y="2667000"/>
              <a:chExt cx="11125200" cy="9144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33400" y="26670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29056" y="300609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R02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895856" y="3006090"/>
                <a:ext cx="26426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非图形–ADI 相关锁不住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954959" y="3038475"/>
                <a:ext cx="53016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chemeClr val="accent1"/>
                    </a:solidFill>
                    <a:latin typeface="Consolas"/>
                    <a:ea typeface="Microsoft YaHei"/>
                    <a:cs typeface="Consolas"/>
                  </a:rPr>
                  <a:t>中×高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3400" y="3733800"/>
              <a:ext cx="11125200" cy="914400"/>
              <a:chOff x="533400" y="3733800"/>
              <a:chExt cx="11125200" cy="9144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533400" y="37338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29056" y="407289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R03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895856" y="4072890"/>
                <a:ext cx="333801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疏水 topcoat 降水分但抬 blob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954959" y="4105275"/>
                <a:ext cx="53016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chemeClr val="accent1"/>
                    </a:solidFill>
                    <a:latin typeface="Consolas"/>
                    <a:ea typeface="Microsoft YaHei"/>
                    <a:cs typeface="Consolas"/>
                  </a:rPr>
                  <a:t>中×中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33400" y="4800600"/>
              <a:ext cx="11125200" cy="914400"/>
              <a:chOff x="533400" y="4800600"/>
              <a:chExt cx="11125200" cy="9144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33400" y="48006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rgbClr val="7A0000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29056" y="513969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7A0000"/>
                    </a:solidFill>
                    <a:latin typeface="Consolas"/>
                    <a:ea typeface="Consolas"/>
                    <a:cs typeface="Consolas"/>
                  </a:rPr>
                  <a:t>R04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895856" y="5139690"/>
                <a:ext cx="275783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用阈值制造虚假 D0 回收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954959" y="5172075"/>
                <a:ext cx="53016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rgbClr val="7A0000"/>
                    </a:solidFill>
                    <a:latin typeface="Consolas"/>
                    <a:ea typeface="Microsoft YaHei"/>
                    <a:cs typeface="Consolas"/>
                  </a:rPr>
                  <a:t>中×高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23120" y="6480810"/>
              <a:ext cx="201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DEF-193I-24-07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2627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DEF-193I-24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817094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冻结阈值并给出 S02 的 8 小时 PM 窗口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P08 / 08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33400" y="1524000"/>
            <a:ext cx="11125200" cy="4381500"/>
            <a:chOff x="533400" y="1524000"/>
            <a:chExt cx="11125200" cy="438150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524000"/>
              <a:ext cx="11125200" cy="800100"/>
              <a:chOff x="533400" y="1524000"/>
              <a:chExt cx="11125200" cy="8001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33400" y="1524000"/>
                <a:ext cx="11125200" cy="8001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53618" y="1822132"/>
                <a:ext cx="40401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D01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10868" y="1822132"/>
                <a:ext cx="250226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冻结 W35 前 recipe 阈值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84642" y="1854518"/>
                <a:ext cx="513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08-16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327642" y="18545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回收曲线不可审计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33400" y="2419350"/>
              <a:ext cx="11125200" cy="800100"/>
              <a:chOff x="533400" y="2419350"/>
              <a:chExt cx="11125200" cy="8001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33400" y="2419350"/>
                <a:ext cx="11125200" cy="8001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53618" y="2717482"/>
                <a:ext cx="40401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D02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610868" y="2717482"/>
                <a:ext cx="236372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S02 给 8 小时 PM 窗口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184642" y="2749868"/>
                <a:ext cx="513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08-18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327642" y="2749868"/>
                <a:ext cx="11178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M5 再延 7 天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33400" y="3314700"/>
              <a:ext cx="11125200" cy="800100"/>
              <a:chOff x="533400" y="3314700"/>
              <a:chExt cx="11125200" cy="8001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33400" y="3314700"/>
                <a:ext cx="11125200" cy="8001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53618" y="3612832"/>
                <a:ext cx="40401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D03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610868" y="3612832"/>
                <a:ext cx="284166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批准 EBR 加宽 0.3 mm 试验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84642" y="3645218"/>
                <a:ext cx="513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08-21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327642" y="36452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边缘颗粒继续回运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33400" y="4210050"/>
              <a:ext cx="11125200" cy="800100"/>
              <a:chOff x="533400" y="4210050"/>
              <a:chExt cx="11125200" cy="8001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533400" y="4210050"/>
                <a:ext cx="11125200" cy="8001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53618" y="4508182"/>
                <a:ext cx="40401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D04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610868" y="4508182"/>
                <a:ext cx="250454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增补 SEM 复核机时 20%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84642" y="4540568"/>
                <a:ext cx="513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08-21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327642" y="4540568"/>
                <a:ext cx="154030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SNV 治理停在试点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533400" y="5105400"/>
              <a:ext cx="11125200" cy="800100"/>
              <a:chOff x="533400" y="5105400"/>
              <a:chExt cx="11125200" cy="8001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33400" y="5105400"/>
                <a:ext cx="11125200" cy="8001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53618" y="5403532"/>
                <a:ext cx="40401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D05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610868" y="5403532"/>
                <a:ext cx="291358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W35 D0&gt;0.24 则评估换 hood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184642" y="5435918"/>
                <a:ext cx="513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08-21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327642" y="543591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资格包失去升级路径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23120" y="6480810"/>
              <a:ext cx="201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DEF-193I-24-08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immersion_defect_project_progress_redwhite">
  <a:themeElements>
    <a:clrScheme name="immersion_defect_project_progress_redwhite">
      <a:dk1>
        <a:srgbClr val="222222"/>
      </a:dk1>
      <a:lt1>
        <a:srgbClr val="FFFFFF"/>
      </a:lt1>
      <a:dk2>
        <a:srgbClr val="1F497D"/>
      </a:dk2>
      <a:lt2>
        <a:srgbClr val="F8F4F4"/>
      </a:lt2>
      <a:accent1>
        <a:srgbClr val="C00000"/>
      </a:accent1>
      <a:accent2>
        <a:srgbClr val="A00000"/>
      </a:accent2>
      <a:accent3>
        <a:srgbClr val="C00000"/>
      </a:accent3>
      <a:accent4>
        <a:srgbClr val="C00000"/>
      </a:accent4>
      <a:accent5>
        <a:srgbClr val="E8E8E8"/>
      </a:accent5>
      <a:accent6>
        <a:srgbClr val="6B6B6B"/>
      </a:accent6>
      <a:hlink>
        <a:srgbClr val="A00000"/>
      </a:hlink>
      <a:folHlink>
        <a:srgbClr val="C00000"/>
      </a:folHlink>
    </a:clrScheme>
    <a:fontScheme name="immersion_defect_project_progress_redwhite">
      <a:maj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mmersion_defect_project_progress_red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immersion_defect_project_progress_redwhite">
  <a:themeElements>
    <a:clrScheme name="immersion_defect_project_progress_redwhite">
      <a:dk1>
        <a:srgbClr val="222222"/>
      </a:dk1>
      <a:lt1>
        <a:srgbClr val="FFFFFF"/>
      </a:lt1>
      <a:dk2>
        <a:srgbClr val="1F497D"/>
      </a:dk2>
      <a:lt2>
        <a:srgbClr val="F8F4F4"/>
      </a:lt2>
      <a:accent1>
        <a:srgbClr val="C00000"/>
      </a:accent1>
      <a:accent2>
        <a:srgbClr val="A00000"/>
      </a:accent2>
      <a:accent3>
        <a:srgbClr val="C00000"/>
      </a:accent3>
      <a:accent4>
        <a:srgbClr val="C00000"/>
      </a:accent4>
      <a:accent5>
        <a:srgbClr val="E8E8E8"/>
      </a:accent5>
      <a:accent6>
        <a:srgbClr val="6B6B6B"/>
      </a:accent6>
      <a:hlink>
        <a:srgbClr val="A00000"/>
      </a:hlink>
      <a:folHlink>
        <a:srgbClr val="C00000"/>
      </a:folHlink>
    </a:clrScheme>
    <a:fontScheme name="immersion_defect_project_progress_redwhite">
      <a:maj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mmersion_defect_project_progress_red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2026-08-14T05:04:25Z</dcterms:created>
  <dcterms:modified xsi:type="dcterms:W3CDTF">2026-08-14T05:04:25Z</dcterms:modified>
  <cp:category/>
  <cp:contentStatus/>
</cp:coreProperties>
</file>