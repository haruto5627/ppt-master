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  <Relationship Id="rId15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各位好。这是一份演示用虚构周报，所有数字都不代表真实工厂。本周浸没金属层 L28 的随机缺陷密度是每平方厘米零点四二，对照八周基线零点一八。三十六片送检，问题集中在扫描起停点，也就是水印路径，而不是漏检。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请先记住四件事。密度确实升了，但捕获率百分之九十一，和基线百分之九十三几乎持平，所以不是工具变瞎。干扰缺陷升到百分之十八，说明配方偏热。颗粒颗数最高，可水印杀伤比零点六二才是第一优先。四个杀伤批次全部落在 S02。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请看空间图。S02 扫描条带的起停点密度是片心的三点四倍，边缘五毫米环带占了百分之四十一的事件。鉴别口诀来自文献机制：水印不改变线距、截面有 T 形顶；气泡会放大线距并带条纹。本周圆形缺陷里百分之七十九符合水印。S01 和 S03 接近随机，所以不是来料暴发。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左边按颗数，颗粒百分之三十一高于水印百分之二十八。右边按杀伤比，水印零点六二、微桥零点四一、颗粒只有零点一八。SEM 看不见的点占百分之十二，先不进杀伤排序。结论是不要按最高柱去打颗粒。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漏斗从三十六降到十一、七、四个杀伤批次。四个编号都在同一浸没头周期。动作是关闭 S02 残液，不是全线停机。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S01 密度零点一七、S03 零点一九，都在基线内。S02 密度零点七一，空白片颗粒数二十七。当层相对前层新增零点二四。请把动作收到 S02。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捕获率仍是百分之九十一。干扰缺陷百分之十八、SEM 再定位看不见百分之二十二，会把总数抬高。假点百分之零点八仍低于百分之一。红线是本周冻结检测阈值，避免把灵敏度下降误读成缺陷回收。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五件事：S02 保养并做清洗前后空白片；核对后淋洗是否赶在烘干前完成；颗粒改为观察项；阈值冻到第三十五周；超限片 SEM 抽样提到六十点，直到看不见比例低于百分之十五。不决策的话，下周仍分不清工艺和检测。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immersion_defect_inspection_weekly_redwhite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immersion_defect_inspection_weekly_redwhite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27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8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381000" y="0"/>
                </a:moveTo>
                <a:lnTo>
                  <a:pt x="381000" y="6858000"/>
                </a:lnTo>
                <a:moveTo>
                  <a:pt x="762000" y="0"/>
                </a:moveTo>
                <a:lnTo>
                  <a:pt x="762000" y="6858000"/>
                </a:lnTo>
                <a:moveTo>
                  <a:pt x="1143000" y="0"/>
                </a:moveTo>
                <a:lnTo>
                  <a:pt x="1143000" y="6858000"/>
                </a:lnTo>
                <a:moveTo>
                  <a:pt x="1524000" y="0"/>
                </a:moveTo>
                <a:lnTo>
                  <a:pt x="1524000" y="6858000"/>
                </a:lnTo>
                <a:moveTo>
                  <a:pt x="1905000" y="0"/>
                </a:moveTo>
                <a:lnTo>
                  <a:pt x="1905000" y="6858000"/>
                </a:lnTo>
                <a:moveTo>
                  <a:pt x="2286000" y="0"/>
                </a:moveTo>
                <a:lnTo>
                  <a:pt x="2286000" y="6858000"/>
                </a:lnTo>
                <a:moveTo>
                  <a:pt x="2667000" y="0"/>
                </a:moveTo>
                <a:lnTo>
                  <a:pt x="266700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3429000" y="0"/>
                </a:moveTo>
                <a:lnTo>
                  <a:pt x="3429000" y="6858000"/>
                </a:lnTo>
                <a:moveTo>
                  <a:pt x="3810000" y="0"/>
                </a:moveTo>
                <a:lnTo>
                  <a:pt x="3810000" y="6858000"/>
                </a:lnTo>
                <a:moveTo>
                  <a:pt x="4191000" y="0"/>
                </a:moveTo>
                <a:lnTo>
                  <a:pt x="4191000" y="6858000"/>
                </a:lnTo>
                <a:moveTo>
                  <a:pt x="4572000" y="0"/>
                </a:moveTo>
                <a:lnTo>
                  <a:pt x="4572000" y="6858000"/>
                </a:lnTo>
                <a:moveTo>
                  <a:pt x="4953000" y="0"/>
                </a:moveTo>
                <a:lnTo>
                  <a:pt x="4953000" y="6858000"/>
                </a:lnTo>
                <a:moveTo>
                  <a:pt x="5334000" y="0"/>
                </a:moveTo>
                <a:lnTo>
                  <a:pt x="5334000" y="6858000"/>
                </a:lnTo>
                <a:moveTo>
                  <a:pt x="5715000" y="0"/>
                </a:moveTo>
                <a:lnTo>
                  <a:pt x="5715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6477000" y="0"/>
                </a:moveTo>
                <a:lnTo>
                  <a:pt x="6477000" y="6858000"/>
                </a:lnTo>
                <a:moveTo>
                  <a:pt x="6858000" y="0"/>
                </a:moveTo>
                <a:lnTo>
                  <a:pt x="6858000" y="6858000"/>
                </a:lnTo>
                <a:moveTo>
                  <a:pt x="7239000" y="0"/>
                </a:moveTo>
                <a:lnTo>
                  <a:pt x="7239000" y="6858000"/>
                </a:lnTo>
                <a:moveTo>
                  <a:pt x="7620000" y="0"/>
                </a:moveTo>
                <a:lnTo>
                  <a:pt x="7620000" y="6858000"/>
                </a:lnTo>
                <a:moveTo>
                  <a:pt x="8001000" y="0"/>
                </a:moveTo>
                <a:lnTo>
                  <a:pt x="8001000" y="6858000"/>
                </a:lnTo>
                <a:moveTo>
                  <a:pt x="8382000" y="0"/>
                </a:moveTo>
                <a:lnTo>
                  <a:pt x="8382000" y="6858000"/>
                </a:lnTo>
                <a:moveTo>
                  <a:pt x="8763000" y="0"/>
                </a:moveTo>
                <a:lnTo>
                  <a:pt x="8763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9525000" y="0"/>
                </a:moveTo>
                <a:lnTo>
                  <a:pt x="9525000" y="6858000"/>
                </a:lnTo>
                <a:moveTo>
                  <a:pt x="9906000" y="0"/>
                </a:moveTo>
                <a:lnTo>
                  <a:pt x="9906000" y="6858000"/>
                </a:lnTo>
                <a:moveTo>
                  <a:pt x="10287000" y="0"/>
                </a:moveTo>
                <a:lnTo>
                  <a:pt x="10287000" y="6858000"/>
                </a:lnTo>
                <a:moveTo>
                  <a:pt x="10668000" y="0"/>
                </a:moveTo>
                <a:lnTo>
                  <a:pt x="10668000" y="6858000"/>
                </a:lnTo>
                <a:moveTo>
                  <a:pt x="11049000" y="0"/>
                </a:moveTo>
                <a:lnTo>
                  <a:pt x="11049000" y="6858000"/>
                </a:lnTo>
                <a:moveTo>
                  <a:pt x="11430000" y="0"/>
                </a:moveTo>
                <a:lnTo>
                  <a:pt x="11430000" y="6858000"/>
                </a:lnTo>
                <a:moveTo>
                  <a:pt x="11811000" y="0"/>
                </a:moveTo>
                <a:lnTo>
                  <a:pt x="11811000" y="6858000"/>
                </a:lnTo>
                <a:moveTo>
                  <a:pt x="12192000" y="0"/>
                </a:moveTo>
                <a:lnTo>
                  <a:pt x="12192000" y="6858000"/>
                </a:lnTo>
                <a:moveTo>
                  <a:pt x="0" y="381000"/>
                </a:moveTo>
                <a:lnTo>
                  <a:pt x="12192000" y="381000"/>
                </a:lnTo>
                <a:moveTo>
                  <a:pt x="0" y="762000"/>
                </a:moveTo>
                <a:lnTo>
                  <a:pt x="12192000" y="762000"/>
                </a:lnTo>
                <a:moveTo>
                  <a:pt x="0" y="1143000"/>
                </a:moveTo>
                <a:lnTo>
                  <a:pt x="12192000" y="1143000"/>
                </a:lnTo>
                <a:moveTo>
                  <a:pt x="0" y="1524000"/>
                </a:moveTo>
                <a:lnTo>
                  <a:pt x="12192000" y="1524000"/>
                </a:lnTo>
                <a:moveTo>
                  <a:pt x="0" y="1905000"/>
                </a:moveTo>
                <a:lnTo>
                  <a:pt x="12192000" y="1905000"/>
                </a:lnTo>
                <a:moveTo>
                  <a:pt x="0" y="2286000"/>
                </a:moveTo>
                <a:lnTo>
                  <a:pt x="12192000" y="2286000"/>
                </a:lnTo>
                <a:moveTo>
                  <a:pt x="0" y="2667000"/>
                </a:moveTo>
                <a:lnTo>
                  <a:pt x="12192000" y="2667000"/>
                </a:lnTo>
                <a:moveTo>
                  <a:pt x="0" y="3048000"/>
                </a:moveTo>
                <a:lnTo>
                  <a:pt x="12192000" y="30480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3810000"/>
                </a:moveTo>
                <a:lnTo>
                  <a:pt x="12192000" y="3810000"/>
                </a:lnTo>
                <a:moveTo>
                  <a:pt x="0" y="4191000"/>
                </a:moveTo>
                <a:lnTo>
                  <a:pt x="12192000" y="4191000"/>
                </a:lnTo>
                <a:moveTo>
                  <a:pt x="0" y="4572000"/>
                </a:moveTo>
                <a:lnTo>
                  <a:pt x="12192000" y="4572000"/>
                </a:lnTo>
                <a:moveTo>
                  <a:pt x="0" y="4953000"/>
                </a:moveTo>
                <a:lnTo>
                  <a:pt x="12192000" y="4953000"/>
                </a:lnTo>
                <a:moveTo>
                  <a:pt x="0" y="5334000"/>
                </a:moveTo>
                <a:lnTo>
                  <a:pt x="12192000" y="5334000"/>
                </a:lnTo>
                <a:moveTo>
                  <a:pt x="0" y="5715000"/>
                </a:moveTo>
                <a:lnTo>
                  <a:pt x="12192000" y="5715000"/>
                </a:lnTo>
                <a:moveTo>
                  <a:pt x="0" y="6096000"/>
                </a:moveTo>
                <a:lnTo>
                  <a:pt x="12192000" y="6096000"/>
                </a:lnTo>
                <a:moveTo>
                  <a:pt x="0" y="6477000"/>
                </a:moveTo>
                <a:lnTo>
                  <a:pt x="12192000" y="6477000"/>
                </a:lnTo>
                <a:moveTo>
                  <a:pt x="0" y="6858000"/>
                </a:moveTo>
                <a:lnTo>
                  <a:pt x="12192000" y="6858000"/>
                </a:lnTo>
              </a:path>
            </a:pathLst>
          </a:custGeom>
          <a:noFill/>
          <a:ln w="9525">
            <a:solidFill>
              <a:schemeClr val="accent5">
                <a:alpha val="85000"/>
              </a:schemeClr>
            </a:solidFill>
          </a:ln>
        </p:spPr>
      </p:sp>
      <p:grpSp>
        <p:nvGrpSpPr>
          <p:cNvPr id="7" name="Group 7"/>
          <p:cNvGrpSpPr/>
          <p:nvPr/>
        </p:nvGrpSpPr>
        <p:grpSpPr>
          <a:xfrm>
            <a:off x="519684" y="540068"/>
            <a:ext cx="5238859" cy="1279207"/>
            <a:chOff x="519684" y="540068"/>
            <a:chExt cx="5238859" cy="1279207"/>
          </a:xfrm>
        </p:grpSpPr>
        <p:sp>
          <p:nvSpPr>
            <p:cNvPr id="3" name="TextBox 3"/>
            <p:cNvSpPr txBox="1"/>
            <p:nvPr/>
          </p:nvSpPr>
          <p:spPr>
            <a:xfrm>
              <a:off x="526542" y="540068"/>
              <a:ext cx="41058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DEFECT INSPECTION · 2026-W33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9684" y="927735"/>
              <a:ext cx="446318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浸没式光刻缺陷检测周报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24256" y="1443990"/>
              <a:ext cx="523428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L28 ADI ｜ 36 lot ｜ 数据日 2026-08-13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533400" y="1809750"/>
              <a:ext cx="4419600" cy="9525"/>
            </a:xfrm>
            <a:custGeom>
              <a:avLst/>
              <a:gdLst/>
              <a:ahLst/>
              <a:cxnLst/>
              <a:rect l="l" t="t" r="r" b="b"/>
              <a:pathLst>
                <a:path w="4419600" h="9525">
                  <a:moveTo>
                    <a:pt x="0" y="0"/>
                  </a:moveTo>
                  <a:lnTo>
                    <a:pt x="4419600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519684" y="2349818"/>
            <a:ext cx="3585591" cy="2353627"/>
            <a:chOff x="519684" y="2349818"/>
            <a:chExt cx="3585591" cy="2353627"/>
          </a:xfrm>
        </p:grpSpPr>
        <p:sp>
          <p:nvSpPr>
            <p:cNvPr id="8" name="TextBox 8"/>
            <p:cNvSpPr txBox="1"/>
            <p:nvPr/>
          </p:nvSpPr>
          <p:spPr>
            <a:xfrm>
              <a:off x="526542" y="2349818"/>
              <a:ext cx="20847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1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RANDOM D0 /cm²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19684" y="3251835"/>
              <a:ext cx="91458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0.42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533400" y="3771900"/>
              <a:ext cx="3562350" cy="9525"/>
            </a:xfrm>
            <a:custGeom>
              <a:avLst/>
              <a:gdLst/>
              <a:ahLst/>
              <a:cxnLst/>
              <a:rect l="l" t="t" r="r" b="b"/>
              <a:pathLst>
                <a:path w="3562350" h="9525">
                  <a:moveTo>
                    <a:pt x="0" y="0"/>
                  </a:moveTo>
                  <a:lnTo>
                    <a:pt x="356235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533400" y="3676650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4095750" y="3676650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24256" y="3977640"/>
              <a:ext cx="325709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8 周基线 0.18 ｜ 上升 133%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25780" y="4410075"/>
              <a:ext cx="218084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捕获率 91%，不是漏检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5898642" y="2114550"/>
            <a:ext cx="4274058" cy="3223451"/>
            <a:chOff x="5898642" y="2114550"/>
            <a:chExt cx="4274058" cy="3223451"/>
          </a:xfrm>
        </p:grpSpPr>
        <p:sp>
          <p:nvSpPr>
            <p:cNvPr id="16" name="Ellipse 16"/>
            <p:cNvSpPr/>
            <p:nvPr/>
          </p:nvSpPr>
          <p:spPr>
            <a:xfrm>
              <a:off x="6972300" y="2114550"/>
              <a:ext cx="3200400" cy="3200400"/>
            </a:xfrm>
            <a:prstGeom prst="ellipse">
              <a:avLst/>
            </a:prstGeom>
            <a:solidFill>
              <a:schemeClr val="lt2"/>
            </a:solidFill>
            <a:ln w="19050">
              <a:solidFill>
                <a:schemeClr val="accent2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7162800" y="2305050"/>
              <a:ext cx="2819400" cy="2819400"/>
            </a:xfrm>
            <a:prstGeom prst="ellipse">
              <a:avLst/>
            </a:prstGeom>
            <a:noFill/>
            <a:ln w="9525">
              <a:solidFill>
                <a:schemeClr val="accent5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7524750" y="2667000"/>
              <a:ext cx="2095500" cy="2095500"/>
            </a:xfrm>
            <a:prstGeom prst="ellipse">
              <a:avLst/>
            </a:prstGeom>
            <a:noFill/>
            <a:ln w="9525">
              <a:solidFill>
                <a:schemeClr val="accent5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239000" y="2362200"/>
              <a:ext cx="2667000" cy="209550"/>
            </a:xfrm>
            <a:prstGeom prst="rect">
              <a:avLst/>
            </a:pr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7239000" y="2781300"/>
              <a:ext cx="2667000" cy="171450"/>
            </a:xfrm>
            <a:prstGeom prst="rect">
              <a:avLst/>
            </a:prstGeom>
            <a:noFill/>
            <a:ln w="14288">
              <a:solidFill>
                <a:schemeClr val="accent2">
                  <a:alpha val="70000"/>
                </a:schemeClr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7239000" y="3124200"/>
              <a:ext cx="2667000" cy="171450"/>
            </a:xfrm>
            <a:prstGeom prst="rect">
              <a:avLst/>
            </a:prstGeom>
            <a:noFill/>
            <a:ln w="14288">
              <a:solidFill>
                <a:schemeClr val="accent2">
                  <a:alpha val="70000"/>
                </a:schemeClr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7239000" y="3467100"/>
              <a:ext cx="2667000" cy="171450"/>
            </a:xfrm>
            <a:prstGeom prst="rect">
              <a:avLst/>
            </a:prstGeom>
            <a:noFill/>
            <a:ln w="14288">
              <a:solidFill>
                <a:schemeClr val="accent2">
                  <a:alpha val="70000"/>
                </a:schemeClr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7239000" y="3810000"/>
              <a:ext cx="2667000" cy="171450"/>
            </a:xfrm>
            <a:prstGeom prst="rect">
              <a:avLst/>
            </a:prstGeom>
            <a:noFill/>
            <a:ln w="14288">
              <a:solidFill>
                <a:schemeClr val="accent2">
                  <a:alpha val="70000"/>
                </a:schemeClr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7239000" y="4152900"/>
              <a:ext cx="2667000" cy="171450"/>
            </a:xfrm>
            <a:prstGeom prst="rect">
              <a:avLst/>
            </a:prstGeom>
            <a:noFill/>
            <a:ln w="14288">
              <a:solidFill>
                <a:schemeClr val="accent2">
                  <a:alpha val="70000"/>
                </a:schemeClr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7239000" y="4857750"/>
              <a:ext cx="2667000" cy="209550"/>
            </a:xfrm>
            <a:prstGeom prst="rect">
              <a:avLst/>
            </a:pr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26" name="Ellipse 26"/>
            <p:cNvSpPr/>
            <p:nvPr/>
          </p:nvSpPr>
          <p:spPr>
            <a:xfrm>
              <a:off x="7296150" y="2409825"/>
              <a:ext cx="114300" cy="114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9734550" y="2409825"/>
              <a:ext cx="114300" cy="114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7296150" y="4905375"/>
              <a:ext cx="114300" cy="114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9734550" y="4905375"/>
              <a:ext cx="114300" cy="114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0" name="Line 30"/>
            <p:cNvSpPr/>
            <p:nvPr/>
          </p:nvSpPr>
          <p:spPr>
            <a:xfrm>
              <a:off x="5905500" y="2466975"/>
              <a:ext cx="1333500" cy="9525"/>
            </a:xfrm>
            <a:custGeom>
              <a:avLst/>
              <a:gdLst/>
              <a:ahLst/>
              <a:cxnLst/>
              <a:rect l="l" t="t" r="r" b="b"/>
              <a:pathLst>
                <a:path w="1333500" h="9525">
                  <a:moveTo>
                    <a:pt x="0" y="0"/>
                  </a:moveTo>
                  <a:lnTo>
                    <a:pt x="1333500" y="0"/>
                  </a:lnTo>
                </a:path>
              </a:pathLst>
            </a:custGeom>
            <a:noFill/>
            <a:ln w="14288">
              <a:solidFill>
                <a:schemeClr val="accent2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898642" y="2216468"/>
              <a:ext cx="12378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SCAN START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898642" y="5073968"/>
              <a:ext cx="11562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SCAN STOP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351139" y="3609975"/>
              <a:ext cx="44272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S02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533400" y="6172200"/>
            <a:ext cx="11207496" cy="327851"/>
            <a:chOff x="533400" y="6172200"/>
            <a:chExt cx="11207496" cy="327851"/>
          </a:xfrm>
        </p:grpSpPr>
        <p:sp>
          <p:nvSpPr>
            <p:cNvPr id="35" name="Rectangle 35"/>
            <p:cNvSpPr/>
            <p:nvPr/>
          </p:nvSpPr>
          <p:spPr>
            <a:xfrm>
              <a:off x="533400" y="6172200"/>
              <a:ext cx="1809750" cy="2857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25729" y="6236018"/>
              <a:ext cx="14250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演示用虚构案例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137904" y="6252210"/>
              <a:ext cx="26029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DWG NO. DEF-INSP-W33-01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381000" y="0"/>
                </a:moveTo>
                <a:lnTo>
                  <a:pt x="381000" y="6858000"/>
                </a:lnTo>
                <a:moveTo>
                  <a:pt x="762000" y="0"/>
                </a:moveTo>
                <a:lnTo>
                  <a:pt x="762000" y="6858000"/>
                </a:lnTo>
                <a:moveTo>
                  <a:pt x="1143000" y="0"/>
                </a:moveTo>
                <a:lnTo>
                  <a:pt x="1143000" y="6858000"/>
                </a:lnTo>
                <a:moveTo>
                  <a:pt x="1524000" y="0"/>
                </a:moveTo>
                <a:lnTo>
                  <a:pt x="1524000" y="6858000"/>
                </a:lnTo>
                <a:moveTo>
                  <a:pt x="1905000" y="0"/>
                </a:moveTo>
                <a:lnTo>
                  <a:pt x="1905000" y="6858000"/>
                </a:lnTo>
                <a:moveTo>
                  <a:pt x="2286000" y="0"/>
                </a:moveTo>
                <a:lnTo>
                  <a:pt x="2286000" y="6858000"/>
                </a:lnTo>
                <a:moveTo>
                  <a:pt x="2667000" y="0"/>
                </a:moveTo>
                <a:lnTo>
                  <a:pt x="266700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3429000" y="0"/>
                </a:moveTo>
                <a:lnTo>
                  <a:pt x="3429000" y="6858000"/>
                </a:lnTo>
                <a:moveTo>
                  <a:pt x="3810000" y="0"/>
                </a:moveTo>
                <a:lnTo>
                  <a:pt x="3810000" y="6858000"/>
                </a:lnTo>
                <a:moveTo>
                  <a:pt x="4191000" y="0"/>
                </a:moveTo>
                <a:lnTo>
                  <a:pt x="4191000" y="6858000"/>
                </a:lnTo>
                <a:moveTo>
                  <a:pt x="4572000" y="0"/>
                </a:moveTo>
                <a:lnTo>
                  <a:pt x="4572000" y="6858000"/>
                </a:lnTo>
                <a:moveTo>
                  <a:pt x="4953000" y="0"/>
                </a:moveTo>
                <a:lnTo>
                  <a:pt x="4953000" y="6858000"/>
                </a:lnTo>
                <a:moveTo>
                  <a:pt x="5334000" y="0"/>
                </a:moveTo>
                <a:lnTo>
                  <a:pt x="5334000" y="6858000"/>
                </a:lnTo>
                <a:moveTo>
                  <a:pt x="5715000" y="0"/>
                </a:moveTo>
                <a:lnTo>
                  <a:pt x="5715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6477000" y="0"/>
                </a:moveTo>
                <a:lnTo>
                  <a:pt x="6477000" y="6858000"/>
                </a:lnTo>
                <a:moveTo>
                  <a:pt x="6858000" y="0"/>
                </a:moveTo>
                <a:lnTo>
                  <a:pt x="6858000" y="6858000"/>
                </a:lnTo>
                <a:moveTo>
                  <a:pt x="7239000" y="0"/>
                </a:moveTo>
                <a:lnTo>
                  <a:pt x="7239000" y="6858000"/>
                </a:lnTo>
                <a:moveTo>
                  <a:pt x="7620000" y="0"/>
                </a:moveTo>
                <a:lnTo>
                  <a:pt x="7620000" y="6858000"/>
                </a:lnTo>
                <a:moveTo>
                  <a:pt x="8001000" y="0"/>
                </a:moveTo>
                <a:lnTo>
                  <a:pt x="8001000" y="6858000"/>
                </a:lnTo>
                <a:moveTo>
                  <a:pt x="8382000" y="0"/>
                </a:moveTo>
                <a:lnTo>
                  <a:pt x="8382000" y="6858000"/>
                </a:lnTo>
                <a:moveTo>
                  <a:pt x="8763000" y="0"/>
                </a:moveTo>
                <a:lnTo>
                  <a:pt x="8763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9525000" y="0"/>
                </a:moveTo>
                <a:lnTo>
                  <a:pt x="9525000" y="6858000"/>
                </a:lnTo>
                <a:moveTo>
                  <a:pt x="9906000" y="0"/>
                </a:moveTo>
                <a:lnTo>
                  <a:pt x="9906000" y="6858000"/>
                </a:lnTo>
                <a:moveTo>
                  <a:pt x="10287000" y="0"/>
                </a:moveTo>
                <a:lnTo>
                  <a:pt x="10287000" y="6858000"/>
                </a:lnTo>
                <a:moveTo>
                  <a:pt x="10668000" y="0"/>
                </a:moveTo>
                <a:lnTo>
                  <a:pt x="10668000" y="6858000"/>
                </a:lnTo>
                <a:moveTo>
                  <a:pt x="11049000" y="0"/>
                </a:moveTo>
                <a:lnTo>
                  <a:pt x="11049000" y="6858000"/>
                </a:lnTo>
                <a:moveTo>
                  <a:pt x="11430000" y="0"/>
                </a:moveTo>
                <a:lnTo>
                  <a:pt x="11430000" y="6858000"/>
                </a:lnTo>
                <a:moveTo>
                  <a:pt x="11811000" y="0"/>
                </a:moveTo>
                <a:lnTo>
                  <a:pt x="11811000" y="6858000"/>
                </a:lnTo>
                <a:moveTo>
                  <a:pt x="12192000" y="0"/>
                </a:moveTo>
                <a:lnTo>
                  <a:pt x="12192000" y="6858000"/>
                </a:lnTo>
                <a:moveTo>
                  <a:pt x="0" y="381000"/>
                </a:moveTo>
                <a:lnTo>
                  <a:pt x="12192000" y="381000"/>
                </a:lnTo>
                <a:moveTo>
                  <a:pt x="0" y="762000"/>
                </a:moveTo>
                <a:lnTo>
                  <a:pt x="12192000" y="762000"/>
                </a:lnTo>
                <a:moveTo>
                  <a:pt x="0" y="1143000"/>
                </a:moveTo>
                <a:lnTo>
                  <a:pt x="12192000" y="1143000"/>
                </a:lnTo>
                <a:moveTo>
                  <a:pt x="0" y="1524000"/>
                </a:moveTo>
                <a:lnTo>
                  <a:pt x="12192000" y="1524000"/>
                </a:lnTo>
                <a:moveTo>
                  <a:pt x="0" y="1905000"/>
                </a:moveTo>
                <a:lnTo>
                  <a:pt x="12192000" y="1905000"/>
                </a:lnTo>
                <a:moveTo>
                  <a:pt x="0" y="2286000"/>
                </a:moveTo>
                <a:lnTo>
                  <a:pt x="12192000" y="2286000"/>
                </a:lnTo>
                <a:moveTo>
                  <a:pt x="0" y="2667000"/>
                </a:moveTo>
                <a:lnTo>
                  <a:pt x="12192000" y="2667000"/>
                </a:lnTo>
                <a:moveTo>
                  <a:pt x="0" y="3048000"/>
                </a:moveTo>
                <a:lnTo>
                  <a:pt x="12192000" y="30480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3810000"/>
                </a:moveTo>
                <a:lnTo>
                  <a:pt x="12192000" y="3810000"/>
                </a:lnTo>
                <a:moveTo>
                  <a:pt x="0" y="4191000"/>
                </a:moveTo>
                <a:lnTo>
                  <a:pt x="12192000" y="4191000"/>
                </a:lnTo>
                <a:moveTo>
                  <a:pt x="0" y="4572000"/>
                </a:moveTo>
                <a:lnTo>
                  <a:pt x="12192000" y="4572000"/>
                </a:lnTo>
                <a:moveTo>
                  <a:pt x="0" y="4953000"/>
                </a:moveTo>
                <a:lnTo>
                  <a:pt x="12192000" y="4953000"/>
                </a:lnTo>
                <a:moveTo>
                  <a:pt x="0" y="5334000"/>
                </a:moveTo>
                <a:lnTo>
                  <a:pt x="12192000" y="5334000"/>
                </a:lnTo>
                <a:moveTo>
                  <a:pt x="0" y="5715000"/>
                </a:moveTo>
                <a:lnTo>
                  <a:pt x="12192000" y="5715000"/>
                </a:lnTo>
                <a:moveTo>
                  <a:pt x="0" y="6096000"/>
                </a:moveTo>
                <a:lnTo>
                  <a:pt x="12192000" y="6096000"/>
                </a:lnTo>
                <a:moveTo>
                  <a:pt x="0" y="6477000"/>
                </a:moveTo>
                <a:lnTo>
                  <a:pt x="12192000" y="6477000"/>
                </a:lnTo>
                <a:moveTo>
                  <a:pt x="0" y="6858000"/>
                </a:moveTo>
                <a:lnTo>
                  <a:pt x="12192000" y="6858000"/>
                </a:lnTo>
              </a:path>
            </a:pathLst>
          </a:custGeom>
          <a:noFill/>
          <a:ln w="9525">
            <a:solidFill>
              <a:schemeClr val="accent5">
                <a:alpha val="85000"/>
              </a:schemeClr>
            </a:solidFill>
          </a:ln>
        </p:spPr>
      </p:sp>
      <p:grpSp>
        <p:nvGrpSpPr>
          <p:cNvPr id="6" name="Group 6"/>
          <p:cNvGrpSpPr/>
          <p:nvPr/>
        </p:nvGrpSpPr>
        <p:grpSpPr>
          <a:xfrm>
            <a:off x="443484" y="346710"/>
            <a:ext cx="11297412" cy="918591"/>
            <a:chOff x="443484" y="346710"/>
            <a:chExt cx="11297412" cy="918591"/>
          </a:xfrm>
        </p:grpSpPr>
        <p:sp>
          <p:nvSpPr>
            <p:cNvPr id="3" name="TextBox 3"/>
            <p:cNvSpPr txBox="1"/>
            <p:nvPr/>
          </p:nvSpPr>
          <p:spPr>
            <a:xfrm>
              <a:off x="451104" y="346710"/>
              <a:ext cx="42455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DEF-INSP · 2026-W33 · 2026-08-13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43484" y="737235"/>
              <a:ext cx="6015700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捕获率稳定，水印才是本周 killer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920374" y="346710"/>
              <a:ext cx="82052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P02 / 08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57200" y="1409700"/>
            <a:ext cx="3429000" cy="4762500"/>
            <a:chOff x="457200" y="1409700"/>
            <a:chExt cx="3429000" cy="4762500"/>
          </a:xfrm>
        </p:grpSpPr>
        <p:sp>
          <p:nvSpPr>
            <p:cNvPr id="7" name="Rectangle 7"/>
            <p:cNvSpPr/>
            <p:nvPr/>
          </p:nvSpPr>
          <p:spPr>
            <a:xfrm>
              <a:off x="457200" y="1409700"/>
              <a:ext cx="3429000" cy="4762500"/>
            </a:xfrm>
            <a:prstGeom prst="rect">
              <a:avLst/>
            </a:prstGeom>
            <a:solidFill>
              <a:schemeClr val="lt2"/>
            </a:solidFill>
            <a:ln w="14288">
              <a:solidFill>
                <a:schemeClr val="accent2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701548" y="1635938"/>
              <a:ext cx="197104" cy="237667"/>
            </a:xfrm>
            <a:custGeom>
              <a:avLst/>
              <a:gdLst/>
              <a:ahLst/>
              <a:cxnLst/>
              <a:rect l="l" t="t" r="r" b="b"/>
              <a:pathLst>
                <a:path w="197104" h="237667">
                  <a:moveTo>
                    <a:pt x="41427" y="210934"/>
                  </a:moveTo>
                  <a:cubicBezTo>
                    <a:pt x="74473" y="237667"/>
                    <a:pt x="122644" y="237667"/>
                    <a:pt x="155676" y="210934"/>
                  </a:cubicBezTo>
                  <a:cubicBezTo>
                    <a:pt x="188722" y="184200"/>
                    <a:pt x="197104" y="138442"/>
                    <a:pt x="175564" y="102400"/>
                  </a:cubicBezTo>
                  <a:lnTo>
                    <a:pt x="113462" y="10198"/>
                  </a:lnTo>
                  <a:cubicBezTo>
                    <a:pt x="108128" y="2261"/>
                    <a:pt x="97117" y="0"/>
                    <a:pt x="88874" y="5156"/>
                  </a:cubicBezTo>
                  <a:cubicBezTo>
                    <a:pt x="86805" y="6454"/>
                    <a:pt x="85032" y="8172"/>
                    <a:pt x="83667" y="10198"/>
                  </a:cubicBezTo>
                  <a:lnTo>
                    <a:pt x="21526" y="102400"/>
                  </a:lnTo>
                  <a:cubicBezTo>
                    <a:pt x="0" y="138442"/>
                    <a:pt x="8382" y="184200"/>
                    <a:pt x="41427" y="210934"/>
                  </a:cubicBezTo>
                </a:path>
              </a:pathLst>
            </a:custGeom>
            <a:noFill/>
            <a:ln w="25400">
              <a:solidFill>
                <a:schemeClr val="accent1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59942" y="1683068"/>
              <a:ext cx="165757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L28 RANDOM D0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72084" y="2566035"/>
              <a:ext cx="91458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0.42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78180" y="3076575"/>
              <a:ext cx="18501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/cm² vs 基线 0.18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685800" y="3543300"/>
              <a:ext cx="2743200" cy="9525"/>
            </a:xfrm>
            <a:custGeom>
              <a:avLst/>
              <a:gdLst/>
              <a:ahLst/>
              <a:cxnLst/>
              <a:rect l="l" t="t" r="r" b="b"/>
              <a:pathLst>
                <a:path w="2743200" h="9525">
                  <a:moveTo>
                    <a:pt x="0" y="0"/>
                  </a:moveTo>
                  <a:lnTo>
                    <a:pt x="2743200" y="0"/>
                  </a:lnTo>
                </a:path>
              </a:pathLst>
            </a:custGeom>
            <a:noFill/>
            <a:ln w="14288">
              <a:solidFill>
                <a:schemeClr val="accent2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76656" y="3806190"/>
              <a:ext cx="165689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4 个 killer lot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78180" y="4200525"/>
              <a:ext cx="136245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7A0000"/>
                  </a:solidFill>
                  <a:latin typeface="+mn-lt"/>
                  <a:ea typeface="+mn-ea"/>
                  <a:cs typeface="+mn-cs"/>
                </a:rPr>
                <a:t>ALL ON S02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78942" y="4807268"/>
              <a:ext cx="25292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当层 adder +0.24，不是来料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4191000" y="1409700"/>
            <a:ext cx="4948047" cy="4762500"/>
            <a:chOff x="4191000" y="1409700"/>
            <a:chExt cx="4948047" cy="4762500"/>
          </a:xfrm>
        </p:grpSpPr>
        <p:sp>
          <p:nvSpPr>
            <p:cNvPr id="17" name="Line 17"/>
            <p:cNvSpPr/>
            <p:nvPr/>
          </p:nvSpPr>
          <p:spPr>
            <a:xfrm>
              <a:off x="4267200" y="1409700"/>
              <a:ext cx="9525" cy="4762500"/>
            </a:xfrm>
            <a:custGeom>
              <a:avLst/>
              <a:gdLst/>
              <a:ahLst/>
              <a:cxnLst/>
              <a:rect l="l" t="t" r="r" b="b"/>
              <a:pathLst>
                <a:path w="9525" h="4762500">
                  <a:moveTo>
                    <a:pt x="0" y="0"/>
                  </a:moveTo>
                  <a:lnTo>
                    <a:pt x="0" y="476250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4191000" y="1615440"/>
              <a:ext cx="3437047" cy="649605"/>
              <a:chOff x="4191000" y="1615440"/>
              <a:chExt cx="3437047" cy="649605"/>
            </a:xfrm>
          </p:grpSpPr>
          <p:sp>
            <p:nvSpPr>
              <p:cNvPr id="18" name="Ellipse 18"/>
              <p:cNvSpPr/>
              <p:nvPr/>
            </p:nvSpPr>
            <p:spPr>
              <a:xfrm>
                <a:off x="4191000" y="1714500"/>
                <a:ext cx="152400" cy="152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grpSp>
            <p:nvGrpSpPr>
              <p:cNvPr id="26" name="Group 26"/>
              <p:cNvGrpSpPr/>
              <p:nvPr/>
            </p:nvGrpSpPr>
            <p:grpSpPr>
              <a:xfrm>
                <a:off x="4529138" y="1633538"/>
                <a:ext cx="200025" cy="200025"/>
                <a:chOff x="4529138" y="1633538"/>
                <a:chExt cx="200025" cy="200025"/>
              </a:xfrm>
            </p:grpSpPr>
            <p:sp>
              <p:nvSpPr>
                <p:cNvPr id="19" name="Freeform 19"/>
                <p:cNvSpPr/>
                <p:nvPr/>
              </p:nvSpPr>
              <p:spPr>
                <a:xfrm>
                  <a:off x="4529138" y="1655763"/>
                  <a:ext cx="44450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450" h="44450">
                      <a:moveTo>
                        <a:pt x="0" y="22225"/>
                      </a:moveTo>
                      <a:cubicBezTo>
                        <a:pt x="0" y="34500"/>
                        <a:pt x="9950" y="44450"/>
                        <a:pt x="22225" y="44450"/>
                      </a:cubicBezTo>
                      <a:cubicBezTo>
                        <a:pt x="34500" y="44450"/>
                        <a:pt x="44450" y="34500"/>
                        <a:pt x="44450" y="22225"/>
                      </a:cubicBezTo>
                      <a:cubicBezTo>
                        <a:pt x="44450" y="9950"/>
                        <a:pt x="34500" y="0"/>
                        <a:pt x="22225" y="0"/>
                      </a:cubicBezTo>
                      <a:cubicBezTo>
                        <a:pt x="9950" y="0"/>
                        <a:pt x="0" y="9950"/>
                        <a:pt x="0" y="22225"/>
                      </a:cubicBezTo>
                    </a:path>
                  </a:pathLst>
                </a:custGeom>
                <a:noFill/>
                <a:ln w="22225">
                  <a:solidFill>
                    <a:schemeClr val="accent1"/>
                  </a:solidFill>
                </a:ln>
              </p:spPr>
            </p:sp>
            <p:sp>
              <p:nvSpPr>
                <p:cNvPr id="20" name="Freeform 20"/>
                <p:cNvSpPr/>
                <p:nvPr/>
              </p:nvSpPr>
              <p:spPr>
                <a:xfrm>
                  <a:off x="4651375" y="1744663"/>
                  <a:ext cx="44450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450" h="44450">
                      <a:moveTo>
                        <a:pt x="0" y="22225"/>
                      </a:moveTo>
                      <a:cubicBezTo>
                        <a:pt x="0" y="34500"/>
                        <a:pt x="9950" y="44450"/>
                        <a:pt x="22225" y="44450"/>
                      </a:cubicBezTo>
                      <a:cubicBezTo>
                        <a:pt x="34500" y="44450"/>
                        <a:pt x="44450" y="34500"/>
                        <a:pt x="44450" y="22225"/>
                      </a:cubicBezTo>
                      <a:cubicBezTo>
                        <a:pt x="44450" y="9950"/>
                        <a:pt x="34500" y="0"/>
                        <a:pt x="22225" y="0"/>
                      </a:cubicBezTo>
                      <a:cubicBezTo>
                        <a:pt x="9950" y="0"/>
                        <a:pt x="0" y="9950"/>
                        <a:pt x="0" y="22225"/>
                      </a:cubicBezTo>
                    </a:path>
                  </a:pathLst>
                </a:custGeom>
                <a:noFill/>
                <a:ln w="22225">
                  <a:solidFill>
                    <a:schemeClr val="accent1"/>
                  </a:solidFill>
                </a:ln>
              </p:spPr>
            </p:sp>
            <p:sp>
              <p:nvSpPr>
                <p:cNvPr id="21" name="Freeform 21"/>
                <p:cNvSpPr/>
                <p:nvPr/>
              </p:nvSpPr>
              <p:spPr>
                <a:xfrm>
                  <a:off x="4662488" y="1633538"/>
                  <a:ext cx="66675" cy="6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" h="66675">
                      <a:moveTo>
                        <a:pt x="0" y="33338"/>
                      </a:moveTo>
                      <a:cubicBezTo>
                        <a:pt x="0" y="51749"/>
                        <a:pt x="14926" y="66675"/>
                        <a:pt x="33338" y="66675"/>
                      </a:cubicBezTo>
                      <a:cubicBezTo>
                        <a:pt x="51749" y="66675"/>
                        <a:pt x="66675" y="51749"/>
                        <a:pt x="66675" y="33338"/>
                      </a:cubicBezTo>
                      <a:cubicBezTo>
                        <a:pt x="66675" y="14926"/>
                        <a:pt x="51749" y="0"/>
                        <a:pt x="33338" y="0"/>
                      </a:cubicBezTo>
                      <a:cubicBezTo>
                        <a:pt x="14926" y="0"/>
                        <a:pt x="0" y="14926"/>
                        <a:pt x="0" y="33338"/>
                      </a:cubicBezTo>
                    </a:path>
                  </a:pathLst>
                </a:custGeom>
                <a:noFill/>
                <a:ln w="22225">
                  <a:solidFill>
                    <a:schemeClr val="accent1"/>
                  </a:solidFill>
                </a:ln>
              </p:spPr>
            </p:sp>
            <p:sp>
              <p:nvSpPr>
                <p:cNvPr id="22" name="Freeform 22"/>
                <p:cNvSpPr/>
                <p:nvPr/>
              </p:nvSpPr>
              <p:spPr>
                <a:xfrm>
                  <a:off x="4529138" y="1766888"/>
                  <a:ext cx="66675" cy="6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" h="66675">
                      <a:moveTo>
                        <a:pt x="0" y="33338"/>
                      </a:moveTo>
                      <a:cubicBezTo>
                        <a:pt x="0" y="51749"/>
                        <a:pt x="14926" y="66675"/>
                        <a:pt x="33338" y="66675"/>
                      </a:cubicBezTo>
                      <a:cubicBezTo>
                        <a:pt x="51749" y="66675"/>
                        <a:pt x="66675" y="51749"/>
                        <a:pt x="66675" y="33338"/>
                      </a:cubicBezTo>
                      <a:cubicBezTo>
                        <a:pt x="66675" y="14926"/>
                        <a:pt x="51749" y="0"/>
                        <a:pt x="33338" y="0"/>
                      </a:cubicBezTo>
                      <a:cubicBezTo>
                        <a:pt x="14926" y="0"/>
                        <a:pt x="0" y="14926"/>
                        <a:pt x="0" y="33338"/>
                      </a:cubicBezTo>
                    </a:path>
                  </a:pathLst>
                </a:custGeom>
                <a:noFill/>
                <a:ln w="22225">
                  <a:solidFill>
                    <a:schemeClr val="accent1"/>
                  </a:solidFill>
                </a:ln>
              </p:spPr>
            </p:sp>
            <p:sp>
              <p:nvSpPr>
                <p:cNvPr id="23" name="Freeform 23"/>
                <p:cNvSpPr/>
                <p:nvPr/>
              </p:nvSpPr>
              <p:spPr>
                <a:xfrm>
                  <a:off x="4595813" y="1772444"/>
                  <a:ext cx="55563" cy="166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563" h="16669">
                      <a:moveTo>
                        <a:pt x="0" y="16669"/>
                      </a:moveTo>
                      <a:lnTo>
                        <a:pt x="55563" y="0"/>
                      </a:lnTo>
                    </a:path>
                  </a:pathLst>
                </a:custGeom>
                <a:noFill/>
                <a:ln w="22225">
                  <a:solidFill>
                    <a:schemeClr val="accent1"/>
                  </a:solidFill>
                </a:ln>
              </p:spPr>
            </p:sp>
            <p:sp>
              <p:nvSpPr>
                <p:cNvPr id="24" name="Freeform 24"/>
                <p:cNvSpPr/>
                <p:nvPr/>
              </p:nvSpPr>
              <p:spPr>
                <a:xfrm>
                  <a:off x="4568031" y="1694657"/>
                  <a:ext cx="86789" cy="596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789" h="59674">
                      <a:moveTo>
                        <a:pt x="0" y="0"/>
                      </a:moveTo>
                      <a:lnTo>
                        <a:pt x="86789" y="59674"/>
                      </a:lnTo>
                    </a:path>
                  </a:pathLst>
                </a:custGeom>
                <a:noFill/>
                <a:ln w="22225">
                  <a:solidFill>
                    <a:schemeClr val="accent1"/>
                  </a:solidFill>
                </a:ln>
              </p:spPr>
            </p:sp>
            <p:sp>
              <p:nvSpPr>
                <p:cNvPr id="25" name="Freeform 25"/>
                <p:cNvSpPr/>
                <p:nvPr/>
              </p:nvSpPr>
              <p:spPr>
                <a:xfrm>
                  <a:off x="4573588" y="1666875"/>
                  <a:ext cx="88900" cy="111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900" h="11113">
                      <a:moveTo>
                        <a:pt x="0" y="11113"/>
                      </a:moveTo>
                      <a:lnTo>
                        <a:pt x="88900" y="0"/>
                      </a:lnTo>
                    </a:path>
                  </a:pathLst>
                </a:custGeom>
                <a:noFill/>
                <a:ln w="22225">
                  <a:solidFill>
                    <a:schemeClr val="accent1"/>
                  </a:solidFill>
                </a:ln>
              </p:spPr>
            </p:sp>
          </p:grpSp>
          <p:sp>
            <p:nvSpPr>
              <p:cNvPr id="27" name="TextBox 27"/>
              <p:cNvSpPr txBox="1"/>
              <p:nvPr/>
            </p:nvSpPr>
            <p:spPr>
              <a:xfrm>
                <a:off x="4867656" y="1615440"/>
                <a:ext cx="2760391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进展 D0 上升 133%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869180" y="1971675"/>
                <a:ext cx="268224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36 lot 送检，11 个光学超限</a:t>
                </a:r>
              </a:p>
            </p:txBody>
          </p:sp>
        </p:grpSp>
        <p:grpSp>
          <p:nvGrpSpPr>
            <p:cNvPr id="40" name="Group 40"/>
            <p:cNvGrpSpPr/>
            <p:nvPr/>
          </p:nvGrpSpPr>
          <p:grpSpPr>
            <a:xfrm>
              <a:off x="4191000" y="2606040"/>
              <a:ext cx="4801076" cy="649605"/>
              <a:chOff x="4191000" y="2606040"/>
              <a:chExt cx="4801076" cy="649605"/>
            </a:xfrm>
          </p:grpSpPr>
          <p:sp>
            <p:nvSpPr>
              <p:cNvPr id="30" name="Ellipse 30"/>
              <p:cNvSpPr/>
              <p:nvPr/>
            </p:nvSpPr>
            <p:spPr>
              <a:xfrm>
                <a:off x="4191000" y="2705100"/>
                <a:ext cx="152400" cy="152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grpSp>
            <p:nvGrpSpPr>
              <p:cNvPr id="37" name="Group 37"/>
              <p:cNvGrpSpPr/>
              <p:nvPr/>
            </p:nvGrpSpPr>
            <p:grpSpPr>
              <a:xfrm>
                <a:off x="4540250" y="2635250"/>
                <a:ext cx="177801" cy="177801"/>
                <a:chOff x="4540250" y="2635250"/>
                <a:chExt cx="177801" cy="177801"/>
              </a:xfrm>
            </p:grpSpPr>
            <p:sp>
              <p:nvSpPr>
                <p:cNvPr id="31" name="Freeform 31"/>
                <p:cNvSpPr/>
                <p:nvPr/>
              </p:nvSpPr>
              <p:spPr>
                <a:xfrm>
                  <a:off x="4540250" y="2635250"/>
                  <a:ext cx="44450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450" h="44450">
                      <a:moveTo>
                        <a:pt x="0" y="44450"/>
                      </a:moveTo>
                      <a:lnTo>
                        <a:pt x="0" y="22225"/>
                      </a:lnTo>
                      <a:cubicBezTo>
                        <a:pt x="0" y="9950"/>
                        <a:pt x="9950" y="0"/>
                        <a:pt x="22225" y="0"/>
                      </a:cubicBezTo>
                      <a:lnTo>
                        <a:pt x="44450" y="0"/>
                      </a:lnTo>
                    </a:path>
                  </a:pathLst>
                </a:custGeom>
                <a:noFill/>
                <a:ln w="22225">
                  <a:solidFill>
                    <a:schemeClr val="accent3"/>
                  </a:solidFill>
                </a:ln>
              </p:spPr>
            </p:sp>
            <p:sp>
              <p:nvSpPr>
                <p:cNvPr id="32" name="Freeform 32"/>
                <p:cNvSpPr/>
                <p:nvPr/>
              </p:nvSpPr>
              <p:spPr>
                <a:xfrm>
                  <a:off x="4540250" y="2768601"/>
                  <a:ext cx="44450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450" h="44450">
                      <a:moveTo>
                        <a:pt x="0" y="0"/>
                      </a:moveTo>
                      <a:lnTo>
                        <a:pt x="0" y="22225"/>
                      </a:lnTo>
                      <a:cubicBezTo>
                        <a:pt x="0" y="34500"/>
                        <a:pt x="9950" y="44450"/>
                        <a:pt x="22225" y="44450"/>
                      </a:cubicBezTo>
                      <a:lnTo>
                        <a:pt x="44450" y="44450"/>
                      </a:lnTo>
                    </a:path>
                  </a:pathLst>
                </a:custGeom>
                <a:noFill/>
                <a:ln w="22225">
                  <a:solidFill>
                    <a:schemeClr val="accent3"/>
                  </a:solidFill>
                </a:ln>
              </p:spPr>
            </p:sp>
            <p:sp>
              <p:nvSpPr>
                <p:cNvPr id="33" name="Freeform 33"/>
                <p:cNvSpPr/>
                <p:nvPr/>
              </p:nvSpPr>
              <p:spPr>
                <a:xfrm>
                  <a:off x="4673601" y="2635250"/>
                  <a:ext cx="44450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450" h="44450">
                      <a:moveTo>
                        <a:pt x="0" y="0"/>
                      </a:moveTo>
                      <a:lnTo>
                        <a:pt x="22225" y="0"/>
                      </a:lnTo>
                      <a:cubicBezTo>
                        <a:pt x="34500" y="0"/>
                        <a:pt x="44450" y="9950"/>
                        <a:pt x="44450" y="22225"/>
                      </a:cubicBezTo>
                      <a:lnTo>
                        <a:pt x="44450" y="44450"/>
                      </a:lnTo>
                    </a:path>
                  </a:pathLst>
                </a:custGeom>
                <a:noFill/>
                <a:ln w="22225">
                  <a:solidFill>
                    <a:schemeClr val="accent3"/>
                  </a:solidFill>
                </a:ln>
              </p:spPr>
            </p:sp>
            <p:sp>
              <p:nvSpPr>
                <p:cNvPr id="34" name="Freeform 34"/>
                <p:cNvSpPr/>
                <p:nvPr/>
              </p:nvSpPr>
              <p:spPr>
                <a:xfrm>
                  <a:off x="4673601" y="2768601"/>
                  <a:ext cx="44450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450" h="44450">
                      <a:moveTo>
                        <a:pt x="0" y="44450"/>
                      </a:moveTo>
                      <a:lnTo>
                        <a:pt x="22225" y="44450"/>
                      </a:lnTo>
                      <a:cubicBezTo>
                        <a:pt x="34500" y="44450"/>
                        <a:pt x="44450" y="34500"/>
                        <a:pt x="44450" y="22225"/>
                      </a:cubicBezTo>
                      <a:lnTo>
                        <a:pt x="44450" y="0"/>
                      </a:lnTo>
                    </a:path>
                  </a:pathLst>
                </a:custGeom>
                <a:noFill/>
                <a:ln w="22225">
                  <a:solidFill>
                    <a:schemeClr val="accent3"/>
                  </a:solidFill>
                </a:ln>
              </p:spPr>
            </p:sp>
            <p:sp>
              <p:nvSpPr>
                <p:cNvPr id="35" name="Freeform 35"/>
                <p:cNvSpPr/>
                <p:nvPr/>
              </p:nvSpPr>
              <p:spPr>
                <a:xfrm>
                  <a:off x="4584700" y="2679700"/>
                  <a:ext cx="66675" cy="6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" h="66675">
                      <a:moveTo>
                        <a:pt x="0" y="33338"/>
                      </a:moveTo>
                      <a:cubicBezTo>
                        <a:pt x="0" y="51749"/>
                        <a:pt x="14926" y="66675"/>
                        <a:pt x="33338" y="66675"/>
                      </a:cubicBezTo>
                      <a:cubicBezTo>
                        <a:pt x="51749" y="66675"/>
                        <a:pt x="66675" y="51749"/>
                        <a:pt x="66675" y="33338"/>
                      </a:cubicBezTo>
                      <a:cubicBezTo>
                        <a:pt x="66675" y="14926"/>
                        <a:pt x="51749" y="0"/>
                        <a:pt x="33338" y="0"/>
                      </a:cubicBezTo>
                      <a:cubicBezTo>
                        <a:pt x="14926" y="0"/>
                        <a:pt x="0" y="14926"/>
                        <a:pt x="0" y="33338"/>
                      </a:cubicBezTo>
                    </a:path>
                  </a:pathLst>
                </a:custGeom>
                <a:noFill/>
                <a:ln w="22225">
                  <a:solidFill>
                    <a:schemeClr val="accent3"/>
                  </a:solidFill>
                </a:ln>
              </p:spPr>
            </p:sp>
            <p:sp>
              <p:nvSpPr>
                <p:cNvPr id="36" name="Freeform 36"/>
                <p:cNvSpPr/>
                <p:nvPr/>
              </p:nvSpPr>
              <p:spPr>
                <a:xfrm>
                  <a:off x="4645819" y="2740819"/>
                  <a:ext cx="27781" cy="277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81" h="27781">
                      <a:moveTo>
                        <a:pt x="27781" y="27781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22225">
                  <a:solidFill>
                    <a:schemeClr val="accent3"/>
                  </a:solidFill>
                </a:ln>
              </p:spPr>
            </p:sp>
          </p:grpSp>
          <p:sp>
            <p:nvSpPr>
              <p:cNvPr id="38" name="TextBox 38"/>
              <p:cNvSpPr txBox="1"/>
              <p:nvPr/>
            </p:nvSpPr>
            <p:spPr>
              <a:xfrm>
                <a:off x="4867656" y="2606040"/>
                <a:ext cx="263941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可信度 捕获 91% 持平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4869180" y="2962275"/>
                <a:ext cx="412289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基线 93%。Nuisance 18% 偏热，不是漏检</a:t>
                </a:r>
              </a:p>
            </p:txBody>
          </p:sp>
        </p:grpSp>
        <p:grpSp>
          <p:nvGrpSpPr>
            <p:cNvPr id="48" name="Group 48"/>
            <p:cNvGrpSpPr/>
            <p:nvPr/>
          </p:nvGrpSpPr>
          <p:grpSpPr>
            <a:xfrm>
              <a:off x="4191000" y="3596640"/>
              <a:ext cx="4640580" cy="649605"/>
              <a:chOff x="4191000" y="3596640"/>
              <a:chExt cx="4640580" cy="649605"/>
            </a:xfrm>
          </p:grpSpPr>
          <p:sp>
            <p:nvSpPr>
              <p:cNvPr id="41" name="Ellipse 41"/>
              <p:cNvSpPr/>
              <p:nvPr/>
            </p:nvSpPr>
            <p:spPr>
              <a:xfrm>
                <a:off x="4191000" y="3695700"/>
                <a:ext cx="152400" cy="152400"/>
              </a:xfrm>
              <a:prstGeom prst="ellipse">
                <a:avLst/>
              </a:prstGeom>
              <a:solidFill>
                <a:srgbClr val="7A0000"/>
              </a:solidFill>
              <a:ln>
                <a:noFill/>
              </a:ln>
            </p:spPr>
          </p:sp>
          <p:grpSp>
            <p:nvGrpSpPr>
              <p:cNvPr id="45" name="Group 45"/>
              <p:cNvGrpSpPr/>
              <p:nvPr/>
            </p:nvGrpSpPr>
            <p:grpSpPr>
              <a:xfrm>
                <a:off x="4517079" y="3611046"/>
                <a:ext cx="224134" cy="192560"/>
                <a:chOff x="4517079" y="3611046"/>
                <a:chExt cx="224134" cy="192560"/>
              </a:xfrm>
            </p:grpSpPr>
            <p:sp>
              <p:nvSpPr>
                <p:cNvPr id="42" name="Freeform 42"/>
                <p:cNvSpPr/>
                <p:nvPr/>
              </p:nvSpPr>
              <p:spPr>
                <a:xfrm>
                  <a:off x="4629150" y="3681413"/>
                  <a:ext cx="9525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44450">
                      <a:moveTo>
                        <a:pt x="0" y="0"/>
                      </a:moveTo>
                      <a:lnTo>
                        <a:pt x="0" y="44450"/>
                      </a:lnTo>
                    </a:path>
                  </a:pathLst>
                </a:custGeom>
                <a:noFill/>
                <a:ln w="22225">
                  <a:solidFill>
                    <a:srgbClr val="7A0000"/>
                  </a:solidFill>
                </a:ln>
              </p:spPr>
            </p:sp>
            <p:sp>
              <p:nvSpPr>
                <p:cNvPr id="43" name="Freeform 43"/>
                <p:cNvSpPr/>
                <p:nvPr/>
              </p:nvSpPr>
              <p:spPr>
                <a:xfrm>
                  <a:off x="4517079" y="3611046"/>
                  <a:ext cx="224134" cy="1925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4134" h="192560">
                      <a:moveTo>
                        <a:pt x="93880" y="10259"/>
                      </a:moveTo>
                      <a:lnTo>
                        <a:pt x="3802" y="160656"/>
                      </a:lnTo>
                      <a:cubicBezTo>
                        <a:pt x="23" y="167200"/>
                        <a:pt x="0" y="175257"/>
                        <a:pt x="3741" y="181823"/>
                      </a:cubicBezTo>
                      <a:cubicBezTo>
                        <a:pt x="7482" y="188388"/>
                        <a:pt x="14426" y="192476"/>
                        <a:pt x="21982" y="192560"/>
                      </a:cubicBezTo>
                      <a:lnTo>
                        <a:pt x="202160" y="192560"/>
                      </a:lnTo>
                      <a:cubicBezTo>
                        <a:pt x="209713" y="192473"/>
                        <a:pt x="216653" y="188387"/>
                        <a:pt x="220393" y="181826"/>
                      </a:cubicBezTo>
                      <a:cubicBezTo>
                        <a:pt x="224134" y="175264"/>
                        <a:pt x="224114" y="167211"/>
                        <a:pt x="220341" y="160667"/>
                      </a:cubicBezTo>
                      <a:lnTo>
                        <a:pt x="130262" y="10248"/>
                      </a:lnTo>
                      <a:cubicBezTo>
                        <a:pt x="126408" y="3886"/>
                        <a:pt x="119510" y="0"/>
                        <a:pt x="112071" y="0"/>
                      </a:cubicBezTo>
                      <a:cubicBezTo>
                        <a:pt x="104633" y="0"/>
                        <a:pt x="97734" y="3886"/>
                        <a:pt x="93880" y="10248"/>
                      </a:cubicBezTo>
                    </a:path>
                  </a:pathLst>
                </a:custGeom>
                <a:noFill/>
                <a:ln w="22225">
                  <a:solidFill>
                    <a:srgbClr val="7A0000"/>
                  </a:solidFill>
                </a:ln>
              </p:spPr>
            </p:sp>
            <p:sp>
              <p:nvSpPr>
                <p:cNvPr id="44" name="Freeform 44"/>
                <p:cNvSpPr/>
                <p:nvPr/>
              </p:nvSpPr>
              <p:spPr>
                <a:xfrm>
                  <a:off x="4629150" y="3759201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111" y="0"/>
                      </a:lnTo>
                    </a:path>
                  </a:pathLst>
                </a:custGeom>
                <a:noFill/>
                <a:ln w="22225">
                  <a:solidFill>
                    <a:srgbClr val="7A0000"/>
                  </a:solidFill>
                </a:ln>
              </p:spPr>
            </p:sp>
          </p:grpSp>
          <p:sp>
            <p:nvSpPr>
              <p:cNvPr id="46" name="TextBox 46"/>
              <p:cNvSpPr txBox="1"/>
              <p:nvPr/>
            </p:nvSpPr>
            <p:spPr>
              <a:xfrm>
                <a:off x="4867656" y="3596640"/>
                <a:ext cx="2652857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类型 水印杀伤比 0.62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4869180" y="3952875"/>
                <a:ext cx="396240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颗粒颗数最高 31%，但 kill ratio 仅 0.18</a:t>
                </a:r>
              </a:p>
            </p:txBody>
          </p:sp>
        </p:grpSp>
        <p:grpSp>
          <p:nvGrpSpPr>
            <p:cNvPr id="55" name="Group 55"/>
            <p:cNvGrpSpPr/>
            <p:nvPr/>
          </p:nvGrpSpPr>
          <p:grpSpPr>
            <a:xfrm>
              <a:off x="4191000" y="4587240"/>
              <a:ext cx="4762119" cy="649605"/>
              <a:chOff x="4191000" y="4587240"/>
              <a:chExt cx="4762119" cy="649605"/>
            </a:xfrm>
          </p:grpSpPr>
          <p:sp>
            <p:nvSpPr>
              <p:cNvPr id="49" name="Ellipse 49"/>
              <p:cNvSpPr/>
              <p:nvPr/>
            </p:nvSpPr>
            <p:spPr>
              <a:xfrm>
                <a:off x="4191000" y="4686300"/>
                <a:ext cx="152400" cy="152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grpSp>
            <p:nvGrpSpPr>
              <p:cNvPr id="52" name="Group 52"/>
              <p:cNvGrpSpPr/>
              <p:nvPr/>
            </p:nvGrpSpPr>
            <p:grpSpPr>
              <a:xfrm>
                <a:off x="4540250" y="4616450"/>
                <a:ext cx="177800" cy="177800"/>
                <a:chOff x="4540250" y="4616450"/>
                <a:chExt cx="177800" cy="177800"/>
              </a:xfrm>
            </p:grpSpPr>
            <p:sp>
              <p:nvSpPr>
                <p:cNvPr id="50" name="Freeform 50"/>
                <p:cNvSpPr/>
                <p:nvPr/>
              </p:nvSpPr>
              <p:spPr>
                <a:xfrm>
                  <a:off x="4584700" y="4616450"/>
                  <a:ext cx="133350" cy="13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50" h="133350">
                      <a:moveTo>
                        <a:pt x="0" y="22225"/>
                      </a:moveTo>
                      <a:cubicBezTo>
                        <a:pt x="0" y="9950"/>
                        <a:pt x="9950" y="0"/>
                        <a:pt x="22225" y="0"/>
                      </a:cubicBezTo>
                      <a:lnTo>
                        <a:pt x="111125" y="0"/>
                      </a:lnTo>
                      <a:cubicBezTo>
                        <a:pt x="123400" y="0"/>
                        <a:pt x="133350" y="9950"/>
                        <a:pt x="133350" y="22225"/>
                      </a:cubicBezTo>
                      <a:lnTo>
                        <a:pt x="133350" y="111125"/>
                      </a:lnTo>
                      <a:cubicBezTo>
                        <a:pt x="133350" y="123400"/>
                        <a:pt x="123400" y="133350"/>
                        <a:pt x="111125" y="133350"/>
                      </a:cubicBezTo>
                      <a:lnTo>
                        <a:pt x="22225" y="133350"/>
                      </a:lnTo>
                      <a:cubicBezTo>
                        <a:pt x="9950" y="133350"/>
                        <a:pt x="0" y="123400"/>
                        <a:pt x="0" y="111125"/>
                      </a:cubicBezTo>
                      <a:lnTo>
                        <a:pt x="0" y="22225"/>
                      </a:lnTo>
                    </a:path>
                  </a:pathLst>
                </a:custGeom>
                <a:noFill/>
                <a:ln w="22225">
                  <a:solidFill>
                    <a:schemeClr val="accent1"/>
                  </a:solidFill>
                </a:ln>
              </p:spPr>
            </p:sp>
            <p:sp>
              <p:nvSpPr>
                <p:cNvPr id="51" name="Freeform 51"/>
                <p:cNvSpPr/>
                <p:nvPr/>
              </p:nvSpPr>
              <p:spPr>
                <a:xfrm>
                  <a:off x="4540250" y="4660900"/>
                  <a:ext cx="133350" cy="13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50" h="133350">
                      <a:moveTo>
                        <a:pt x="0" y="22225"/>
                      </a:moveTo>
                      <a:cubicBezTo>
                        <a:pt x="0" y="9950"/>
                        <a:pt x="9950" y="0"/>
                        <a:pt x="22225" y="0"/>
                      </a:cubicBezTo>
                      <a:lnTo>
                        <a:pt x="111125" y="0"/>
                      </a:lnTo>
                      <a:cubicBezTo>
                        <a:pt x="123400" y="0"/>
                        <a:pt x="133350" y="9950"/>
                        <a:pt x="133350" y="22225"/>
                      </a:cubicBezTo>
                      <a:lnTo>
                        <a:pt x="133350" y="111125"/>
                      </a:lnTo>
                      <a:cubicBezTo>
                        <a:pt x="133350" y="123400"/>
                        <a:pt x="123400" y="133350"/>
                        <a:pt x="111125" y="133350"/>
                      </a:cubicBezTo>
                      <a:lnTo>
                        <a:pt x="22225" y="133350"/>
                      </a:lnTo>
                      <a:cubicBezTo>
                        <a:pt x="9950" y="133350"/>
                        <a:pt x="0" y="123400"/>
                        <a:pt x="0" y="111125"/>
                      </a:cubicBezTo>
                      <a:lnTo>
                        <a:pt x="0" y="22225"/>
                      </a:lnTo>
                    </a:path>
                  </a:pathLst>
                </a:custGeom>
                <a:noFill/>
                <a:ln w="22225">
                  <a:solidFill>
                    <a:schemeClr val="accent1"/>
                  </a:solidFill>
                </a:ln>
              </p:spPr>
            </p:sp>
          </p:grpSp>
          <p:sp>
            <p:nvSpPr>
              <p:cNvPr id="53" name="TextBox 53"/>
              <p:cNvSpPr txBox="1"/>
              <p:nvPr/>
            </p:nvSpPr>
            <p:spPr>
              <a:xfrm>
                <a:off x="4867656" y="4587240"/>
                <a:ext cx="280277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工具 4/4 killer 在 S02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4869180" y="4943475"/>
                <a:ext cx="4083939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S01 / S03 仍在基线内。本周冻结 recipe</a:t>
                </a:r>
              </a:p>
            </p:txBody>
          </p:sp>
        </p:grpSp>
        <p:sp>
          <p:nvSpPr>
            <p:cNvPr id="56" name="TextBox 56"/>
            <p:cNvSpPr txBox="1"/>
            <p:nvPr/>
          </p:nvSpPr>
          <p:spPr>
            <a:xfrm>
              <a:off x="4869942" y="5683568"/>
              <a:ext cx="42691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判断：先关 S02 残液，不按颗粒柱改工艺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451104" y="6480810"/>
            <a:ext cx="11289792" cy="234696"/>
            <a:chOff x="451104" y="6480810"/>
            <a:chExt cx="11289792" cy="234696"/>
          </a:xfrm>
        </p:grpSpPr>
        <p:sp>
          <p:nvSpPr>
            <p:cNvPr id="58" name="TextBox 58"/>
            <p:cNvSpPr txBox="1"/>
            <p:nvPr/>
          </p:nvSpPr>
          <p:spPr>
            <a:xfrm>
              <a:off x="451104" y="6480810"/>
              <a:ext cx="29138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演示用虚构数据｜不代表真实工厂成绩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137904" y="6480810"/>
              <a:ext cx="26029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DWG NO. DEF-INSP-W33-02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381000" y="0"/>
                </a:moveTo>
                <a:lnTo>
                  <a:pt x="381000" y="6858000"/>
                </a:lnTo>
                <a:moveTo>
                  <a:pt x="762000" y="0"/>
                </a:moveTo>
                <a:lnTo>
                  <a:pt x="762000" y="6858000"/>
                </a:lnTo>
                <a:moveTo>
                  <a:pt x="1143000" y="0"/>
                </a:moveTo>
                <a:lnTo>
                  <a:pt x="1143000" y="6858000"/>
                </a:lnTo>
                <a:moveTo>
                  <a:pt x="1524000" y="0"/>
                </a:moveTo>
                <a:lnTo>
                  <a:pt x="1524000" y="6858000"/>
                </a:lnTo>
                <a:moveTo>
                  <a:pt x="1905000" y="0"/>
                </a:moveTo>
                <a:lnTo>
                  <a:pt x="1905000" y="6858000"/>
                </a:lnTo>
                <a:moveTo>
                  <a:pt x="2286000" y="0"/>
                </a:moveTo>
                <a:lnTo>
                  <a:pt x="2286000" y="6858000"/>
                </a:lnTo>
                <a:moveTo>
                  <a:pt x="2667000" y="0"/>
                </a:moveTo>
                <a:lnTo>
                  <a:pt x="266700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3429000" y="0"/>
                </a:moveTo>
                <a:lnTo>
                  <a:pt x="3429000" y="6858000"/>
                </a:lnTo>
                <a:moveTo>
                  <a:pt x="3810000" y="0"/>
                </a:moveTo>
                <a:lnTo>
                  <a:pt x="3810000" y="6858000"/>
                </a:lnTo>
                <a:moveTo>
                  <a:pt x="4191000" y="0"/>
                </a:moveTo>
                <a:lnTo>
                  <a:pt x="4191000" y="6858000"/>
                </a:lnTo>
                <a:moveTo>
                  <a:pt x="4572000" y="0"/>
                </a:moveTo>
                <a:lnTo>
                  <a:pt x="4572000" y="6858000"/>
                </a:lnTo>
                <a:moveTo>
                  <a:pt x="4953000" y="0"/>
                </a:moveTo>
                <a:lnTo>
                  <a:pt x="4953000" y="6858000"/>
                </a:lnTo>
                <a:moveTo>
                  <a:pt x="5334000" y="0"/>
                </a:moveTo>
                <a:lnTo>
                  <a:pt x="5334000" y="6858000"/>
                </a:lnTo>
                <a:moveTo>
                  <a:pt x="5715000" y="0"/>
                </a:moveTo>
                <a:lnTo>
                  <a:pt x="5715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6477000" y="0"/>
                </a:moveTo>
                <a:lnTo>
                  <a:pt x="6477000" y="6858000"/>
                </a:lnTo>
                <a:moveTo>
                  <a:pt x="6858000" y="0"/>
                </a:moveTo>
                <a:lnTo>
                  <a:pt x="6858000" y="6858000"/>
                </a:lnTo>
                <a:moveTo>
                  <a:pt x="7239000" y="0"/>
                </a:moveTo>
                <a:lnTo>
                  <a:pt x="7239000" y="6858000"/>
                </a:lnTo>
                <a:moveTo>
                  <a:pt x="7620000" y="0"/>
                </a:moveTo>
                <a:lnTo>
                  <a:pt x="7620000" y="6858000"/>
                </a:lnTo>
                <a:moveTo>
                  <a:pt x="8001000" y="0"/>
                </a:moveTo>
                <a:lnTo>
                  <a:pt x="8001000" y="6858000"/>
                </a:lnTo>
                <a:moveTo>
                  <a:pt x="8382000" y="0"/>
                </a:moveTo>
                <a:lnTo>
                  <a:pt x="8382000" y="6858000"/>
                </a:lnTo>
                <a:moveTo>
                  <a:pt x="8763000" y="0"/>
                </a:moveTo>
                <a:lnTo>
                  <a:pt x="8763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9525000" y="0"/>
                </a:moveTo>
                <a:lnTo>
                  <a:pt x="9525000" y="6858000"/>
                </a:lnTo>
                <a:moveTo>
                  <a:pt x="9906000" y="0"/>
                </a:moveTo>
                <a:lnTo>
                  <a:pt x="9906000" y="6858000"/>
                </a:lnTo>
                <a:moveTo>
                  <a:pt x="10287000" y="0"/>
                </a:moveTo>
                <a:lnTo>
                  <a:pt x="10287000" y="6858000"/>
                </a:lnTo>
                <a:moveTo>
                  <a:pt x="10668000" y="0"/>
                </a:moveTo>
                <a:lnTo>
                  <a:pt x="10668000" y="6858000"/>
                </a:lnTo>
                <a:moveTo>
                  <a:pt x="11049000" y="0"/>
                </a:moveTo>
                <a:lnTo>
                  <a:pt x="11049000" y="6858000"/>
                </a:lnTo>
                <a:moveTo>
                  <a:pt x="11430000" y="0"/>
                </a:moveTo>
                <a:lnTo>
                  <a:pt x="11430000" y="6858000"/>
                </a:lnTo>
                <a:moveTo>
                  <a:pt x="11811000" y="0"/>
                </a:moveTo>
                <a:lnTo>
                  <a:pt x="11811000" y="6858000"/>
                </a:lnTo>
                <a:moveTo>
                  <a:pt x="12192000" y="0"/>
                </a:moveTo>
                <a:lnTo>
                  <a:pt x="12192000" y="6858000"/>
                </a:lnTo>
                <a:moveTo>
                  <a:pt x="0" y="381000"/>
                </a:moveTo>
                <a:lnTo>
                  <a:pt x="12192000" y="381000"/>
                </a:lnTo>
                <a:moveTo>
                  <a:pt x="0" y="762000"/>
                </a:moveTo>
                <a:lnTo>
                  <a:pt x="12192000" y="762000"/>
                </a:lnTo>
                <a:moveTo>
                  <a:pt x="0" y="1143000"/>
                </a:moveTo>
                <a:lnTo>
                  <a:pt x="12192000" y="1143000"/>
                </a:lnTo>
                <a:moveTo>
                  <a:pt x="0" y="1524000"/>
                </a:moveTo>
                <a:lnTo>
                  <a:pt x="12192000" y="1524000"/>
                </a:lnTo>
                <a:moveTo>
                  <a:pt x="0" y="1905000"/>
                </a:moveTo>
                <a:lnTo>
                  <a:pt x="12192000" y="1905000"/>
                </a:lnTo>
                <a:moveTo>
                  <a:pt x="0" y="2286000"/>
                </a:moveTo>
                <a:lnTo>
                  <a:pt x="12192000" y="2286000"/>
                </a:lnTo>
                <a:moveTo>
                  <a:pt x="0" y="2667000"/>
                </a:moveTo>
                <a:lnTo>
                  <a:pt x="12192000" y="2667000"/>
                </a:lnTo>
                <a:moveTo>
                  <a:pt x="0" y="3048000"/>
                </a:moveTo>
                <a:lnTo>
                  <a:pt x="12192000" y="30480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3810000"/>
                </a:moveTo>
                <a:lnTo>
                  <a:pt x="12192000" y="3810000"/>
                </a:lnTo>
                <a:moveTo>
                  <a:pt x="0" y="4191000"/>
                </a:moveTo>
                <a:lnTo>
                  <a:pt x="12192000" y="4191000"/>
                </a:lnTo>
                <a:moveTo>
                  <a:pt x="0" y="4572000"/>
                </a:moveTo>
                <a:lnTo>
                  <a:pt x="12192000" y="4572000"/>
                </a:lnTo>
                <a:moveTo>
                  <a:pt x="0" y="4953000"/>
                </a:moveTo>
                <a:lnTo>
                  <a:pt x="12192000" y="4953000"/>
                </a:lnTo>
                <a:moveTo>
                  <a:pt x="0" y="5334000"/>
                </a:moveTo>
                <a:lnTo>
                  <a:pt x="12192000" y="5334000"/>
                </a:lnTo>
                <a:moveTo>
                  <a:pt x="0" y="5715000"/>
                </a:moveTo>
                <a:lnTo>
                  <a:pt x="12192000" y="5715000"/>
                </a:lnTo>
                <a:moveTo>
                  <a:pt x="0" y="6096000"/>
                </a:moveTo>
                <a:lnTo>
                  <a:pt x="12192000" y="6096000"/>
                </a:lnTo>
                <a:moveTo>
                  <a:pt x="0" y="6477000"/>
                </a:moveTo>
                <a:lnTo>
                  <a:pt x="12192000" y="6477000"/>
                </a:lnTo>
                <a:moveTo>
                  <a:pt x="0" y="6858000"/>
                </a:moveTo>
                <a:lnTo>
                  <a:pt x="12192000" y="6858000"/>
                </a:lnTo>
              </a:path>
            </a:pathLst>
          </a:custGeom>
          <a:noFill/>
          <a:ln w="9525">
            <a:solidFill>
              <a:schemeClr val="accent5">
                <a:alpha val="85000"/>
              </a:schemeClr>
            </a:solidFill>
          </a:ln>
        </p:spPr>
      </p:sp>
      <p:grpSp>
        <p:nvGrpSpPr>
          <p:cNvPr id="6" name="Group 6"/>
          <p:cNvGrpSpPr/>
          <p:nvPr/>
        </p:nvGrpSpPr>
        <p:grpSpPr>
          <a:xfrm>
            <a:off x="443484" y="346710"/>
            <a:ext cx="11297412" cy="918591"/>
            <a:chOff x="443484" y="346710"/>
            <a:chExt cx="11297412" cy="918591"/>
          </a:xfrm>
        </p:grpSpPr>
        <p:sp>
          <p:nvSpPr>
            <p:cNvPr id="3" name="TextBox 3"/>
            <p:cNvSpPr txBox="1"/>
            <p:nvPr/>
          </p:nvSpPr>
          <p:spPr>
            <a:xfrm>
              <a:off x="451104" y="346710"/>
              <a:ext cx="42455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DEF-INSP · 2026-W33 · 2026-08-13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43484" y="737235"/>
              <a:ext cx="607618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空间签名沿扫描起停点，符合残液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920374" y="346710"/>
              <a:ext cx="82052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P03 / 08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26542" y="1397318"/>
            <a:ext cx="4426458" cy="4816983"/>
            <a:chOff x="526542" y="1397318"/>
            <a:chExt cx="4426458" cy="4816983"/>
          </a:xfrm>
        </p:grpSpPr>
        <p:sp>
          <p:nvSpPr>
            <p:cNvPr id="7" name="Ellipse 7"/>
            <p:cNvSpPr/>
            <p:nvPr/>
          </p:nvSpPr>
          <p:spPr>
            <a:xfrm>
              <a:off x="1143000" y="1905000"/>
              <a:ext cx="3810000" cy="3810000"/>
            </a:xfrm>
            <a:prstGeom prst="ellipse">
              <a:avLst/>
            </a:prstGeom>
            <a:solidFill>
              <a:schemeClr val="lt2"/>
            </a:solidFill>
            <a:ln w="19050">
              <a:solidFill>
                <a:schemeClr val="accent2"/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1428750" y="2190750"/>
              <a:ext cx="3238500" cy="3238500"/>
            </a:xfrm>
            <a:prstGeom prst="ellipse">
              <a:avLst/>
            </a:prstGeom>
            <a:noFill/>
            <a:ln w="19050">
              <a:solidFill>
                <a:schemeClr val="accent2"/>
              </a:solidFill>
              <a:custDash>
                <a:ds d="300000" sp="300000"/>
              </a:custDash>
            </a:ln>
          </p:spPr>
        </p:sp>
        <p:sp>
          <p:nvSpPr>
            <p:cNvPr id="9" name="Rectangle 9"/>
            <p:cNvSpPr/>
            <p:nvPr/>
          </p:nvSpPr>
          <p:spPr>
            <a:xfrm>
              <a:off x="1428750" y="2190750"/>
              <a:ext cx="3238500" cy="266700"/>
            </a:xfrm>
            <a:prstGeom prst="rect">
              <a:avLst/>
            </a:prstGeom>
            <a:solidFill>
              <a:schemeClr val="accent1">
                <a:alpha val="25000"/>
              </a:schemeClr>
            </a:solidFill>
            <a:ln w="19050">
              <a:solidFill>
                <a:schemeClr val="accent2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1428750" y="5162550"/>
              <a:ext cx="3238500" cy="266700"/>
            </a:xfrm>
            <a:prstGeom prst="rect">
              <a:avLst/>
            </a:prstGeom>
            <a:solidFill>
              <a:schemeClr val="accent1">
                <a:alpha val="25000"/>
              </a:schemeClr>
            </a:solidFill>
            <a:ln w="19050">
              <a:solidFill>
                <a:schemeClr val="accent2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1428750" y="2762250"/>
              <a:ext cx="3238500" cy="152400"/>
            </a:xfrm>
            <a:prstGeom prst="rect">
              <a:avLst/>
            </a:prstGeom>
            <a:noFill/>
            <a:ln w="9525">
              <a:solidFill>
                <a:schemeClr val="accent2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1428750" y="3143250"/>
              <a:ext cx="3238500" cy="152400"/>
            </a:xfrm>
            <a:prstGeom prst="rect">
              <a:avLst/>
            </a:prstGeom>
            <a:noFill/>
            <a:ln w="9525">
              <a:solidFill>
                <a:schemeClr val="accent2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1428750" y="3524250"/>
              <a:ext cx="3238500" cy="152400"/>
            </a:xfrm>
            <a:prstGeom prst="rect">
              <a:avLst/>
            </a:prstGeom>
            <a:noFill/>
            <a:ln w="9525">
              <a:solidFill>
                <a:schemeClr val="accent2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1428750" y="3905250"/>
              <a:ext cx="3238500" cy="152400"/>
            </a:xfrm>
            <a:prstGeom prst="rect">
              <a:avLst/>
            </a:prstGeom>
            <a:noFill/>
            <a:ln w="9525">
              <a:solidFill>
                <a:schemeClr val="accent2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1428750" y="4286250"/>
              <a:ext cx="3238500" cy="152400"/>
            </a:xfrm>
            <a:prstGeom prst="rect">
              <a:avLst/>
            </a:prstGeom>
            <a:noFill/>
            <a:ln w="9525">
              <a:solidFill>
                <a:schemeClr val="accent2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1428750" y="4667250"/>
              <a:ext cx="3238500" cy="152400"/>
            </a:xfrm>
            <a:prstGeom prst="rect">
              <a:avLst/>
            </a:prstGeom>
            <a:noFill/>
            <a:ln w="9525">
              <a:solidFill>
                <a:schemeClr val="accent2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826639" y="3686175"/>
              <a:ext cx="44272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S02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3048000" y="1600200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304800"/>
                  </a:moveTo>
                  <a:lnTo>
                    <a:pt x="0" y="0"/>
                  </a:lnTo>
                </a:path>
              </a:pathLst>
            </a:custGeom>
            <a:noFill/>
            <a:ln w="14288">
              <a:solidFill>
                <a:schemeClr val="accent2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2018614" y="1397318"/>
              <a:ext cx="205877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起停点密度 = 片心 3.4×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26542" y="5950268"/>
              <a:ext cx="2855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虚线环：边缘 5 mm，占事件 41%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467856" y="1721168"/>
            <a:ext cx="4771644" cy="4220527"/>
            <a:chOff x="6467856" y="1721168"/>
            <a:chExt cx="4771644" cy="4220527"/>
          </a:xfrm>
        </p:grpSpPr>
        <p:sp>
          <p:nvSpPr>
            <p:cNvPr id="22" name="TextBox 22"/>
            <p:cNvSpPr txBox="1"/>
            <p:nvPr/>
          </p:nvSpPr>
          <p:spPr>
            <a:xfrm>
              <a:off x="6470142" y="1721168"/>
              <a:ext cx="16692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DISCRIMINATION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6477000" y="2038350"/>
              <a:ext cx="4762500" cy="9525"/>
            </a:xfrm>
            <a:custGeom>
              <a:avLst/>
              <a:gdLst/>
              <a:ahLst/>
              <a:cxnLst/>
              <a:rect l="l" t="t" r="r" b="b"/>
              <a:pathLst>
                <a:path w="4762500" h="9525">
                  <a:moveTo>
                    <a:pt x="0" y="0"/>
                  </a:moveTo>
                  <a:lnTo>
                    <a:pt x="4762500" y="0"/>
                  </a:lnTo>
                </a:path>
              </a:pathLst>
            </a:custGeom>
            <a:noFill/>
            <a:ln w="14288">
              <a:solidFill>
                <a:schemeClr val="accent2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467856" y="2263140"/>
              <a:ext cx="197693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水印 watermark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69380" y="2638425"/>
              <a:ext cx="24180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pitch 不变 · 表面 T-top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469380" y="2962275"/>
              <a:ext cx="218084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本周圆形缺陷中占 79%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467856" y="3539490"/>
              <a:ext cx="138805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气泡 bubble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69380" y="3914775"/>
              <a:ext cx="21381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pitch 放大 · 剂量条纹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69380" y="4238625"/>
              <a:ext cx="20634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本周仅 7%，不是主因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467856" y="4815840"/>
              <a:ext cx="140177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S01 / S03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469380" y="5191125"/>
              <a:ext cx="20421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近随机，边缘仅 1.2×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469380" y="5648325"/>
              <a:ext cx="34290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结论：残液路径，不是来料颗粒暴发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451104" y="6480810"/>
            <a:ext cx="11289792" cy="234696"/>
            <a:chOff x="451104" y="6480810"/>
            <a:chExt cx="11289792" cy="234696"/>
          </a:xfrm>
        </p:grpSpPr>
        <p:sp>
          <p:nvSpPr>
            <p:cNvPr id="34" name="TextBox 34"/>
            <p:cNvSpPr txBox="1"/>
            <p:nvPr/>
          </p:nvSpPr>
          <p:spPr>
            <a:xfrm>
              <a:off x="451104" y="6480810"/>
              <a:ext cx="29138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演示用虚构数据｜不代表真实工厂成绩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137904" y="6480810"/>
              <a:ext cx="26029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DWG NO. DEF-INSP-W33-03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381000" y="0"/>
                </a:moveTo>
                <a:lnTo>
                  <a:pt x="381000" y="6858000"/>
                </a:lnTo>
                <a:moveTo>
                  <a:pt x="762000" y="0"/>
                </a:moveTo>
                <a:lnTo>
                  <a:pt x="762000" y="6858000"/>
                </a:lnTo>
                <a:moveTo>
                  <a:pt x="1143000" y="0"/>
                </a:moveTo>
                <a:lnTo>
                  <a:pt x="1143000" y="6858000"/>
                </a:lnTo>
                <a:moveTo>
                  <a:pt x="1524000" y="0"/>
                </a:moveTo>
                <a:lnTo>
                  <a:pt x="1524000" y="6858000"/>
                </a:lnTo>
                <a:moveTo>
                  <a:pt x="1905000" y="0"/>
                </a:moveTo>
                <a:lnTo>
                  <a:pt x="1905000" y="6858000"/>
                </a:lnTo>
                <a:moveTo>
                  <a:pt x="2286000" y="0"/>
                </a:moveTo>
                <a:lnTo>
                  <a:pt x="2286000" y="6858000"/>
                </a:lnTo>
                <a:moveTo>
                  <a:pt x="2667000" y="0"/>
                </a:moveTo>
                <a:lnTo>
                  <a:pt x="266700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3429000" y="0"/>
                </a:moveTo>
                <a:lnTo>
                  <a:pt x="3429000" y="6858000"/>
                </a:lnTo>
                <a:moveTo>
                  <a:pt x="3810000" y="0"/>
                </a:moveTo>
                <a:lnTo>
                  <a:pt x="3810000" y="6858000"/>
                </a:lnTo>
                <a:moveTo>
                  <a:pt x="4191000" y="0"/>
                </a:moveTo>
                <a:lnTo>
                  <a:pt x="4191000" y="6858000"/>
                </a:lnTo>
                <a:moveTo>
                  <a:pt x="4572000" y="0"/>
                </a:moveTo>
                <a:lnTo>
                  <a:pt x="4572000" y="6858000"/>
                </a:lnTo>
                <a:moveTo>
                  <a:pt x="4953000" y="0"/>
                </a:moveTo>
                <a:lnTo>
                  <a:pt x="4953000" y="6858000"/>
                </a:lnTo>
                <a:moveTo>
                  <a:pt x="5334000" y="0"/>
                </a:moveTo>
                <a:lnTo>
                  <a:pt x="5334000" y="6858000"/>
                </a:lnTo>
                <a:moveTo>
                  <a:pt x="5715000" y="0"/>
                </a:moveTo>
                <a:lnTo>
                  <a:pt x="5715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6477000" y="0"/>
                </a:moveTo>
                <a:lnTo>
                  <a:pt x="6477000" y="6858000"/>
                </a:lnTo>
                <a:moveTo>
                  <a:pt x="6858000" y="0"/>
                </a:moveTo>
                <a:lnTo>
                  <a:pt x="6858000" y="6858000"/>
                </a:lnTo>
                <a:moveTo>
                  <a:pt x="7239000" y="0"/>
                </a:moveTo>
                <a:lnTo>
                  <a:pt x="7239000" y="6858000"/>
                </a:lnTo>
                <a:moveTo>
                  <a:pt x="7620000" y="0"/>
                </a:moveTo>
                <a:lnTo>
                  <a:pt x="7620000" y="6858000"/>
                </a:lnTo>
                <a:moveTo>
                  <a:pt x="8001000" y="0"/>
                </a:moveTo>
                <a:lnTo>
                  <a:pt x="8001000" y="6858000"/>
                </a:lnTo>
                <a:moveTo>
                  <a:pt x="8382000" y="0"/>
                </a:moveTo>
                <a:lnTo>
                  <a:pt x="8382000" y="6858000"/>
                </a:lnTo>
                <a:moveTo>
                  <a:pt x="8763000" y="0"/>
                </a:moveTo>
                <a:lnTo>
                  <a:pt x="8763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9525000" y="0"/>
                </a:moveTo>
                <a:lnTo>
                  <a:pt x="9525000" y="6858000"/>
                </a:lnTo>
                <a:moveTo>
                  <a:pt x="9906000" y="0"/>
                </a:moveTo>
                <a:lnTo>
                  <a:pt x="9906000" y="6858000"/>
                </a:lnTo>
                <a:moveTo>
                  <a:pt x="10287000" y="0"/>
                </a:moveTo>
                <a:lnTo>
                  <a:pt x="10287000" y="6858000"/>
                </a:lnTo>
                <a:moveTo>
                  <a:pt x="10668000" y="0"/>
                </a:moveTo>
                <a:lnTo>
                  <a:pt x="10668000" y="6858000"/>
                </a:lnTo>
                <a:moveTo>
                  <a:pt x="11049000" y="0"/>
                </a:moveTo>
                <a:lnTo>
                  <a:pt x="11049000" y="6858000"/>
                </a:lnTo>
                <a:moveTo>
                  <a:pt x="11430000" y="0"/>
                </a:moveTo>
                <a:lnTo>
                  <a:pt x="11430000" y="6858000"/>
                </a:lnTo>
                <a:moveTo>
                  <a:pt x="11811000" y="0"/>
                </a:moveTo>
                <a:lnTo>
                  <a:pt x="11811000" y="6858000"/>
                </a:lnTo>
                <a:moveTo>
                  <a:pt x="12192000" y="0"/>
                </a:moveTo>
                <a:lnTo>
                  <a:pt x="12192000" y="6858000"/>
                </a:lnTo>
                <a:moveTo>
                  <a:pt x="0" y="381000"/>
                </a:moveTo>
                <a:lnTo>
                  <a:pt x="12192000" y="381000"/>
                </a:lnTo>
                <a:moveTo>
                  <a:pt x="0" y="762000"/>
                </a:moveTo>
                <a:lnTo>
                  <a:pt x="12192000" y="762000"/>
                </a:lnTo>
                <a:moveTo>
                  <a:pt x="0" y="1143000"/>
                </a:moveTo>
                <a:lnTo>
                  <a:pt x="12192000" y="1143000"/>
                </a:lnTo>
                <a:moveTo>
                  <a:pt x="0" y="1524000"/>
                </a:moveTo>
                <a:lnTo>
                  <a:pt x="12192000" y="1524000"/>
                </a:lnTo>
                <a:moveTo>
                  <a:pt x="0" y="1905000"/>
                </a:moveTo>
                <a:lnTo>
                  <a:pt x="12192000" y="1905000"/>
                </a:lnTo>
                <a:moveTo>
                  <a:pt x="0" y="2286000"/>
                </a:moveTo>
                <a:lnTo>
                  <a:pt x="12192000" y="2286000"/>
                </a:lnTo>
                <a:moveTo>
                  <a:pt x="0" y="2667000"/>
                </a:moveTo>
                <a:lnTo>
                  <a:pt x="12192000" y="2667000"/>
                </a:lnTo>
                <a:moveTo>
                  <a:pt x="0" y="3048000"/>
                </a:moveTo>
                <a:lnTo>
                  <a:pt x="12192000" y="30480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3810000"/>
                </a:moveTo>
                <a:lnTo>
                  <a:pt x="12192000" y="3810000"/>
                </a:lnTo>
                <a:moveTo>
                  <a:pt x="0" y="4191000"/>
                </a:moveTo>
                <a:lnTo>
                  <a:pt x="12192000" y="4191000"/>
                </a:lnTo>
                <a:moveTo>
                  <a:pt x="0" y="4572000"/>
                </a:moveTo>
                <a:lnTo>
                  <a:pt x="12192000" y="4572000"/>
                </a:lnTo>
                <a:moveTo>
                  <a:pt x="0" y="4953000"/>
                </a:moveTo>
                <a:lnTo>
                  <a:pt x="12192000" y="4953000"/>
                </a:lnTo>
                <a:moveTo>
                  <a:pt x="0" y="5334000"/>
                </a:moveTo>
                <a:lnTo>
                  <a:pt x="12192000" y="5334000"/>
                </a:lnTo>
                <a:moveTo>
                  <a:pt x="0" y="5715000"/>
                </a:moveTo>
                <a:lnTo>
                  <a:pt x="12192000" y="5715000"/>
                </a:lnTo>
                <a:moveTo>
                  <a:pt x="0" y="6096000"/>
                </a:moveTo>
                <a:lnTo>
                  <a:pt x="12192000" y="6096000"/>
                </a:lnTo>
                <a:moveTo>
                  <a:pt x="0" y="6477000"/>
                </a:moveTo>
                <a:lnTo>
                  <a:pt x="12192000" y="6477000"/>
                </a:lnTo>
                <a:moveTo>
                  <a:pt x="0" y="6858000"/>
                </a:moveTo>
                <a:lnTo>
                  <a:pt x="12192000" y="6858000"/>
                </a:lnTo>
              </a:path>
            </a:pathLst>
          </a:custGeom>
          <a:noFill/>
          <a:ln w="9525">
            <a:solidFill>
              <a:schemeClr val="accent5">
                <a:alpha val="85000"/>
              </a:schemeClr>
            </a:solidFill>
          </a:ln>
        </p:spPr>
      </p:sp>
      <p:grpSp>
        <p:nvGrpSpPr>
          <p:cNvPr id="6" name="Group 6"/>
          <p:cNvGrpSpPr/>
          <p:nvPr/>
        </p:nvGrpSpPr>
        <p:grpSpPr>
          <a:xfrm>
            <a:off x="443484" y="346710"/>
            <a:ext cx="11297412" cy="918591"/>
            <a:chOff x="443484" y="346710"/>
            <a:chExt cx="11297412" cy="918591"/>
          </a:xfrm>
        </p:grpSpPr>
        <p:sp>
          <p:nvSpPr>
            <p:cNvPr id="3" name="TextBox 3"/>
            <p:cNvSpPr txBox="1"/>
            <p:nvPr/>
          </p:nvSpPr>
          <p:spPr>
            <a:xfrm>
              <a:off x="451104" y="346710"/>
              <a:ext cx="42455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DEF-INSP · 2026-W33 · 2026-08-13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43484" y="737235"/>
              <a:ext cx="647943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按杀伤比加权后，水印优先于颗粒柱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920374" y="346710"/>
              <a:ext cx="82052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P04 / 08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02742" y="1530668"/>
            <a:ext cx="6064758" cy="4175188"/>
            <a:chOff x="602742" y="1530668"/>
            <a:chExt cx="6064758" cy="4175188"/>
          </a:xfrm>
        </p:grpSpPr>
        <p:sp>
          <p:nvSpPr>
            <p:cNvPr id="7" name="TextBox 7"/>
            <p:cNvSpPr txBox="1"/>
            <p:nvPr/>
          </p:nvSpPr>
          <p:spPr>
            <a:xfrm>
              <a:off x="602742" y="15306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SEM CLASS n=280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685800" y="5334000"/>
              <a:ext cx="5981700" cy="9525"/>
            </a:xfrm>
            <a:custGeom>
              <a:avLst/>
              <a:gdLst/>
              <a:ahLst/>
              <a:cxnLst/>
              <a:rect l="l" t="t" r="r" b="b"/>
              <a:pathLst>
                <a:path w="5981700" h="9525">
                  <a:moveTo>
                    <a:pt x="0" y="0"/>
                  </a:moveTo>
                  <a:lnTo>
                    <a:pt x="5981700" y="0"/>
                  </a:lnTo>
                </a:path>
              </a:pathLst>
            </a:custGeom>
            <a:noFill/>
            <a:ln w="14288">
              <a:solidFill>
                <a:schemeClr val="accent2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685800" y="2286000"/>
              <a:ext cx="9525" cy="3048000"/>
            </a:xfrm>
            <a:custGeom>
              <a:avLst/>
              <a:gdLst/>
              <a:ahLst/>
              <a:cxnLst/>
              <a:rect l="l" t="t" r="r" b="b"/>
              <a:pathLst>
                <a:path w="9525" h="3048000">
                  <a:moveTo>
                    <a:pt x="0" y="0"/>
                  </a:moveTo>
                  <a:lnTo>
                    <a:pt x="0" y="3048000"/>
                  </a:lnTo>
                </a:path>
              </a:pathLst>
            </a:custGeom>
            <a:noFill/>
            <a:ln w="14288">
              <a:solidFill>
                <a:schemeClr val="accent2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762000" y="2971800"/>
              <a:ext cx="609600" cy="2362200"/>
            </a:xfrm>
            <a:prstGeom prst="rect">
              <a:avLst/>
            </a:pr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2818" y="2766060"/>
              <a:ext cx="3279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31%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90016" y="5471160"/>
              <a:ext cx="3535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颗粒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1581150" y="3200400"/>
              <a:ext cx="609600" cy="2133600"/>
            </a:xfrm>
            <a:prstGeom prst="rect">
              <a:avLst/>
            </a:prstGeom>
            <a:noFill/>
            <a:ln w="19050">
              <a:solidFill>
                <a:srgbClr val="7A0000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721968" y="2994660"/>
              <a:ext cx="3279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7A0000"/>
                  </a:solidFill>
                  <a:latin typeface="+mn-lt"/>
                  <a:ea typeface="+mn-ea"/>
                  <a:cs typeface="+mn-cs"/>
                </a:rPr>
                <a:t>28%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709166" y="5471160"/>
              <a:ext cx="3535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水印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400300" y="4267200"/>
              <a:ext cx="609600" cy="1066800"/>
            </a:xfrm>
            <a:prstGeom prst="rect">
              <a:avLst/>
            </a:pr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541118" y="4061460"/>
              <a:ext cx="3279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14%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528316" y="5471160"/>
              <a:ext cx="3535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微桥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3219450" y="4419600"/>
              <a:ext cx="609600" cy="914400"/>
            </a:xfrm>
            <a:prstGeom prst="rect">
              <a:avLst/>
            </a:prstGeom>
            <a:noFill/>
            <a:ln w="19050">
              <a:solidFill>
                <a:srgbClr val="6B6B6B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360268" y="4213860"/>
              <a:ext cx="3279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12%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347161" y="5471160"/>
              <a:ext cx="35417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SNV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4038600" y="4800600"/>
              <a:ext cx="609600" cy="533400"/>
            </a:xfrm>
            <a:prstGeom prst="rect">
              <a:avLst/>
            </a:pr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226357" y="4594860"/>
              <a:ext cx="2340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7%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166616" y="5471160"/>
              <a:ext cx="3535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气泡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4857750" y="5029200"/>
              <a:ext cx="609600" cy="304800"/>
            </a:xfrm>
            <a:prstGeom prst="rect">
              <a:avLst/>
            </a:pr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045507" y="4823460"/>
              <a:ext cx="2340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4%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900422" y="5471160"/>
              <a:ext cx="5242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反气泡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676900" y="5029200"/>
              <a:ext cx="609600" cy="304800"/>
            </a:xfrm>
            <a:prstGeom prst="rect">
              <a:avLst/>
            </a:pr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864657" y="4823460"/>
              <a:ext cx="2340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4%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804916" y="5471160"/>
              <a:ext cx="3535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其他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1028700" y="4352925"/>
              <a:ext cx="76200" cy="76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1847850" y="3495675"/>
              <a:ext cx="76200" cy="76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2667000" y="3067050"/>
              <a:ext cx="76200" cy="76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4" name="Ellipse 34"/>
            <p:cNvSpPr/>
            <p:nvPr/>
          </p:nvSpPr>
          <p:spPr>
            <a:xfrm>
              <a:off x="3486150" y="2705100"/>
              <a:ext cx="76200" cy="76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4305300" y="2495550"/>
              <a:ext cx="76200" cy="76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5124450" y="2371725"/>
              <a:ext cx="76200" cy="76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5943600" y="2247900"/>
              <a:ext cx="76200" cy="76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8" name="Polyline 38"/>
            <p:cNvSpPr/>
            <p:nvPr/>
          </p:nvSpPr>
          <p:spPr>
            <a:xfrm>
              <a:off x="1066800" y="2286000"/>
              <a:ext cx="4914900" cy="2105025"/>
            </a:xfrm>
            <a:custGeom>
              <a:avLst/>
              <a:gdLst/>
              <a:ahLst/>
              <a:cxnLst/>
              <a:rect l="l" t="t" r="r" b="b"/>
              <a:pathLst>
                <a:path w="4914900" h="2105025">
                  <a:moveTo>
                    <a:pt x="0" y="2105025"/>
                  </a:moveTo>
                  <a:lnTo>
                    <a:pt x="819150" y="1247775"/>
                  </a:lnTo>
                  <a:lnTo>
                    <a:pt x="1638300" y="819150"/>
                  </a:lnTo>
                  <a:lnTo>
                    <a:pt x="2457450" y="457200"/>
                  </a:lnTo>
                  <a:lnTo>
                    <a:pt x="3276600" y="247650"/>
                  </a:lnTo>
                  <a:lnTo>
                    <a:pt x="4095750" y="123825"/>
                  </a:lnTo>
                  <a:lnTo>
                    <a:pt x="4914900" y="0"/>
                  </a:ln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089904" y="2061210"/>
              <a:ext cx="3535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累计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7382256" y="1721168"/>
            <a:ext cx="4047744" cy="4125277"/>
            <a:chOff x="7382256" y="1721168"/>
            <a:chExt cx="4047744" cy="4125277"/>
          </a:xfrm>
        </p:grpSpPr>
        <p:sp>
          <p:nvSpPr>
            <p:cNvPr id="41" name="TextBox 41"/>
            <p:cNvSpPr txBox="1"/>
            <p:nvPr/>
          </p:nvSpPr>
          <p:spPr>
            <a:xfrm>
              <a:off x="7384542" y="1721168"/>
              <a:ext cx="11679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KILL RATIO</a:t>
              </a:r>
            </a:p>
          </p:txBody>
        </p:sp>
        <p:sp>
          <p:nvSpPr>
            <p:cNvPr id="42" name="Line 42"/>
            <p:cNvSpPr/>
            <p:nvPr/>
          </p:nvSpPr>
          <p:spPr>
            <a:xfrm>
              <a:off x="7391400" y="2038350"/>
              <a:ext cx="4038600" cy="9525"/>
            </a:xfrm>
            <a:custGeom>
              <a:avLst/>
              <a:gdLst/>
              <a:ahLst/>
              <a:cxnLst/>
              <a:rect l="l" t="t" r="r" b="b"/>
              <a:pathLst>
                <a:path w="4038600" h="9525">
                  <a:moveTo>
                    <a:pt x="0" y="0"/>
                  </a:moveTo>
                  <a:lnTo>
                    <a:pt x="4038600" y="0"/>
                  </a:lnTo>
                </a:path>
              </a:pathLst>
            </a:custGeom>
            <a:noFill/>
            <a:ln w="14288">
              <a:solidFill>
                <a:schemeClr val="accent2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382256" y="2358390"/>
              <a:ext cx="197693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7A0000"/>
                  </a:solidFill>
                  <a:latin typeface="+mn-lt"/>
                  <a:ea typeface="+mn-ea"/>
                  <a:cs typeface="+mn-cs"/>
                </a:rPr>
                <a:t>水印 0.62 优先 1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7391400" y="2705100"/>
              <a:ext cx="2952750" cy="95250"/>
            </a:xfrm>
            <a:prstGeom prst="rect">
              <a:avLst/>
            </a:prstGeom>
            <a:noFill/>
            <a:ln w="19050">
              <a:solidFill>
                <a:srgbClr val="7A0000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7391400" y="2705100"/>
              <a:ext cx="1828800" cy="95250"/>
            </a:xfrm>
            <a:prstGeom prst="rect">
              <a:avLst/>
            </a:prstGeom>
            <a:solidFill>
              <a:srgbClr val="7A0000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382256" y="3044190"/>
              <a:ext cx="197693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微桥 0.41 优先 2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7391400" y="3390900"/>
              <a:ext cx="2952750" cy="95250"/>
            </a:xfrm>
            <a:prstGeom prst="rect">
              <a:avLst/>
            </a:pr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7391400" y="3390900"/>
              <a:ext cx="1209675" cy="952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382256" y="3729990"/>
              <a:ext cx="197693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气泡 0.35 优先 4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7391400" y="4076700"/>
              <a:ext cx="2952750" cy="95250"/>
            </a:xfrm>
            <a:prstGeom prst="rect">
              <a:avLst/>
            </a:pr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7391400" y="4076700"/>
              <a:ext cx="1028700" cy="952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382256" y="4415790"/>
              <a:ext cx="197693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颗粒 0.18 优先 3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7391400" y="4762500"/>
              <a:ext cx="2952750" cy="95250"/>
            </a:xfrm>
            <a:prstGeom prst="rect">
              <a:avLst/>
            </a:prstGeom>
            <a:noFill/>
            <a:ln w="19050">
              <a:solidFill>
                <a:srgbClr val="6B6B6B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7391400" y="4762500"/>
              <a:ext cx="533400" cy="95250"/>
            </a:xfrm>
            <a:prstGeom prst="rect">
              <a:avLst/>
            </a:prstGeom>
            <a:solidFill>
              <a:srgbClr val="6B6B6B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384542" y="5188268"/>
              <a:ext cx="23687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SNV 12% 不进杀伤排序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383780" y="5553075"/>
              <a:ext cx="23622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不要按颗数最高柱打颗粒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451104" y="6480810"/>
            <a:ext cx="11289792" cy="234696"/>
            <a:chOff x="451104" y="6480810"/>
            <a:chExt cx="11289792" cy="234696"/>
          </a:xfrm>
        </p:grpSpPr>
        <p:sp>
          <p:nvSpPr>
            <p:cNvPr id="58" name="TextBox 58"/>
            <p:cNvSpPr txBox="1"/>
            <p:nvPr/>
          </p:nvSpPr>
          <p:spPr>
            <a:xfrm>
              <a:off x="451104" y="6480810"/>
              <a:ext cx="29138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演示用虚构数据｜不代表真实工厂成绩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137904" y="6480810"/>
              <a:ext cx="26029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DWG NO. DEF-INSP-W33-04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381000" y="0"/>
                </a:moveTo>
                <a:lnTo>
                  <a:pt x="381000" y="6858000"/>
                </a:lnTo>
                <a:moveTo>
                  <a:pt x="762000" y="0"/>
                </a:moveTo>
                <a:lnTo>
                  <a:pt x="762000" y="6858000"/>
                </a:lnTo>
                <a:moveTo>
                  <a:pt x="1143000" y="0"/>
                </a:moveTo>
                <a:lnTo>
                  <a:pt x="1143000" y="6858000"/>
                </a:lnTo>
                <a:moveTo>
                  <a:pt x="1524000" y="0"/>
                </a:moveTo>
                <a:lnTo>
                  <a:pt x="1524000" y="6858000"/>
                </a:lnTo>
                <a:moveTo>
                  <a:pt x="1905000" y="0"/>
                </a:moveTo>
                <a:lnTo>
                  <a:pt x="1905000" y="6858000"/>
                </a:lnTo>
                <a:moveTo>
                  <a:pt x="2286000" y="0"/>
                </a:moveTo>
                <a:lnTo>
                  <a:pt x="2286000" y="6858000"/>
                </a:lnTo>
                <a:moveTo>
                  <a:pt x="2667000" y="0"/>
                </a:moveTo>
                <a:lnTo>
                  <a:pt x="266700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3429000" y="0"/>
                </a:moveTo>
                <a:lnTo>
                  <a:pt x="3429000" y="6858000"/>
                </a:lnTo>
                <a:moveTo>
                  <a:pt x="3810000" y="0"/>
                </a:moveTo>
                <a:lnTo>
                  <a:pt x="3810000" y="6858000"/>
                </a:lnTo>
                <a:moveTo>
                  <a:pt x="4191000" y="0"/>
                </a:moveTo>
                <a:lnTo>
                  <a:pt x="4191000" y="6858000"/>
                </a:lnTo>
                <a:moveTo>
                  <a:pt x="4572000" y="0"/>
                </a:moveTo>
                <a:lnTo>
                  <a:pt x="4572000" y="6858000"/>
                </a:lnTo>
                <a:moveTo>
                  <a:pt x="4953000" y="0"/>
                </a:moveTo>
                <a:lnTo>
                  <a:pt x="4953000" y="6858000"/>
                </a:lnTo>
                <a:moveTo>
                  <a:pt x="5334000" y="0"/>
                </a:moveTo>
                <a:lnTo>
                  <a:pt x="5334000" y="6858000"/>
                </a:lnTo>
                <a:moveTo>
                  <a:pt x="5715000" y="0"/>
                </a:moveTo>
                <a:lnTo>
                  <a:pt x="5715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6477000" y="0"/>
                </a:moveTo>
                <a:lnTo>
                  <a:pt x="6477000" y="6858000"/>
                </a:lnTo>
                <a:moveTo>
                  <a:pt x="6858000" y="0"/>
                </a:moveTo>
                <a:lnTo>
                  <a:pt x="6858000" y="6858000"/>
                </a:lnTo>
                <a:moveTo>
                  <a:pt x="7239000" y="0"/>
                </a:moveTo>
                <a:lnTo>
                  <a:pt x="7239000" y="6858000"/>
                </a:lnTo>
                <a:moveTo>
                  <a:pt x="7620000" y="0"/>
                </a:moveTo>
                <a:lnTo>
                  <a:pt x="7620000" y="6858000"/>
                </a:lnTo>
                <a:moveTo>
                  <a:pt x="8001000" y="0"/>
                </a:moveTo>
                <a:lnTo>
                  <a:pt x="8001000" y="6858000"/>
                </a:lnTo>
                <a:moveTo>
                  <a:pt x="8382000" y="0"/>
                </a:moveTo>
                <a:lnTo>
                  <a:pt x="8382000" y="6858000"/>
                </a:lnTo>
                <a:moveTo>
                  <a:pt x="8763000" y="0"/>
                </a:moveTo>
                <a:lnTo>
                  <a:pt x="8763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9525000" y="0"/>
                </a:moveTo>
                <a:lnTo>
                  <a:pt x="9525000" y="6858000"/>
                </a:lnTo>
                <a:moveTo>
                  <a:pt x="9906000" y="0"/>
                </a:moveTo>
                <a:lnTo>
                  <a:pt x="9906000" y="6858000"/>
                </a:lnTo>
                <a:moveTo>
                  <a:pt x="10287000" y="0"/>
                </a:moveTo>
                <a:lnTo>
                  <a:pt x="10287000" y="6858000"/>
                </a:lnTo>
                <a:moveTo>
                  <a:pt x="10668000" y="0"/>
                </a:moveTo>
                <a:lnTo>
                  <a:pt x="10668000" y="6858000"/>
                </a:lnTo>
                <a:moveTo>
                  <a:pt x="11049000" y="0"/>
                </a:moveTo>
                <a:lnTo>
                  <a:pt x="11049000" y="6858000"/>
                </a:lnTo>
                <a:moveTo>
                  <a:pt x="11430000" y="0"/>
                </a:moveTo>
                <a:lnTo>
                  <a:pt x="11430000" y="6858000"/>
                </a:lnTo>
                <a:moveTo>
                  <a:pt x="11811000" y="0"/>
                </a:moveTo>
                <a:lnTo>
                  <a:pt x="11811000" y="6858000"/>
                </a:lnTo>
                <a:moveTo>
                  <a:pt x="12192000" y="0"/>
                </a:moveTo>
                <a:lnTo>
                  <a:pt x="12192000" y="6858000"/>
                </a:lnTo>
                <a:moveTo>
                  <a:pt x="0" y="381000"/>
                </a:moveTo>
                <a:lnTo>
                  <a:pt x="12192000" y="381000"/>
                </a:lnTo>
                <a:moveTo>
                  <a:pt x="0" y="762000"/>
                </a:moveTo>
                <a:lnTo>
                  <a:pt x="12192000" y="762000"/>
                </a:lnTo>
                <a:moveTo>
                  <a:pt x="0" y="1143000"/>
                </a:moveTo>
                <a:lnTo>
                  <a:pt x="12192000" y="1143000"/>
                </a:lnTo>
                <a:moveTo>
                  <a:pt x="0" y="1524000"/>
                </a:moveTo>
                <a:lnTo>
                  <a:pt x="12192000" y="1524000"/>
                </a:lnTo>
                <a:moveTo>
                  <a:pt x="0" y="1905000"/>
                </a:moveTo>
                <a:lnTo>
                  <a:pt x="12192000" y="1905000"/>
                </a:lnTo>
                <a:moveTo>
                  <a:pt x="0" y="2286000"/>
                </a:moveTo>
                <a:lnTo>
                  <a:pt x="12192000" y="2286000"/>
                </a:lnTo>
                <a:moveTo>
                  <a:pt x="0" y="2667000"/>
                </a:moveTo>
                <a:lnTo>
                  <a:pt x="12192000" y="2667000"/>
                </a:lnTo>
                <a:moveTo>
                  <a:pt x="0" y="3048000"/>
                </a:moveTo>
                <a:lnTo>
                  <a:pt x="12192000" y="30480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3810000"/>
                </a:moveTo>
                <a:lnTo>
                  <a:pt x="12192000" y="3810000"/>
                </a:lnTo>
                <a:moveTo>
                  <a:pt x="0" y="4191000"/>
                </a:moveTo>
                <a:lnTo>
                  <a:pt x="12192000" y="4191000"/>
                </a:lnTo>
                <a:moveTo>
                  <a:pt x="0" y="4572000"/>
                </a:moveTo>
                <a:lnTo>
                  <a:pt x="12192000" y="4572000"/>
                </a:lnTo>
                <a:moveTo>
                  <a:pt x="0" y="4953000"/>
                </a:moveTo>
                <a:lnTo>
                  <a:pt x="12192000" y="4953000"/>
                </a:lnTo>
                <a:moveTo>
                  <a:pt x="0" y="5334000"/>
                </a:moveTo>
                <a:lnTo>
                  <a:pt x="12192000" y="5334000"/>
                </a:lnTo>
                <a:moveTo>
                  <a:pt x="0" y="5715000"/>
                </a:moveTo>
                <a:lnTo>
                  <a:pt x="12192000" y="5715000"/>
                </a:lnTo>
                <a:moveTo>
                  <a:pt x="0" y="6096000"/>
                </a:moveTo>
                <a:lnTo>
                  <a:pt x="12192000" y="6096000"/>
                </a:lnTo>
                <a:moveTo>
                  <a:pt x="0" y="6477000"/>
                </a:moveTo>
                <a:lnTo>
                  <a:pt x="12192000" y="6477000"/>
                </a:lnTo>
                <a:moveTo>
                  <a:pt x="0" y="6858000"/>
                </a:moveTo>
                <a:lnTo>
                  <a:pt x="12192000" y="6858000"/>
                </a:lnTo>
              </a:path>
            </a:pathLst>
          </a:custGeom>
          <a:noFill/>
          <a:ln w="9525">
            <a:solidFill>
              <a:schemeClr val="accent5">
                <a:alpha val="85000"/>
              </a:schemeClr>
            </a:solidFill>
          </a:ln>
        </p:spPr>
      </p:sp>
      <p:grpSp>
        <p:nvGrpSpPr>
          <p:cNvPr id="6" name="Group 6"/>
          <p:cNvGrpSpPr/>
          <p:nvPr/>
        </p:nvGrpSpPr>
        <p:grpSpPr>
          <a:xfrm>
            <a:off x="443484" y="346710"/>
            <a:ext cx="11297412" cy="918591"/>
            <a:chOff x="443484" y="346710"/>
            <a:chExt cx="11297412" cy="918591"/>
          </a:xfrm>
        </p:grpSpPr>
        <p:sp>
          <p:nvSpPr>
            <p:cNvPr id="3" name="TextBox 3"/>
            <p:cNvSpPr txBox="1"/>
            <p:nvPr/>
          </p:nvSpPr>
          <p:spPr>
            <a:xfrm>
              <a:off x="451104" y="346710"/>
              <a:ext cx="42455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DEF-INSP · 2026-W33 · 2026-08-13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43484" y="737235"/>
              <a:ext cx="647353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检测漏斗收敛到 4 个 S02 killer lot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920374" y="346710"/>
              <a:ext cx="82052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P05 / 08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428750" y="1809750"/>
            <a:ext cx="9525000" cy="3242501"/>
            <a:chOff x="1428750" y="1809750"/>
            <a:chExt cx="9525000" cy="3242501"/>
          </a:xfrm>
        </p:grpSpPr>
        <p:sp>
          <p:nvSpPr>
            <p:cNvPr id="7" name="Rectangle 7"/>
            <p:cNvSpPr/>
            <p:nvPr/>
          </p:nvSpPr>
          <p:spPr>
            <a:xfrm>
              <a:off x="1428750" y="1809750"/>
              <a:ext cx="9525000" cy="609600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chemeClr val="accent2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946038" y="1882140"/>
              <a:ext cx="29992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36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733898" y="2159318"/>
              <a:ext cx="7242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送检 lot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6096000" y="2419350"/>
              <a:ext cx="9525" cy="266700"/>
            </a:xfrm>
            <a:custGeom>
              <a:avLst/>
              <a:gdLst/>
              <a:ahLst/>
              <a:cxnLst/>
              <a:rect l="l" t="t" r="r" b="b"/>
              <a:pathLst>
                <a:path w="9525" h="266700">
                  <a:moveTo>
                    <a:pt x="0" y="0"/>
                  </a:moveTo>
                  <a:lnTo>
                    <a:pt x="0" y="266700"/>
                  </a:lnTo>
                </a:path>
              </a:pathLst>
            </a:custGeom>
            <a:noFill/>
            <a:ln w="14288">
              <a:solidFill>
                <a:schemeClr val="accent2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2476500" y="2686050"/>
              <a:ext cx="4895850" cy="609600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chemeClr val="accent2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946038" y="2758440"/>
              <a:ext cx="29992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705094" y="3035618"/>
              <a:ext cx="7818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光学超限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6096000" y="3295650"/>
              <a:ext cx="9525" cy="266700"/>
            </a:xfrm>
            <a:custGeom>
              <a:avLst/>
              <a:gdLst/>
              <a:ahLst/>
              <a:cxnLst/>
              <a:rect l="l" t="t" r="r" b="b"/>
              <a:pathLst>
                <a:path w="9525" h="266700">
                  <a:moveTo>
                    <a:pt x="0" y="0"/>
                  </a:moveTo>
                  <a:lnTo>
                    <a:pt x="0" y="266700"/>
                  </a:lnTo>
                </a:path>
              </a:pathLst>
            </a:custGeom>
            <a:noFill/>
            <a:ln w="14288">
              <a:solidFill>
                <a:schemeClr val="accent2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3143250" y="3562350"/>
              <a:ext cx="4152900" cy="609600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chemeClr val="accent2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016447" y="3634740"/>
              <a:ext cx="15910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605310" y="3911918"/>
              <a:ext cx="9813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SEM 复核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6096000" y="4171950"/>
              <a:ext cx="9525" cy="266700"/>
            </a:xfrm>
            <a:custGeom>
              <a:avLst/>
              <a:gdLst/>
              <a:ahLst/>
              <a:cxnLst/>
              <a:rect l="l" t="t" r="r" b="b"/>
              <a:pathLst>
                <a:path w="9525" h="266700">
                  <a:moveTo>
                    <a:pt x="0" y="0"/>
                  </a:moveTo>
                  <a:lnTo>
                    <a:pt x="0" y="266700"/>
                  </a:lnTo>
                </a:path>
              </a:pathLst>
            </a:custGeom>
            <a:noFill/>
            <a:ln w="14288">
              <a:solidFill>
                <a:schemeClr val="accent2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3810000" y="4438650"/>
              <a:ext cx="3600450" cy="609600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rgbClr val="7A0000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016447" y="4511040"/>
              <a:ext cx="15910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7A0000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681091" y="4788218"/>
              <a:ext cx="8298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killer lot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799100" y="5653088"/>
            <a:ext cx="6945106" cy="599313"/>
            <a:chOff x="799100" y="5653088"/>
            <a:chExt cx="6945106" cy="599313"/>
          </a:xfrm>
        </p:grpSpPr>
        <p:grpSp>
          <p:nvGrpSpPr>
            <p:cNvPr id="26" name="Group 26"/>
            <p:cNvGrpSpPr/>
            <p:nvPr/>
          </p:nvGrpSpPr>
          <p:grpSpPr>
            <a:xfrm>
              <a:off x="799100" y="5653088"/>
              <a:ext cx="192513" cy="200028"/>
              <a:chOff x="799100" y="5653088"/>
              <a:chExt cx="192513" cy="200028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799100" y="5653088"/>
                <a:ext cx="192513" cy="200028"/>
              </a:xfrm>
              <a:custGeom>
                <a:avLst/>
                <a:gdLst/>
                <a:ahLst/>
                <a:cxnLst/>
                <a:rect l="l" t="t" r="r" b="b"/>
                <a:pathLst>
                  <a:path w="192513" h="200028">
                    <a:moveTo>
                      <a:pt x="11651" y="0"/>
                    </a:moveTo>
                    <a:lnTo>
                      <a:pt x="180851" y="0"/>
                    </a:lnTo>
                    <a:cubicBezTo>
                      <a:pt x="184421" y="3"/>
                      <a:pt x="187772" y="1721"/>
                      <a:pt x="189859" y="4617"/>
                    </a:cubicBezTo>
                    <a:cubicBezTo>
                      <a:pt x="191945" y="7514"/>
                      <a:pt x="192513" y="11237"/>
                      <a:pt x="191385" y="14624"/>
                    </a:cubicBezTo>
                    <a:lnTo>
                      <a:pt x="134656" y="184824"/>
                    </a:lnTo>
                    <a:cubicBezTo>
                      <a:pt x="131632" y="193904"/>
                      <a:pt x="123134" y="200028"/>
                      <a:pt x="113564" y="200026"/>
                    </a:cubicBezTo>
                    <a:lnTo>
                      <a:pt x="78937" y="200026"/>
                    </a:lnTo>
                    <a:cubicBezTo>
                      <a:pt x="69367" y="200028"/>
                      <a:pt x="60870" y="193904"/>
                      <a:pt x="57846" y="184824"/>
                    </a:cubicBezTo>
                    <a:lnTo>
                      <a:pt x="1128" y="14624"/>
                    </a:lnTo>
                    <a:cubicBezTo>
                      <a:pt x="0" y="11239"/>
                      <a:pt x="567" y="7518"/>
                      <a:pt x="2651" y="4622"/>
                    </a:cubicBezTo>
                    <a:cubicBezTo>
                      <a:pt x="4735" y="1726"/>
                      <a:pt x="8083" y="6"/>
                      <a:pt x="11651" y="0"/>
                    </a:cubicBezTo>
                  </a:path>
                </a:pathLst>
              </a:custGeom>
              <a:noFill/>
              <a:ln w="22225">
                <a:solidFill>
                  <a:srgbClr val="7A0000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817563" y="5719763"/>
                <a:ext cx="1555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55575" h="9525">
                    <a:moveTo>
                      <a:pt x="0" y="0"/>
                    </a:moveTo>
                    <a:lnTo>
                      <a:pt x="155575" y="0"/>
                    </a:lnTo>
                  </a:path>
                </a:pathLst>
              </a:custGeom>
              <a:noFill/>
              <a:ln w="22225">
                <a:solidFill>
                  <a:srgbClr val="7A0000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839788" y="5786438"/>
                <a:ext cx="1111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9525">
                    <a:moveTo>
                      <a:pt x="0" y="0"/>
                    </a:moveTo>
                    <a:lnTo>
                      <a:pt x="111125" y="0"/>
                    </a:lnTo>
                  </a:path>
                </a:pathLst>
              </a:custGeom>
              <a:noFill/>
              <a:ln w="22225">
                <a:solidFill>
                  <a:srgbClr val="7A0000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1135380" y="5667375"/>
              <a:ext cx="66088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L33-S02-07 · L33-S02-09 · L33-S02-12 · L33-S02-18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136142" y="5988368"/>
              <a:ext cx="54349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同一浸没头周期。动作是关 S02 残液，不是全线停。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451104" y="6480810"/>
            <a:ext cx="11289792" cy="234696"/>
            <a:chOff x="451104" y="6480810"/>
            <a:chExt cx="11289792" cy="234696"/>
          </a:xfrm>
        </p:grpSpPr>
        <p:sp>
          <p:nvSpPr>
            <p:cNvPr id="30" name="TextBox 30"/>
            <p:cNvSpPr txBox="1"/>
            <p:nvPr/>
          </p:nvSpPr>
          <p:spPr>
            <a:xfrm>
              <a:off x="451104" y="6480810"/>
              <a:ext cx="29138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演示用虚构数据｜不代表真实工厂成绩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137904" y="6480810"/>
              <a:ext cx="26029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DWG NO. DEF-INSP-W33-05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381000" y="0"/>
                </a:moveTo>
                <a:lnTo>
                  <a:pt x="381000" y="6858000"/>
                </a:lnTo>
                <a:moveTo>
                  <a:pt x="762000" y="0"/>
                </a:moveTo>
                <a:lnTo>
                  <a:pt x="762000" y="6858000"/>
                </a:lnTo>
                <a:moveTo>
                  <a:pt x="1143000" y="0"/>
                </a:moveTo>
                <a:lnTo>
                  <a:pt x="1143000" y="6858000"/>
                </a:lnTo>
                <a:moveTo>
                  <a:pt x="1524000" y="0"/>
                </a:moveTo>
                <a:lnTo>
                  <a:pt x="1524000" y="6858000"/>
                </a:lnTo>
                <a:moveTo>
                  <a:pt x="1905000" y="0"/>
                </a:moveTo>
                <a:lnTo>
                  <a:pt x="1905000" y="6858000"/>
                </a:lnTo>
                <a:moveTo>
                  <a:pt x="2286000" y="0"/>
                </a:moveTo>
                <a:lnTo>
                  <a:pt x="2286000" y="6858000"/>
                </a:lnTo>
                <a:moveTo>
                  <a:pt x="2667000" y="0"/>
                </a:moveTo>
                <a:lnTo>
                  <a:pt x="266700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3429000" y="0"/>
                </a:moveTo>
                <a:lnTo>
                  <a:pt x="3429000" y="6858000"/>
                </a:lnTo>
                <a:moveTo>
                  <a:pt x="3810000" y="0"/>
                </a:moveTo>
                <a:lnTo>
                  <a:pt x="3810000" y="6858000"/>
                </a:lnTo>
                <a:moveTo>
                  <a:pt x="4191000" y="0"/>
                </a:moveTo>
                <a:lnTo>
                  <a:pt x="4191000" y="6858000"/>
                </a:lnTo>
                <a:moveTo>
                  <a:pt x="4572000" y="0"/>
                </a:moveTo>
                <a:lnTo>
                  <a:pt x="4572000" y="6858000"/>
                </a:lnTo>
                <a:moveTo>
                  <a:pt x="4953000" y="0"/>
                </a:moveTo>
                <a:lnTo>
                  <a:pt x="4953000" y="6858000"/>
                </a:lnTo>
                <a:moveTo>
                  <a:pt x="5334000" y="0"/>
                </a:moveTo>
                <a:lnTo>
                  <a:pt x="5334000" y="6858000"/>
                </a:lnTo>
                <a:moveTo>
                  <a:pt x="5715000" y="0"/>
                </a:moveTo>
                <a:lnTo>
                  <a:pt x="5715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6477000" y="0"/>
                </a:moveTo>
                <a:lnTo>
                  <a:pt x="6477000" y="6858000"/>
                </a:lnTo>
                <a:moveTo>
                  <a:pt x="6858000" y="0"/>
                </a:moveTo>
                <a:lnTo>
                  <a:pt x="6858000" y="6858000"/>
                </a:lnTo>
                <a:moveTo>
                  <a:pt x="7239000" y="0"/>
                </a:moveTo>
                <a:lnTo>
                  <a:pt x="7239000" y="6858000"/>
                </a:lnTo>
                <a:moveTo>
                  <a:pt x="7620000" y="0"/>
                </a:moveTo>
                <a:lnTo>
                  <a:pt x="7620000" y="6858000"/>
                </a:lnTo>
                <a:moveTo>
                  <a:pt x="8001000" y="0"/>
                </a:moveTo>
                <a:lnTo>
                  <a:pt x="8001000" y="6858000"/>
                </a:lnTo>
                <a:moveTo>
                  <a:pt x="8382000" y="0"/>
                </a:moveTo>
                <a:lnTo>
                  <a:pt x="8382000" y="6858000"/>
                </a:lnTo>
                <a:moveTo>
                  <a:pt x="8763000" y="0"/>
                </a:moveTo>
                <a:lnTo>
                  <a:pt x="8763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9525000" y="0"/>
                </a:moveTo>
                <a:lnTo>
                  <a:pt x="9525000" y="6858000"/>
                </a:lnTo>
                <a:moveTo>
                  <a:pt x="9906000" y="0"/>
                </a:moveTo>
                <a:lnTo>
                  <a:pt x="9906000" y="6858000"/>
                </a:lnTo>
                <a:moveTo>
                  <a:pt x="10287000" y="0"/>
                </a:moveTo>
                <a:lnTo>
                  <a:pt x="10287000" y="6858000"/>
                </a:lnTo>
                <a:moveTo>
                  <a:pt x="10668000" y="0"/>
                </a:moveTo>
                <a:lnTo>
                  <a:pt x="10668000" y="6858000"/>
                </a:lnTo>
                <a:moveTo>
                  <a:pt x="11049000" y="0"/>
                </a:moveTo>
                <a:lnTo>
                  <a:pt x="11049000" y="6858000"/>
                </a:lnTo>
                <a:moveTo>
                  <a:pt x="11430000" y="0"/>
                </a:moveTo>
                <a:lnTo>
                  <a:pt x="11430000" y="6858000"/>
                </a:lnTo>
                <a:moveTo>
                  <a:pt x="11811000" y="0"/>
                </a:moveTo>
                <a:lnTo>
                  <a:pt x="11811000" y="6858000"/>
                </a:lnTo>
                <a:moveTo>
                  <a:pt x="12192000" y="0"/>
                </a:moveTo>
                <a:lnTo>
                  <a:pt x="12192000" y="6858000"/>
                </a:lnTo>
                <a:moveTo>
                  <a:pt x="0" y="381000"/>
                </a:moveTo>
                <a:lnTo>
                  <a:pt x="12192000" y="381000"/>
                </a:lnTo>
                <a:moveTo>
                  <a:pt x="0" y="762000"/>
                </a:moveTo>
                <a:lnTo>
                  <a:pt x="12192000" y="762000"/>
                </a:lnTo>
                <a:moveTo>
                  <a:pt x="0" y="1143000"/>
                </a:moveTo>
                <a:lnTo>
                  <a:pt x="12192000" y="1143000"/>
                </a:lnTo>
                <a:moveTo>
                  <a:pt x="0" y="1524000"/>
                </a:moveTo>
                <a:lnTo>
                  <a:pt x="12192000" y="1524000"/>
                </a:lnTo>
                <a:moveTo>
                  <a:pt x="0" y="1905000"/>
                </a:moveTo>
                <a:lnTo>
                  <a:pt x="12192000" y="1905000"/>
                </a:lnTo>
                <a:moveTo>
                  <a:pt x="0" y="2286000"/>
                </a:moveTo>
                <a:lnTo>
                  <a:pt x="12192000" y="2286000"/>
                </a:lnTo>
                <a:moveTo>
                  <a:pt x="0" y="2667000"/>
                </a:moveTo>
                <a:lnTo>
                  <a:pt x="12192000" y="2667000"/>
                </a:lnTo>
                <a:moveTo>
                  <a:pt x="0" y="3048000"/>
                </a:moveTo>
                <a:lnTo>
                  <a:pt x="12192000" y="30480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3810000"/>
                </a:moveTo>
                <a:lnTo>
                  <a:pt x="12192000" y="3810000"/>
                </a:lnTo>
                <a:moveTo>
                  <a:pt x="0" y="4191000"/>
                </a:moveTo>
                <a:lnTo>
                  <a:pt x="12192000" y="4191000"/>
                </a:lnTo>
                <a:moveTo>
                  <a:pt x="0" y="4572000"/>
                </a:moveTo>
                <a:lnTo>
                  <a:pt x="12192000" y="4572000"/>
                </a:lnTo>
                <a:moveTo>
                  <a:pt x="0" y="4953000"/>
                </a:moveTo>
                <a:lnTo>
                  <a:pt x="12192000" y="4953000"/>
                </a:lnTo>
                <a:moveTo>
                  <a:pt x="0" y="5334000"/>
                </a:moveTo>
                <a:lnTo>
                  <a:pt x="12192000" y="5334000"/>
                </a:lnTo>
                <a:moveTo>
                  <a:pt x="0" y="5715000"/>
                </a:moveTo>
                <a:lnTo>
                  <a:pt x="12192000" y="5715000"/>
                </a:lnTo>
                <a:moveTo>
                  <a:pt x="0" y="6096000"/>
                </a:moveTo>
                <a:lnTo>
                  <a:pt x="12192000" y="6096000"/>
                </a:lnTo>
                <a:moveTo>
                  <a:pt x="0" y="6477000"/>
                </a:moveTo>
                <a:lnTo>
                  <a:pt x="12192000" y="6477000"/>
                </a:lnTo>
                <a:moveTo>
                  <a:pt x="0" y="6858000"/>
                </a:moveTo>
                <a:lnTo>
                  <a:pt x="12192000" y="6858000"/>
                </a:lnTo>
              </a:path>
            </a:pathLst>
          </a:custGeom>
          <a:noFill/>
          <a:ln w="9525">
            <a:solidFill>
              <a:schemeClr val="accent5">
                <a:alpha val="85000"/>
              </a:schemeClr>
            </a:solidFill>
          </a:ln>
        </p:spPr>
      </p:sp>
      <p:grpSp>
        <p:nvGrpSpPr>
          <p:cNvPr id="6" name="Group 6"/>
          <p:cNvGrpSpPr/>
          <p:nvPr/>
        </p:nvGrpSpPr>
        <p:grpSpPr>
          <a:xfrm>
            <a:off x="443484" y="346710"/>
            <a:ext cx="11297412" cy="918591"/>
            <a:chOff x="443484" y="346710"/>
            <a:chExt cx="11297412" cy="918591"/>
          </a:xfrm>
        </p:grpSpPr>
        <p:sp>
          <p:nvSpPr>
            <p:cNvPr id="3" name="TextBox 3"/>
            <p:cNvSpPr txBox="1"/>
            <p:nvPr/>
          </p:nvSpPr>
          <p:spPr>
            <a:xfrm>
              <a:off x="451104" y="346710"/>
              <a:ext cx="42455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DEF-INSP · 2026-W33 · 2026-08-13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43484" y="737235"/>
              <a:ext cx="707855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只有 S02 的 D0 与 PWP 同时漂移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920374" y="346710"/>
              <a:ext cx="82052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P06 / 08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78942" y="1606868"/>
            <a:ext cx="6179058" cy="4365688"/>
            <a:chOff x="678942" y="1606868"/>
            <a:chExt cx="6179058" cy="4365688"/>
          </a:xfrm>
        </p:grpSpPr>
        <p:sp>
          <p:nvSpPr>
            <p:cNvPr id="7" name="TextBox 7"/>
            <p:cNvSpPr txBox="1"/>
            <p:nvPr/>
          </p:nvSpPr>
          <p:spPr>
            <a:xfrm>
              <a:off x="678942" y="1606868"/>
              <a:ext cx="24085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D0 /cm² vs PWP #/wafer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762000" y="5143500"/>
              <a:ext cx="6096000" cy="9525"/>
            </a:xfrm>
            <a:custGeom>
              <a:avLst/>
              <a:gdLst/>
              <a:ahLst/>
              <a:cxnLst/>
              <a:rect l="l" t="t" r="r" b="b"/>
              <a:pathLst>
                <a:path w="6096000" h="9525">
                  <a:moveTo>
                    <a:pt x="0" y="0"/>
                  </a:moveTo>
                  <a:lnTo>
                    <a:pt x="6096000" y="0"/>
                  </a:lnTo>
                </a:path>
              </a:pathLst>
            </a:custGeom>
            <a:noFill/>
            <a:ln w="14288">
              <a:solidFill>
                <a:schemeClr val="accent2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1143000" y="4552950"/>
              <a:ext cx="457200" cy="590550"/>
            </a:xfrm>
            <a:prstGeom prst="rect">
              <a:avLst/>
            </a:pr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1752600" y="4324350"/>
              <a:ext cx="457200" cy="819150"/>
            </a:xfrm>
            <a:prstGeom prst="rect">
              <a:avLst/>
            </a:pr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177747" y="4347210"/>
              <a:ext cx="3877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0.17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928165" y="4118610"/>
              <a:ext cx="1060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455039" y="5286375"/>
              <a:ext cx="44272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S01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3048000" y="2667000"/>
              <a:ext cx="457200" cy="2476500"/>
            </a:xfrm>
            <a:prstGeom prst="rect">
              <a:avLst/>
            </a:prstGeom>
            <a:noFill/>
            <a:ln w="19050">
              <a:solidFill>
                <a:srgbClr val="7A0000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3657600" y="2667000"/>
              <a:ext cx="457200" cy="2476500"/>
            </a:xfrm>
            <a:prstGeom prst="rect">
              <a:avLst/>
            </a:pr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082747" y="2461260"/>
              <a:ext cx="3877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7A0000"/>
                  </a:solidFill>
                  <a:latin typeface="+mn-lt"/>
                  <a:ea typeface="+mn-ea"/>
                  <a:cs typeface="+mn-cs"/>
                </a:rPr>
                <a:t>0.71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786226" y="2461260"/>
              <a:ext cx="1999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360039" y="5286375"/>
              <a:ext cx="44272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S02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4953000" y="4486275"/>
              <a:ext cx="457200" cy="657225"/>
            </a:xfrm>
            <a:prstGeom prst="rect">
              <a:avLst/>
            </a:pr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5562600" y="4143375"/>
              <a:ext cx="457200" cy="1000125"/>
            </a:xfrm>
            <a:prstGeom prst="rect">
              <a:avLst/>
            </a:pr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987747" y="4280535"/>
              <a:ext cx="3877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0.19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691226" y="3937635"/>
              <a:ext cx="1999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265039" y="5286375"/>
              <a:ext cx="44272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S03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762000" y="5715000"/>
              <a:ext cx="171450" cy="171450"/>
            </a:xfrm>
            <a:prstGeom prst="rect">
              <a:avLst/>
            </a:pr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022604" y="5737860"/>
              <a:ext cx="24018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D0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1600200" y="5715000"/>
              <a:ext cx="171450" cy="171450"/>
            </a:xfrm>
            <a:prstGeom prst="rect">
              <a:avLst/>
            </a:pr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860804" y="5737860"/>
              <a:ext cx="3956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PWP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7758684" y="1824990"/>
            <a:ext cx="3480816" cy="3640455"/>
            <a:chOff x="7758684" y="1824990"/>
            <a:chExt cx="3480816" cy="3640455"/>
          </a:xfrm>
        </p:grpSpPr>
        <p:grpSp>
          <p:nvGrpSpPr>
            <p:cNvPr id="31" name="Group 31"/>
            <p:cNvGrpSpPr/>
            <p:nvPr/>
          </p:nvGrpSpPr>
          <p:grpSpPr>
            <a:xfrm>
              <a:off x="7823200" y="1841500"/>
              <a:ext cx="203200" cy="203200"/>
              <a:chOff x="7823200" y="1841500"/>
              <a:chExt cx="203200" cy="20320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7874000" y="1841500"/>
                <a:ext cx="1524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52400">
                    <a:moveTo>
                      <a:pt x="0" y="25400"/>
                    </a:moveTo>
                    <a:cubicBezTo>
                      <a:pt x="0" y="11372"/>
                      <a:pt x="11372" y="0"/>
                      <a:pt x="25400" y="0"/>
                    </a:cubicBezTo>
                    <a:lnTo>
                      <a:pt x="127000" y="0"/>
                    </a:lnTo>
                    <a:cubicBezTo>
                      <a:pt x="141028" y="0"/>
                      <a:pt x="152400" y="11372"/>
                      <a:pt x="152400" y="25400"/>
                    </a:cubicBezTo>
                    <a:lnTo>
                      <a:pt x="152400" y="127000"/>
                    </a:lnTo>
                    <a:cubicBezTo>
                      <a:pt x="152400" y="141028"/>
                      <a:pt x="141028" y="152400"/>
                      <a:pt x="127000" y="152400"/>
                    </a:cubicBezTo>
                    <a:lnTo>
                      <a:pt x="25400" y="152400"/>
                    </a:lnTo>
                    <a:cubicBezTo>
                      <a:pt x="11372" y="152400"/>
                      <a:pt x="0" y="141028"/>
                      <a:pt x="0" y="127000"/>
                    </a:cubicBezTo>
                    <a:lnTo>
                      <a:pt x="0" y="254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7823200" y="1892300"/>
                <a:ext cx="1524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52400">
                    <a:moveTo>
                      <a:pt x="0" y="25400"/>
                    </a:moveTo>
                    <a:cubicBezTo>
                      <a:pt x="0" y="11372"/>
                      <a:pt x="11372" y="0"/>
                      <a:pt x="25400" y="0"/>
                    </a:cubicBezTo>
                    <a:lnTo>
                      <a:pt x="127000" y="0"/>
                    </a:lnTo>
                    <a:cubicBezTo>
                      <a:pt x="141028" y="0"/>
                      <a:pt x="152400" y="11372"/>
                      <a:pt x="152400" y="25400"/>
                    </a:cubicBezTo>
                    <a:lnTo>
                      <a:pt x="152400" y="127000"/>
                    </a:lnTo>
                    <a:cubicBezTo>
                      <a:pt x="152400" y="141028"/>
                      <a:pt x="141028" y="152400"/>
                      <a:pt x="127000" y="152400"/>
                    </a:cubicBezTo>
                    <a:lnTo>
                      <a:pt x="25400" y="152400"/>
                    </a:lnTo>
                    <a:cubicBezTo>
                      <a:pt x="11372" y="152400"/>
                      <a:pt x="0" y="141028"/>
                      <a:pt x="0" y="127000"/>
                    </a:cubicBezTo>
                    <a:lnTo>
                      <a:pt x="0" y="254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8182356" y="1824990"/>
              <a:ext cx="131125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当层 adder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758684" y="2375535"/>
              <a:ext cx="1136371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+0.24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764780" y="2886075"/>
              <a:ext cx="13167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/cm² vs 前层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7772400" y="3352800"/>
              <a:ext cx="3467100" cy="9525"/>
            </a:xfrm>
            <a:custGeom>
              <a:avLst/>
              <a:gdLst/>
              <a:ahLst/>
              <a:cxnLst/>
              <a:rect l="l" t="t" r="r" b="b"/>
              <a:pathLst>
                <a:path w="3467100" h="9525">
                  <a:moveTo>
                    <a:pt x="0" y="0"/>
                  </a:moveTo>
                  <a:lnTo>
                    <a:pt x="3467100" y="0"/>
                  </a:lnTo>
                </a:path>
              </a:pathLst>
            </a:custGeom>
            <a:noFill/>
            <a:ln w="14288">
              <a:solidFill>
                <a:schemeClr val="accent2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763256" y="3615690"/>
              <a:ext cx="23344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S01 0.17 基线内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763256" y="4072890"/>
              <a:ext cx="202356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7A0000"/>
                  </a:solidFill>
                  <a:latin typeface="+mn-lt"/>
                  <a:ea typeface="+mn-ea"/>
                  <a:cs typeface="+mn-cs"/>
                </a:rPr>
                <a:t>S02 0.71 超限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763256" y="4530090"/>
              <a:ext cx="23344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S03 0.19 基线内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764780" y="5172075"/>
              <a:ext cx="33703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动作收到 S02，不是全浸没线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451104" y="6480810"/>
            <a:ext cx="11289792" cy="234696"/>
            <a:chOff x="451104" y="6480810"/>
            <a:chExt cx="11289792" cy="234696"/>
          </a:xfrm>
        </p:grpSpPr>
        <p:sp>
          <p:nvSpPr>
            <p:cNvPr id="41" name="TextBox 41"/>
            <p:cNvSpPr txBox="1"/>
            <p:nvPr/>
          </p:nvSpPr>
          <p:spPr>
            <a:xfrm>
              <a:off x="451104" y="6480810"/>
              <a:ext cx="29138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演示用虚构数据｜不代表真实工厂成绩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137904" y="6480810"/>
              <a:ext cx="26029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DWG NO. DEF-INSP-W33-06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381000" y="0"/>
                </a:moveTo>
                <a:lnTo>
                  <a:pt x="381000" y="6858000"/>
                </a:lnTo>
                <a:moveTo>
                  <a:pt x="762000" y="0"/>
                </a:moveTo>
                <a:lnTo>
                  <a:pt x="762000" y="6858000"/>
                </a:lnTo>
                <a:moveTo>
                  <a:pt x="1143000" y="0"/>
                </a:moveTo>
                <a:lnTo>
                  <a:pt x="1143000" y="6858000"/>
                </a:lnTo>
                <a:moveTo>
                  <a:pt x="1524000" y="0"/>
                </a:moveTo>
                <a:lnTo>
                  <a:pt x="1524000" y="6858000"/>
                </a:lnTo>
                <a:moveTo>
                  <a:pt x="1905000" y="0"/>
                </a:moveTo>
                <a:lnTo>
                  <a:pt x="1905000" y="6858000"/>
                </a:lnTo>
                <a:moveTo>
                  <a:pt x="2286000" y="0"/>
                </a:moveTo>
                <a:lnTo>
                  <a:pt x="2286000" y="6858000"/>
                </a:lnTo>
                <a:moveTo>
                  <a:pt x="2667000" y="0"/>
                </a:moveTo>
                <a:lnTo>
                  <a:pt x="266700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3429000" y="0"/>
                </a:moveTo>
                <a:lnTo>
                  <a:pt x="3429000" y="6858000"/>
                </a:lnTo>
                <a:moveTo>
                  <a:pt x="3810000" y="0"/>
                </a:moveTo>
                <a:lnTo>
                  <a:pt x="3810000" y="6858000"/>
                </a:lnTo>
                <a:moveTo>
                  <a:pt x="4191000" y="0"/>
                </a:moveTo>
                <a:lnTo>
                  <a:pt x="4191000" y="6858000"/>
                </a:lnTo>
                <a:moveTo>
                  <a:pt x="4572000" y="0"/>
                </a:moveTo>
                <a:lnTo>
                  <a:pt x="4572000" y="6858000"/>
                </a:lnTo>
                <a:moveTo>
                  <a:pt x="4953000" y="0"/>
                </a:moveTo>
                <a:lnTo>
                  <a:pt x="4953000" y="6858000"/>
                </a:lnTo>
                <a:moveTo>
                  <a:pt x="5334000" y="0"/>
                </a:moveTo>
                <a:lnTo>
                  <a:pt x="5334000" y="6858000"/>
                </a:lnTo>
                <a:moveTo>
                  <a:pt x="5715000" y="0"/>
                </a:moveTo>
                <a:lnTo>
                  <a:pt x="5715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6477000" y="0"/>
                </a:moveTo>
                <a:lnTo>
                  <a:pt x="6477000" y="6858000"/>
                </a:lnTo>
                <a:moveTo>
                  <a:pt x="6858000" y="0"/>
                </a:moveTo>
                <a:lnTo>
                  <a:pt x="6858000" y="6858000"/>
                </a:lnTo>
                <a:moveTo>
                  <a:pt x="7239000" y="0"/>
                </a:moveTo>
                <a:lnTo>
                  <a:pt x="7239000" y="6858000"/>
                </a:lnTo>
                <a:moveTo>
                  <a:pt x="7620000" y="0"/>
                </a:moveTo>
                <a:lnTo>
                  <a:pt x="7620000" y="6858000"/>
                </a:lnTo>
                <a:moveTo>
                  <a:pt x="8001000" y="0"/>
                </a:moveTo>
                <a:lnTo>
                  <a:pt x="8001000" y="6858000"/>
                </a:lnTo>
                <a:moveTo>
                  <a:pt x="8382000" y="0"/>
                </a:moveTo>
                <a:lnTo>
                  <a:pt x="8382000" y="6858000"/>
                </a:lnTo>
                <a:moveTo>
                  <a:pt x="8763000" y="0"/>
                </a:moveTo>
                <a:lnTo>
                  <a:pt x="8763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9525000" y="0"/>
                </a:moveTo>
                <a:lnTo>
                  <a:pt x="9525000" y="6858000"/>
                </a:lnTo>
                <a:moveTo>
                  <a:pt x="9906000" y="0"/>
                </a:moveTo>
                <a:lnTo>
                  <a:pt x="9906000" y="6858000"/>
                </a:lnTo>
                <a:moveTo>
                  <a:pt x="10287000" y="0"/>
                </a:moveTo>
                <a:lnTo>
                  <a:pt x="10287000" y="6858000"/>
                </a:lnTo>
                <a:moveTo>
                  <a:pt x="10668000" y="0"/>
                </a:moveTo>
                <a:lnTo>
                  <a:pt x="10668000" y="6858000"/>
                </a:lnTo>
                <a:moveTo>
                  <a:pt x="11049000" y="0"/>
                </a:moveTo>
                <a:lnTo>
                  <a:pt x="11049000" y="6858000"/>
                </a:lnTo>
                <a:moveTo>
                  <a:pt x="11430000" y="0"/>
                </a:moveTo>
                <a:lnTo>
                  <a:pt x="11430000" y="6858000"/>
                </a:lnTo>
                <a:moveTo>
                  <a:pt x="11811000" y="0"/>
                </a:moveTo>
                <a:lnTo>
                  <a:pt x="11811000" y="6858000"/>
                </a:lnTo>
                <a:moveTo>
                  <a:pt x="12192000" y="0"/>
                </a:moveTo>
                <a:lnTo>
                  <a:pt x="12192000" y="6858000"/>
                </a:lnTo>
                <a:moveTo>
                  <a:pt x="0" y="381000"/>
                </a:moveTo>
                <a:lnTo>
                  <a:pt x="12192000" y="381000"/>
                </a:lnTo>
                <a:moveTo>
                  <a:pt x="0" y="762000"/>
                </a:moveTo>
                <a:lnTo>
                  <a:pt x="12192000" y="762000"/>
                </a:lnTo>
                <a:moveTo>
                  <a:pt x="0" y="1143000"/>
                </a:moveTo>
                <a:lnTo>
                  <a:pt x="12192000" y="1143000"/>
                </a:lnTo>
                <a:moveTo>
                  <a:pt x="0" y="1524000"/>
                </a:moveTo>
                <a:lnTo>
                  <a:pt x="12192000" y="1524000"/>
                </a:lnTo>
                <a:moveTo>
                  <a:pt x="0" y="1905000"/>
                </a:moveTo>
                <a:lnTo>
                  <a:pt x="12192000" y="1905000"/>
                </a:lnTo>
                <a:moveTo>
                  <a:pt x="0" y="2286000"/>
                </a:moveTo>
                <a:lnTo>
                  <a:pt x="12192000" y="2286000"/>
                </a:lnTo>
                <a:moveTo>
                  <a:pt x="0" y="2667000"/>
                </a:moveTo>
                <a:lnTo>
                  <a:pt x="12192000" y="2667000"/>
                </a:lnTo>
                <a:moveTo>
                  <a:pt x="0" y="3048000"/>
                </a:moveTo>
                <a:lnTo>
                  <a:pt x="12192000" y="30480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3810000"/>
                </a:moveTo>
                <a:lnTo>
                  <a:pt x="12192000" y="3810000"/>
                </a:lnTo>
                <a:moveTo>
                  <a:pt x="0" y="4191000"/>
                </a:moveTo>
                <a:lnTo>
                  <a:pt x="12192000" y="4191000"/>
                </a:lnTo>
                <a:moveTo>
                  <a:pt x="0" y="4572000"/>
                </a:moveTo>
                <a:lnTo>
                  <a:pt x="12192000" y="4572000"/>
                </a:lnTo>
                <a:moveTo>
                  <a:pt x="0" y="4953000"/>
                </a:moveTo>
                <a:lnTo>
                  <a:pt x="12192000" y="4953000"/>
                </a:lnTo>
                <a:moveTo>
                  <a:pt x="0" y="5334000"/>
                </a:moveTo>
                <a:lnTo>
                  <a:pt x="12192000" y="5334000"/>
                </a:lnTo>
                <a:moveTo>
                  <a:pt x="0" y="5715000"/>
                </a:moveTo>
                <a:lnTo>
                  <a:pt x="12192000" y="5715000"/>
                </a:lnTo>
                <a:moveTo>
                  <a:pt x="0" y="6096000"/>
                </a:moveTo>
                <a:lnTo>
                  <a:pt x="12192000" y="6096000"/>
                </a:lnTo>
                <a:moveTo>
                  <a:pt x="0" y="6477000"/>
                </a:moveTo>
                <a:lnTo>
                  <a:pt x="12192000" y="6477000"/>
                </a:lnTo>
                <a:moveTo>
                  <a:pt x="0" y="6858000"/>
                </a:moveTo>
                <a:lnTo>
                  <a:pt x="12192000" y="6858000"/>
                </a:lnTo>
              </a:path>
            </a:pathLst>
          </a:custGeom>
          <a:noFill/>
          <a:ln w="9525">
            <a:solidFill>
              <a:schemeClr val="accent5">
                <a:alpha val="85000"/>
              </a:schemeClr>
            </a:solidFill>
          </a:ln>
        </p:spPr>
      </p:sp>
      <p:grpSp>
        <p:nvGrpSpPr>
          <p:cNvPr id="6" name="Group 6"/>
          <p:cNvGrpSpPr/>
          <p:nvPr/>
        </p:nvGrpSpPr>
        <p:grpSpPr>
          <a:xfrm>
            <a:off x="443484" y="346710"/>
            <a:ext cx="11297412" cy="918591"/>
            <a:chOff x="443484" y="346710"/>
            <a:chExt cx="11297412" cy="918591"/>
          </a:xfrm>
        </p:grpSpPr>
        <p:sp>
          <p:nvSpPr>
            <p:cNvPr id="3" name="TextBox 3"/>
            <p:cNvSpPr txBox="1"/>
            <p:nvPr/>
          </p:nvSpPr>
          <p:spPr>
            <a:xfrm>
              <a:off x="451104" y="346710"/>
              <a:ext cx="42455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DEF-INSP · 2026-W33 · 2026-08-13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43484" y="737235"/>
              <a:ext cx="7588377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总数上升被 nuisance 放大，不要先收阈值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920374" y="346710"/>
              <a:ext cx="82052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P07 / 08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76656" y="1710690"/>
            <a:ext cx="10424770" cy="3590544"/>
            <a:chOff x="676656" y="1710690"/>
            <a:chExt cx="10424770" cy="3590544"/>
          </a:xfrm>
        </p:grpSpPr>
        <p:grpSp>
          <p:nvGrpSpPr>
            <p:cNvPr id="11" name="Group 11"/>
            <p:cNvGrpSpPr/>
            <p:nvPr/>
          </p:nvGrpSpPr>
          <p:grpSpPr>
            <a:xfrm>
              <a:off x="676656" y="1710690"/>
              <a:ext cx="9659417" cy="630555"/>
              <a:chOff x="676656" y="1710690"/>
              <a:chExt cx="9659417" cy="630555"/>
            </a:xfrm>
          </p:grpSpPr>
          <p:sp>
            <p:nvSpPr>
              <p:cNvPr id="7" name="TextBox 7"/>
              <p:cNvSpPr txBox="1"/>
              <p:nvPr/>
            </p:nvSpPr>
            <p:spPr>
              <a:xfrm>
                <a:off x="676656" y="1710690"/>
                <a:ext cx="167576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Capture rate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678180" y="2047875"/>
                <a:ext cx="1359408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91% 基线 93%</a:t>
                </a:r>
              </a:p>
            </p:txBody>
          </p:sp>
          <p:sp>
            <p:nvSpPr>
              <p:cNvPr id="9" name="Rectangle 9"/>
              <p:cNvSpPr/>
              <p:nvPr/>
            </p:nvSpPr>
            <p:spPr>
              <a:xfrm>
                <a:off x="4953000" y="1733550"/>
                <a:ext cx="3810000" cy="133350"/>
              </a:xfrm>
              <a:prstGeom prst="rect">
                <a:avLst/>
              </a:prstGeom>
              <a:noFill/>
              <a:ln w="14288">
                <a:solidFill>
                  <a:schemeClr val="accent2"/>
                </a:solidFill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8946642" y="1759268"/>
                <a:ext cx="138943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DOI 捕获稳定</a:t>
                </a:r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676656" y="2853690"/>
              <a:ext cx="9311030" cy="630555"/>
              <a:chOff x="676656" y="2853690"/>
              <a:chExt cx="9311030" cy="630555"/>
            </a:xfrm>
          </p:grpSpPr>
          <p:sp>
            <p:nvSpPr>
              <p:cNvPr id="12" name="TextBox 12"/>
              <p:cNvSpPr txBox="1"/>
              <p:nvPr/>
            </p:nvSpPr>
            <p:spPr>
              <a:xfrm>
                <a:off x="676656" y="2853690"/>
                <a:ext cx="110928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Nuisance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678180" y="3190875"/>
                <a:ext cx="124206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18% 基线 9%</a:t>
                </a:r>
              </a:p>
            </p:txBody>
          </p:sp>
          <p:sp>
            <p:nvSpPr>
              <p:cNvPr id="14" name="Rectangle 14"/>
              <p:cNvSpPr/>
              <p:nvPr/>
            </p:nvSpPr>
            <p:spPr>
              <a:xfrm>
                <a:off x="4953000" y="2876550"/>
                <a:ext cx="3810000" cy="133350"/>
              </a:xfrm>
              <a:prstGeom prst="rect">
                <a:avLst/>
              </a:prstGeom>
              <a:noFill/>
              <a:ln w="14288">
                <a:solidFill>
                  <a:schemeClr val="accent2"/>
                </a:solidFill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8946642" y="2902268"/>
                <a:ext cx="104104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recipe 偏热</a:t>
                </a: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676656" y="3996690"/>
              <a:ext cx="10424770" cy="630555"/>
              <a:chOff x="676656" y="3996690"/>
              <a:chExt cx="10424770" cy="630555"/>
            </a:xfrm>
          </p:grpSpPr>
          <p:sp>
            <p:nvSpPr>
              <p:cNvPr id="17" name="TextBox 17"/>
              <p:cNvSpPr txBox="1"/>
              <p:nvPr/>
            </p:nvSpPr>
            <p:spPr>
              <a:xfrm>
                <a:off x="676656" y="3996690"/>
                <a:ext cx="53126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SNV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678180" y="4333875"/>
                <a:ext cx="1359408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22% 基线 11%</a:t>
                </a:r>
              </a:p>
            </p:txBody>
          </p:sp>
          <p:sp>
            <p:nvSpPr>
              <p:cNvPr id="19" name="Rectangle 19"/>
              <p:cNvSpPr/>
              <p:nvPr/>
            </p:nvSpPr>
            <p:spPr>
              <a:xfrm>
                <a:off x="4953000" y="4019550"/>
                <a:ext cx="3810000" cy="133350"/>
              </a:xfrm>
              <a:prstGeom prst="rect">
                <a:avLst/>
              </a:prstGeom>
              <a:noFill/>
              <a:ln w="14288">
                <a:solidFill>
                  <a:schemeClr val="accent2"/>
                </a:solidFill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8946642" y="4045268"/>
                <a:ext cx="215478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前层 + 视场，不全是假点</a:t>
                </a:r>
              </a:p>
            </p:txBody>
          </p:sp>
        </p:grpSp>
        <p:sp>
          <p:nvSpPr>
            <p:cNvPr id="22" name="TextBox 22"/>
            <p:cNvSpPr txBox="1"/>
            <p:nvPr/>
          </p:nvSpPr>
          <p:spPr>
            <a:xfrm>
              <a:off x="676656" y="4949190"/>
              <a:ext cx="477097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False 0.8% （基线 0.6%，仍低于 1%）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533400" y="5410200"/>
            <a:ext cx="11125200" cy="685800"/>
            <a:chOff x="533400" y="5410200"/>
            <a:chExt cx="11125200" cy="685800"/>
          </a:xfrm>
        </p:grpSpPr>
        <p:sp>
          <p:nvSpPr>
            <p:cNvPr id="24" name="Rectangle 24"/>
            <p:cNvSpPr/>
            <p:nvPr/>
          </p:nvSpPr>
          <p:spPr>
            <a:xfrm>
              <a:off x="533400" y="5410200"/>
              <a:ext cx="11125200" cy="685800"/>
            </a:xfrm>
            <a:prstGeom prst="rect">
              <a:avLst/>
            </a:prstGeom>
            <a:noFill/>
            <a:ln w="19050">
              <a:solidFill>
                <a:srgbClr val="7A0000"/>
              </a:solidFill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786319" y="5634581"/>
              <a:ext cx="256151" cy="220068"/>
              <a:chOff x="786319" y="5634581"/>
              <a:chExt cx="256151" cy="220068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914400" y="5715000"/>
                <a:ext cx="9525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0800">
                    <a:moveTo>
                      <a:pt x="0" y="0"/>
                    </a:moveTo>
                    <a:lnTo>
                      <a:pt x="0" y="50800"/>
                    </a:lnTo>
                  </a:path>
                </a:pathLst>
              </a:custGeom>
              <a:noFill/>
              <a:ln w="25400">
                <a:solidFill>
                  <a:srgbClr val="7A0000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786319" y="5634581"/>
                <a:ext cx="256151" cy="220068"/>
              </a:xfrm>
              <a:custGeom>
                <a:avLst/>
                <a:gdLst/>
                <a:ahLst/>
                <a:cxnLst/>
                <a:rect l="l" t="t" r="r" b="b"/>
                <a:pathLst>
                  <a:path w="256151" h="220068">
                    <a:moveTo>
                      <a:pt x="107291" y="11725"/>
                    </a:moveTo>
                    <a:lnTo>
                      <a:pt x="4345" y="183606"/>
                    </a:lnTo>
                    <a:cubicBezTo>
                      <a:pt x="26" y="191085"/>
                      <a:pt x="0" y="200293"/>
                      <a:pt x="4276" y="207796"/>
                    </a:cubicBezTo>
                    <a:cubicBezTo>
                      <a:pt x="8551" y="215299"/>
                      <a:pt x="16487" y="219971"/>
                      <a:pt x="25122" y="220068"/>
                    </a:cubicBezTo>
                    <a:lnTo>
                      <a:pt x="231039" y="220068"/>
                    </a:lnTo>
                    <a:cubicBezTo>
                      <a:pt x="239671" y="219968"/>
                      <a:pt x="247602" y="215299"/>
                      <a:pt x="251877" y="207800"/>
                    </a:cubicBezTo>
                    <a:cubicBezTo>
                      <a:pt x="256151" y="200300"/>
                      <a:pt x="256128" y="191097"/>
                      <a:pt x="251816" y="183619"/>
                    </a:cubicBezTo>
                    <a:lnTo>
                      <a:pt x="148870" y="11712"/>
                    </a:lnTo>
                    <a:cubicBezTo>
                      <a:pt x="144465" y="4441"/>
                      <a:pt x="136582" y="0"/>
                      <a:pt x="128081" y="0"/>
                    </a:cubicBezTo>
                    <a:cubicBezTo>
                      <a:pt x="119579" y="0"/>
                      <a:pt x="111696" y="4441"/>
                      <a:pt x="107291" y="11712"/>
                    </a:cubicBezTo>
                  </a:path>
                </a:pathLst>
              </a:custGeom>
              <a:noFill/>
              <a:ln w="25400">
                <a:solidFill>
                  <a:srgbClr val="7A0000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914400" y="5803899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27" y="0"/>
                    </a:lnTo>
                  </a:path>
                </a:pathLst>
              </a:custGeom>
              <a:noFill/>
              <a:ln w="25400">
                <a:solidFill>
                  <a:srgbClr val="7A0000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1210056" y="5654040"/>
              <a:ext cx="786566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7A0000"/>
                  </a:solidFill>
                  <a:latin typeface="+mn-lt"/>
                  <a:ea typeface="+mn-ea"/>
                  <a:cs typeface="+mn-cs"/>
                </a:rPr>
                <a:t>红线：本周冻结 recipe 阈值。收热会同时打掉捕获率，造成假回收。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451104" y="6480810"/>
            <a:ext cx="11289792" cy="234696"/>
            <a:chOff x="451104" y="6480810"/>
            <a:chExt cx="11289792" cy="234696"/>
          </a:xfrm>
        </p:grpSpPr>
        <p:sp>
          <p:nvSpPr>
            <p:cNvPr id="31" name="TextBox 31"/>
            <p:cNvSpPr txBox="1"/>
            <p:nvPr/>
          </p:nvSpPr>
          <p:spPr>
            <a:xfrm>
              <a:off x="451104" y="6480810"/>
              <a:ext cx="29138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演示用虚构数据｜不代表真实工厂成绩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137904" y="6480810"/>
              <a:ext cx="26029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DWG NO. DEF-INSP-W33-07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381000" y="0"/>
                </a:moveTo>
                <a:lnTo>
                  <a:pt x="381000" y="6858000"/>
                </a:lnTo>
                <a:moveTo>
                  <a:pt x="762000" y="0"/>
                </a:moveTo>
                <a:lnTo>
                  <a:pt x="762000" y="6858000"/>
                </a:lnTo>
                <a:moveTo>
                  <a:pt x="1143000" y="0"/>
                </a:moveTo>
                <a:lnTo>
                  <a:pt x="1143000" y="6858000"/>
                </a:lnTo>
                <a:moveTo>
                  <a:pt x="1524000" y="0"/>
                </a:moveTo>
                <a:lnTo>
                  <a:pt x="1524000" y="6858000"/>
                </a:lnTo>
                <a:moveTo>
                  <a:pt x="1905000" y="0"/>
                </a:moveTo>
                <a:lnTo>
                  <a:pt x="1905000" y="6858000"/>
                </a:lnTo>
                <a:moveTo>
                  <a:pt x="2286000" y="0"/>
                </a:moveTo>
                <a:lnTo>
                  <a:pt x="2286000" y="6858000"/>
                </a:lnTo>
                <a:moveTo>
                  <a:pt x="2667000" y="0"/>
                </a:moveTo>
                <a:lnTo>
                  <a:pt x="266700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3429000" y="0"/>
                </a:moveTo>
                <a:lnTo>
                  <a:pt x="3429000" y="6858000"/>
                </a:lnTo>
                <a:moveTo>
                  <a:pt x="3810000" y="0"/>
                </a:moveTo>
                <a:lnTo>
                  <a:pt x="3810000" y="6858000"/>
                </a:lnTo>
                <a:moveTo>
                  <a:pt x="4191000" y="0"/>
                </a:moveTo>
                <a:lnTo>
                  <a:pt x="4191000" y="6858000"/>
                </a:lnTo>
                <a:moveTo>
                  <a:pt x="4572000" y="0"/>
                </a:moveTo>
                <a:lnTo>
                  <a:pt x="4572000" y="6858000"/>
                </a:lnTo>
                <a:moveTo>
                  <a:pt x="4953000" y="0"/>
                </a:moveTo>
                <a:lnTo>
                  <a:pt x="4953000" y="6858000"/>
                </a:lnTo>
                <a:moveTo>
                  <a:pt x="5334000" y="0"/>
                </a:moveTo>
                <a:lnTo>
                  <a:pt x="5334000" y="6858000"/>
                </a:lnTo>
                <a:moveTo>
                  <a:pt x="5715000" y="0"/>
                </a:moveTo>
                <a:lnTo>
                  <a:pt x="5715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6477000" y="0"/>
                </a:moveTo>
                <a:lnTo>
                  <a:pt x="6477000" y="6858000"/>
                </a:lnTo>
                <a:moveTo>
                  <a:pt x="6858000" y="0"/>
                </a:moveTo>
                <a:lnTo>
                  <a:pt x="6858000" y="6858000"/>
                </a:lnTo>
                <a:moveTo>
                  <a:pt x="7239000" y="0"/>
                </a:moveTo>
                <a:lnTo>
                  <a:pt x="7239000" y="6858000"/>
                </a:lnTo>
                <a:moveTo>
                  <a:pt x="7620000" y="0"/>
                </a:moveTo>
                <a:lnTo>
                  <a:pt x="7620000" y="6858000"/>
                </a:lnTo>
                <a:moveTo>
                  <a:pt x="8001000" y="0"/>
                </a:moveTo>
                <a:lnTo>
                  <a:pt x="8001000" y="6858000"/>
                </a:lnTo>
                <a:moveTo>
                  <a:pt x="8382000" y="0"/>
                </a:moveTo>
                <a:lnTo>
                  <a:pt x="8382000" y="6858000"/>
                </a:lnTo>
                <a:moveTo>
                  <a:pt x="8763000" y="0"/>
                </a:moveTo>
                <a:lnTo>
                  <a:pt x="8763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9525000" y="0"/>
                </a:moveTo>
                <a:lnTo>
                  <a:pt x="9525000" y="6858000"/>
                </a:lnTo>
                <a:moveTo>
                  <a:pt x="9906000" y="0"/>
                </a:moveTo>
                <a:lnTo>
                  <a:pt x="9906000" y="6858000"/>
                </a:lnTo>
                <a:moveTo>
                  <a:pt x="10287000" y="0"/>
                </a:moveTo>
                <a:lnTo>
                  <a:pt x="10287000" y="6858000"/>
                </a:lnTo>
                <a:moveTo>
                  <a:pt x="10668000" y="0"/>
                </a:moveTo>
                <a:lnTo>
                  <a:pt x="10668000" y="6858000"/>
                </a:lnTo>
                <a:moveTo>
                  <a:pt x="11049000" y="0"/>
                </a:moveTo>
                <a:lnTo>
                  <a:pt x="11049000" y="6858000"/>
                </a:lnTo>
                <a:moveTo>
                  <a:pt x="11430000" y="0"/>
                </a:moveTo>
                <a:lnTo>
                  <a:pt x="11430000" y="6858000"/>
                </a:lnTo>
                <a:moveTo>
                  <a:pt x="11811000" y="0"/>
                </a:moveTo>
                <a:lnTo>
                  <a:pt x="11811000" y="6858000"/>
                </a:lnTo>
                <a:moveTo>
                  <a:pt x="12192000" y="0"/>
                </a:moveTo>
                <a:lnTo>
                  <a:pt x="12192000" y="6858000"/>
                </a:lnTo>
                <a:moveTo>
                  <a:pt x="0" y="381000"/>
                </a:moveTo>
                <a:lnTo>
                  <a:pt x="12192000" y="381000"/>
                </a:lnTo>
                <a:moveTo>
                  <a:pt x="0" y="762000"/>
                </a:moveTo>
                <a:lnTo>
                  <a:pt x="12192000" y="762000"/>
                </a:lnTo>
                <a:moveTo>
                  <a:pt x="0" y="1143000"/>
                </a:moveTo>
                <a:lnTo>
                  <a:pt x="12192000" y="1143000"/>
                </a:lnTo>
                <a:moveTo>
                  <a:pt x="0" y="1524000"/>
                </a:moveTo>
                <a:lnTo>
                  <a:pt x="12192000" y="1524000"/>
                </a:lnTo>
                <a:moveTo>
                  <a:pt x="0" y="1905000"/>
                </a:moveTo>
                <a:lnTo>
                  <a:pt x="12192000" y="1905000"/>
                </a:lnTo>
                <a:moveTo>
                  <a:pt x="0" y="2286000"/>
                </a:moveTo>
                <a:lnTo>
                  <a:pt x="12192000" y="2286000"/>
                </a:lnTo>
                <a:moveTo>
                  <a:pt x="0" y="2667000"/>
                </a:moveTo>
                <a:lnTo>
                  <a:pt x="12192000" y="2667000"/>
                </a:lnTo>
                <a:moveTo>
                  <a:pt x="0" y="3048000"/>
                </a:moveTo>
                <a:lnTo>
                  <a:pt x="12192000" y="30480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3810000"/>
                </a:moveTo>
                <a:lnTo>
                  <a:pt x="12192000" y="3810000"/>
                </a:lnTo>
                <a:moveTo>
                  <a:pt x="0" y="4191000"/>
                </a:moveTo>
                <a:lnTo>
                  <a:pt x="12192000" y="4191000"/>
                </a:lnTo>
                <a:moveTo>
                  <a:pt x="0" y="4572000"/>
                </a:moveTo>
                <a:lnTo>
                  <a:pt x="12192000" y="4572000"/>
                </a:lnTo>
                <a:moveTo>
                  <a:pt x="0" y="4953000"/>
                </a:moveTo>
                <a:lnTo>
                  <a:pt x="12192000" y="4953000"/>
                </a:lnTo>
                <a:moveTo>
                  <a:pt x="0" y="5334000"/>
                </a:moveTo>
                <a:lnTo>
                  <a:pt x="12192000" y="5334000"/>
                </a:lnTo>
                <a:moveTo>
                  <a:pt x="0" y="5715000"/>
                </a:moveTo>
                <a:lnTo>
                  <a:pt x="12192000" y="5715000"/>
                </a:lnTo>
                <a:moveTo>
                  <a:pt x="0" y="6096000"/>
                </a:moveTo>
                <a:lnTo>
                  <a:pt x="12192000" y="6096000"/>
                </a:lnTo>
                <a:moveTo>
                  <a:pt x="0" y="6477000"/>
                </a:moveTo>
                <a:lnTo>
                  <a:pt x="12192000" y="6477000"/>
                </a:lnTo>
                <a:moveTo>
                  <a:pt x="0" y="6858000"/>
                </a:moveTo>
                <a:lnTo>
                  <a:pt x="12192000" y="6858000"/>
                </a:lnTo>
              </a:path>
            </a:pathLst>
          </a:custGeom>
          <a:noFill/>
          <a:ln w="9525">
            <a:solidFill>
              <a:schemeClr val="accent5">
                <a:alpha val="85000"/>
              </a:schemeClr>
            </a:solidFill>
          </a:ln>
        </p:spPr>
      </p:sp>
      <p:grpSp>
        <p:nvGrpSpPr>
          <p:cNvPr id="6" name="Group 6"/>
          <p:cNvGrpSpPr/>
          <p:nvPr/>
        </p:nvGrpSpPr>
        <p:grpSpPr>
          <a:xfrm>
            <a:off x="443484" y="346710"/>
            <a:ext cx="11297412" cy="918591"/>
            <a:chOff x="443484" y="346710"/>
            <a:chExt cx="11297412" cy="918591"/>
          </a:xfrm>
        </p:grpSpPr>
        <p:sp>
          <p:nvSpPr>
            <p:cNvPr id="3" name="TextBox 3"/>
            <p:cNvSpPr txBox="1"/>
            <p:nvPr/>
          </p:nvSpPr>
          <p:spPr>
            <a:xfrm>
              <a:off x="451104" y="346710"/>
              <a:ext cx="42455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DEF-INSP · 2026-W33 · 2026-08-13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43484" y="737235"/>
              <a:ext cx="609511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本周先关 S02 残液，recipe 冻结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920374" y="346710"/>
              <a:ext cx="82052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P08 / 08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33400" y="1600200"/>
            <a:ext cx="11125200" cy="4152900"/>
            <a:chOff x="533400" y="1600200"/>
            <a:chExt cx="11125200" cy="4152900"/>
          </a:xfrm>
        </p:grpSpPr>
        <p:grpSp>
          <p:nvGrpSpPr>
            <p:cNvPr id="10" name="Group 10"/>
            <p:cNvGrpSpPr/>
            <p:nvPr/>
          </p:nvGrpSpPr>
          <p:grpSpPr>
            <a:xfrm>
              <a:off x="533400" y="1600200"/>
              <a:ext cx="11125200" cy="723900"/>
              <a:chOff x="533400" y="1600200"/>
              <a:chExt cx="11125200" cy="723900"/>
            </a:xfrm>
          </p:grpSpPr>
          <p:sp>
            <p:nvSpPr>
              <p:cNvPr id="7" name="Rectangle 7"/>
              <p:cNvSpPr/>
              <p:nvPr/>
            </p:nvSpPr>
            <p:spPr>
              <a:xfrm>
                <a:off x="533400" y="1600200"/>
                <a:ext cx="11125200" cy="723900"/>
              </a:xfrm>
              <a:prstGeom prst="rect">
                <a:avLst/>
              </a:prstGeom>
              <a:solidFill>
                <a:schemeClr val="lt2"/>
              </a:solidFill>
              <a:ln w="14288">
                <a:solidFill>
                  <a:schemeClr val="accent2"/>
                </a:solidFill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829056" y="1844040"/>
                <a:ext cx="53126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D01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1705356" y="1844040"/>
                <a:ext cx="525688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S02 浸没头 / 台面 PM，清洗前后 PWP</a:t>
                </a:r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533400" y="2457450"/>
              <a:ext cx="11125200" cy="723900"/>
              <a:chOff x="533400" y="2457450"/>
              <a:chExt cx="11125200" cy="723900"/>
            </a:xfrm>
          </p:grpSpPr>
          <p:sp>
            <p:nvSpPr>
              <p:cNvPr id="11" name="Rectangle 11"/>
              <p:cNvSpPr/>
              <p:nvPr/>
            </p:nvSpPr>
            <p:spPr>
              <a:xfrm>
                <a:off x="533400" y="2457450"/>
                <a:ext cx="11125200" cy="723900"/>
              </a:xfrm>
              <a:prstGeom prst="rect">
                <a:avLst/>
              </a:prstGeom>
              <a:solidFill>
                <a:schemeClr val="lt2"/>
              </a:solidFill>
              <a:ln w="14288">
                <a:solidFill>
                  <a:schemeClr val="accent2"/>
                </a:solidFill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829056" y="2701290"/>
                <a:ext cx="53126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D02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705356" y="2701290"/>
                <a:ext cx="517047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核查 post-rinse 是否赶在 PEB 前完成干燥</a:t>
                </a:r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533400" y="3314700"/>
              <a:ext cx="11125200" cy="723900"/>
              <a:chOff x="533400" y="3314700"/>
              <a:chExt cx="11125200" cy="723900"/>
            </a:xfrm>
          </p:grpSpPr>
          <p:sp>
            <p:nvSpPr>
              <p:cNvPr id="15" name="Rectangle 15"/>
              <p:cNvSpPr/>
              <p:nvPr/>
            </p:nvSpPr>
            <p:spPr>
              <a:xfrm>
                <a:off x="533400" y="3314700"/>
                <a:ext cx="11125200" cy="723900"/>
              </a:xfrm>
              <a:prstGeom prst="rect">
                <a:avLst/>
              </a:prstGeom>
              <a:solidFill>
                <a:schemeClr val="lt2"/>
              </a:solidFill>
              <a:ln w="14288">
                <a:solidFill>
                  <a:schemeClr val="accent2"/>
                </a:solidFill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829056" y="3558540"/>
                <a:ext cx="53126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D03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705356" y="3558540"/>
                <a:ext cx="462686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颗粒柱降为观察项，不作为第一工艺改动</a:t>
                </a: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533400" y="4171950"/>
              <a:ext cx="11125200" cy="723900"/>
              <a:chOff x="533400" y="4171950"/>
              <a:chExt cx="11125200" cy="723900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533400" y="4171950"/>
                <a:ext cx="11125200" cy="723900"/>
              </a:xfrm>
              <a:prstGeom prst="rect">
                <a:avLst/>
              </a:prstGeom>
              <a:solidFill>
                <a:schemeClr val="lt2"/>
              </a:solidFill>
              <a:ln w="14288">
                <a:solidFill>
                  <a:srgbClr val="7A0000"/>
                </a:solidFill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829056" y="4415790"/>
                <a:ext cx="53126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rgbClr val="7A0000"/>
                    </a:solidFill>
                    <a:latin typeface="+mn-lt"/>
                    <a:ea typeface="+mn-ea"/>
                    <a:cs typeface="+mn-cs"/>
                  </a:rPr>
                  <a:t>D04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705356" y="4415790"/>
                <a:ext cx="278892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recipe 阈值冻结到 W35</a:t>
                </a: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533400" y="5029200"/>
              <a:ext cx="11125200" cy="723900"/>
              <a:chOff x="533400" y="5029200"/>
              <a:chExt cx="11125200" cy="723900"/>
            </a:xfrm>
          </p:grpSpPr>
          <p:sp>
            <p:nvSpPr>
              <p:cNvPr id="23" name="Rectangle 23"/>
              <p:cNvSpPr/>
              <p:nvPr/>
            </p:nvSpPr>
            <p:spPr>
              <a:xfrm>
                <a:off x="533400" y="5029200"/>
                <a:ext cx="11125200" cy="723900"/>
              </a:xfrm>
              <a:prstGeom prst="rect">
                <a:avLst/>
              </a:prstGeom>
              <a:solidFill>
                <a:schemeClr val="lt2"/>
              </a:solidFill>
              <a:ln w="14288">
                <a:solidFill>
                  <a:schemeClr val="accent3"/>
                </a:solidFill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829056" y="5273040"/>
                <a:ext cx="53126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D05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1705356" y="5273040"/>
                <a:ext cx="654006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S02 超限 lot SEM 抽样提到 60 点，直到 SNV&lt;15%</a:t>
                </a:r>
              </a:p>
            </p:txBody>
          </p:sp>
        </p:grpSp>
      </p:grpSp>
      <p:grpSp>
        <p:nvGrpSpPr>
          <p:cNvPr id="30" name="Group 30"/>
          <p:cNvGrpSpPr/>
          <p:nvPr/>
        </p:nvGrpSpPr>
        <p:grpSpPr>
          <a:xfrm>
            <a:off x="451104" y="6480810"/>
            <a:ext cx="11289792" cy="234696"/>
            <a:chOff x="451104" y="6480810"/>
            <a:chExt cx="11289792" cy="234696"/>
          </a:xfrm>
        </p:grpSpPr>
        <p:sp>
          <p:nvSpPr>
            <p:cNvPr id="28" name="TextBox 28"/>
            <p:cNvSpPr txBox="1"/>
            <p:nvPr/>
          </p:nvSpPr>
          <p:spPr>
            <a:xfrm>
              <a:off x="451104" y="6480810"/>
              <a:ext cx="29138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演示用虚构数据｜不代表真实工厂成绩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137904" y="6480810"/>
              <a:ext cx="26029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DWG NO. DEF-INSP-W33-08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immersion_defect_inspection_weekly_redwhite">
  <a:themeElements>
    <a:clrScheme name="immersion_defect_inspection_weekly_redwhite">
      <a:dk1>
        <a:srgbClr val="222222"/>
      </a:dk1>
      <a:lt1>
        <a:srgbClr val="FFFFFF"/>
      </a:lt1>
      <a:dk2>
        <a:srgbClr val="1F497D"/>
      </a:dk2>
      <a:lt2>
        <a:srgbClr val="E7F6FB"/>
      </a:lt2>
      <a:accent1>
        <a:srgbClr val="C00000"/>
      </a:accent1>
      <a:accent2>
        <a:srgbClr val="87D9F5"/>
      </a:accent2>
      <a:accent3>
        <a:srgbClr val="3D9EC4"/>
      </a:accent3>
      <a:accent4>
        <a:srgbClr val="C00000"/>
      </a:accent4>
      <a:accent5>
        <a:srgbClr val="D4EEF6"/>
      </a:accent5>
      <a:accent6>
        <a:srgbClr val="6B6B6B"/>
      </a:accent6>
      <a:hlink>
        <a:srgbClr val="87D9F5"/>
      </a:hlink>
      <a:folHlink>
        <a:srgbClr val="3D9EC4"/>
      </a:folHlink>
    </a:clrScheme>
    <a:fontScheme name="immersion_defect_inspection_weekly_redwhite">
      <a:majorFont>
        <a:latin typeface="Times New Roman"/>
        <a:ea typeface="Microsoft YaHei"/>
        <a:cs typeface="Times New Roman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imes New Roman"/>
        <a:ea typeface="Microsoft YaHei"/>
        <a:cs typeface="Times New Roman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mmersion_defect_inspection_weekly_red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immersion_defect_inspection_weekly_redwhite">
  <a:themeElements>
    <a:clrScheme name="immersion_defect_inspection_weekly_redwhite">
      <a:dk1>
        <a:srgbClr val="222222"/>
      </a:dk1>
      <a:lt1>
        <a:srgbClr val="FFFFFF"/>
      </a:lt1>
      <a:dk2>
        <a:srgbClr val="1F497D"/>
      </a:dk2>
      <a:lt2>
        <a:srgbClr val="E7F6FB"/>
      </a:lt2>
      <a:accent1>
        <a:srgbClr val="C00000"/>
      </a:accent1>
      <a:accent2>
        <a:srgbClr val="87D9F5"/>
      </a:accent2>
      <a:accent3>
        <a:srgbClr val="3D9EC4"/>
      </a:accent3>
      <a:accent4>
        <a:srgbClr val="C00000"/>
      </a:accent4>
      <a:accent5>
        <a:srgbClr val="D4EEF6"/>
      </a:accent5>
      <a:accent6>
        <a:srgbClr val="6B6B6B"/>
      </a:accent6>
      <a:hlink>
        <a:srgbClr val="87D9F5"/>
      </a:hlink>
      <a:folHlink>
        <a:srgbClr val="3D9EC4"/>
      </a:folHlink>
    </a:clrScheme>
    <a:fontScheme name="immersion_defect_inspection_weekly_redwhite">
      <a:majorFont>
        <a:latin typeface="Times New Roman"/>
        <a:ea typeface="Microsoft YaHei"/>
        <a:cs typeface="Times New Roman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imes New Roman"/>
        <a:ea typeface="Microsoft YaHei"/>
        <a:cs typeface="Times New Roman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mmersion_defect_inspection_weekly_red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2026-08-14T06:23:30Z</dcterms:created>
  <dcterms:modified xsi:type="dcterms:W3CDTF">2026-08-14T06:23:30Z</dcterms:modified>
  <cp:category/>
  <cp:contentStatus/>
</cp:coreProperties>
</file>