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各位好。这是演示用虚构回收专题，数字不代表真实工厂。水印密度从峰值每平方厘米零点五一收到零点二九，目标零点二零，还差零点零九。请把真实工艺回收和检测阈值假象分开看。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主指标在下降，捕获率已经从百分之八十四拉回百分之九十一。干扰缺陷和 SEM 看不见比例仍高于内控。S02 空白片颗粒从四十一降到二十七，目标不超过十二。当层新增仍是正零点二四。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瀑布上，阈值回退让表观密度回升了零点零四，这一项不算工艺回收。台面清洁、后淋洗和换桶合计解释了大约零点一六。剩余零点零九还在水印路径上，要等气帘和切边。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请按三列记账。工艺可以继续淋洗和切边，但不改烘干温度赶进度。设备要复测气帘，不要靠降扫描速度换缺陷。检测列已经回退收阈值，冻到第三十五周。禁止再用阈值制造密度下降。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六对对照里，开后淋洗的一组平均零点二四，不开的一组零点三三。起停点富集从三点四倍降到一点六倍，仍高于 S01 的一点一倍。淋洗有效，但不够，必须叠加浸没头设定。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从第二十六周到第三十周都在零点二附近。第三十一周跳到零点五一，随后回落到零点三七、零点二九。目标线零点二零，控制上限零点二八。本周仍在上限之上。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如果只做淋洗，第三十五周仍可能停在零点二四以上。气帘未复测、切边未做、以及再次收阈值，是四条要写进纪要的风险。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释放要四条同时满足：连续两周密度不高于零点二零且空白片不超过十二；水印分类不超过百分之十五；捕获率不低于百分之九十且不得靠收阈值；若第三十五周仍高于零点二四，就评估更换浸没头。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immersion_defect_metric_recovery_redwhit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immersion_defect_metric_recovery_redwhit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517398" y="540068"/>
            <a:ext cx="4929816" cy="1279207"/>
            <a:chOff x="517398" y="540068"/>
            <a:chExt cx="4929816" cy="1279207"/>
          </a:xfrm>
        </p:grpSpPr>
        <p:sp>
          <p:nvSpPr>
            <p:cNvPr id="3" name="TextBox 3"/>
            <p:cNvSpPr txBox="1"/>
            <p:nvPr/>
          </p:nvSpPr>
          <p:spPr>
            <a:xfrm>
              <a:off x="526542" y="540068"/>
              <a:ext cx="37624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METRIC RECOVERY · 2026-W31–W33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7398" y="879158"/>
              <a:ext cx="49298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浸没式光刻缺陷指标回收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24256" y="1443990"/>
              <a:ext cx="33723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L28 水印 D0 ｜ 目标关闭 W35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33400" y="180975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14350" y="2349818"/>
            <a:ext cx="4235867" cy="2201227"/>
            <a:chOff x="514350" y="2349818"/>
            <a:chExt cx="4235867" cy="2201227"/>
          </a:xfrm>
        </p:grpSpPr>
        <p:sp>
          <p:nvSpPr>
            <p:cNvPr id="8" name="TextBox 8"/>
            <p:cNvSpPr txBox="1"/>
            <p:nvPr/>
          </p:nvSpPr>
          <p:spPr>
            <a:xfrm>
              <a:off x="526542" y="2349818"/>
              <a:ext cx="717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D0 /cm²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4350" y="2910840"/>
              <a:ext cx="15307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0.51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54808" y="297942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19450" y="2910840"/>
              <a:ext cx="15307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0.29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4256" y="3806190"/>
              <a:ext cx="25868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目标 0.20 ｜ 剩余 0.09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5780" y="4257675"/>
              <a:ext cx="33470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真实工艺回收约 0.16，不含阈值假象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40880" y="2521268"/>
            <a:ext cx="4198620" cy="2277427"/>
            <a:chOff x="7040880" y="2521268"/>
            <a:chExt cx="4198620" cy="2277427"/>
          </a:xfrm>
        </p:grpSpPr>
        <p:sp>
          <p:nvSpPr>
            <p:cNvPr id="15" name="TextBox 15"/>
            <p:cNvSpPr txBox="1"/>
            <p:nvPr/>
          </p:nvSpPr>
          <p:spPr>
            <a:xfrm>
              <a:off x="7041642" y="2521268"/>
              <a:ext cx="12810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REMAINING GAP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048500" y="3048000"/>
              <a:ext cx="4191000" cy="2667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048500" y="3048000"/>
              <a:ext cx="1885950" cy="266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8934450" y="3048000"/>
              <a:ext cx="146685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40880" y="3552825"/>
              <a:ext cx="2731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已回收 0.22 表观 / 0.16 真实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40880" y="3933825"/>
              <a:ext cx="25999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剩余挂在后淋洗与 hood 气帘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40880" y="4505325"/>
              <a:ext cx="25696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A0000"/>
                  </a:solidFill>
                  <a:latin typeface="Arial"/>
                  <a:ea typeface="Microsoft YaHei"/>
                  <a:cs typeface="Arial"/>
                </a:rPr>
                <a:t>禁止把 recipe 收热算作回收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3400" y="6172200"/>
            <a:ext cx="11207496" cy="327851"/>
            <a:chOff x="533400" y="6172200"/>
            <a:chExt cx="11207496" cy="327851"/>
          </a:xfrm>
        </p:grpSpPr>
        <p:sp>
          <p:nvSpPr>
            <p:cNvPr id="23" name="Rectangle 23"/>
            <p:cNvSpPr/>
            <p:nvPr/>
          </p:nvSpPr>
          <p:spPr>
            <a:xfrm>
              <a:off x="533400" y="6172200"/>
              <a:ext cx="180975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3534" y="62360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演示用虚构案例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646310" y="6252210"/>
              <a:ext cx="2094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DEF-REC-W33-01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425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DEF-REC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804660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主指标在回收，捕获率已从阈值假象拉回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P02 / 08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9704" y="1356360"/>
            <a:ext cx="9261043" cy="234696"/>
            <a:chOff x="679704" y="1356360"/>
            <a:chExt cx="9261043" cy="234696"/>
          </a:xfrm>
        </p:grpSpPr>
        <p:sp>
          <p:nvSpPr>
            <p:cNvPr id="7" name="TextBox 7"/>
            <p:cNvSpPr txBox="1"/>
            <p:nvPr/>
          </p:nvSpPr>
          <p:spPr>
            <a:xfrm>
              <a:off x="679704" y="1356360"/>
              <a:ext cx="5669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METRIC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422904" y="13563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W31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327904" y="13563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W33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23404" y="1356360"/>
              <a:ext cx="575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TARGET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518904" y="1356360"/>
              <a:ext cx="421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ROLE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33400" y="1600200"/>
            <a:ext cx="11125200" cy="4329684"/>
            <a:chOff x="533400" y="1600200"/>
            <a:chExt cx="11125200" cy="4329684"/>
          </a:xfrm>
        </p:grpSpPr>
        <p:grpSp>
          <p:nvGrpSpPr>
            <p:cNvPr id="19" name="Group 19"/>
            <p:cNvGrpSpPr/>
            <p:nvPr/>
          </p:nvGrpSpPr>
          <p:grpSpPr>
            <a:xfrm>
              <a:off x="533400" y="1600200"/>
              <a:ext cx="11125200" cy="614934"/>
              <a:chOff x="533400" y="1600200"/>
              <a:chExt cx="11125200" cy="614934"/>
            </a:xfrm>
          </p:grpSpPr>
          <p:sp>
            <p:nvSpPr>
              <p:cNvPr id="13" name="Line 13"/>
              <p:cNvSpPr/>
              <p:nvPr/>
            </p:nvSpPr>
            <p:spPr>
              <a:xfrm>
                <a:off x="533400" y="16002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676656" y="1863090"/>
                <a:ext cx="9564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D0 /cm²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421380" y="1895475"/>
                <a:ext cx="4594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0.51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324856" y="1863090"/>
                <a:ext cx="5513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0.29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421880" y="1895475"/>
                <a:ext cx="4594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0.20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517380" y="189547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主指标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33400" y="2343150"/>
              <a:ext cx="11125200" cy="614934"/>
              <a:chOff x="533400" y="2343150"/>
              <a:chExt cx="11125200" cy="614934"/>
            </a:xfrm>
          </p:grpSpPr>
          <p:sp>
            <p:nvSpPr>
              <p:cNvPr id="20" name="Line 20"/>
              <p:cNvSpPr/>
              <p:nvPr/>
            </p:nvSpPr>
            <p:spPr>
              <a:xfrm>
                <a:off x="533400" y="234315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76656" y="2606040"/>
                <a:ext cx="9587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Capture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421380" y="2638425"/>
                <a:ext cx="3888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92%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324856" y="2606040"/>
                <a:ext cx="46657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91%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421880" y="2638425"/>
                <a:ext cx="4998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≥90%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517380" y="263842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监控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533400" y="3086100"/>
              <a:ext cx="11125200" cy="614934"/>
              <a:chOff x="533400" y="3086100"/>
              <a:chExt cx="11125200" cy="614934"/>
            </a:xfrm>
          </p:grpSpPr>
          <p:sp>
            <p:nvSpPr>
              <p:cNvPr id="27" name="Line 27"/>
              <p:cNvSpPr/>
              <p:nvPr/>
            </p:nvSpPr>
            <p:spPr>
              <a:xfrm>
                <a:off x="533400" y="30861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76656" y="3348990"/>
                <a:ext cx="1031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Nuisance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421380" y="3381375"/>
                <a:ext cx="3888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21%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324856" y="3348990"/>
                <a:ext cx="46657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18%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421880" y="3381375"/>
                <a:ext cx="4998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≤12%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517380" y="338137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监控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533400" y="3829050"/>
              <a:ext cx="11125200" cy="614934"/>
              <a:chOff x="533400" y="3829050"/>
              <a:chExt cx="11125200" cy="614934"/>
            </a:xfrm>
          </p:grpSpPr>
          <p:sp>
            <p:nvSpPr>
              <p:cNvPr id="34" name="Line 34"/>
              <p:cNvSpPr/>
              <p:nvPr/>
            </p:nvSpPr>
            <p:spPr>
              <a:xfrm>
                <a:off x="533400" y="382905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76656" y="4091940"/>
                <a:ext cx="4407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SNV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421380" y="4124325"/>
                <a:ext cx="3888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28%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324856" y="4091940"/>
                <a:ext cx="46657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22%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421880" y="4124325"/>
                <a:ext cx="4998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≤15%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517380" y="412432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监控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533400" y="4572000"/>
              <a:ext cx="11125200" cy="614934"/>
              <a:chOff x="533400" y="4572000"/>
              <a:chExt cx="11125200" cy="614934"/>
            </a:xfrm>
          </p:grpSpPr>
          <p:sp>
            <p:nvSpPr>
              <p:cNvPr id="41" name="Line 41"/>
              <p:cNvSpPr/>
              <p:nvPr/>
            </p:nvSpPr>
            <p:spPr>
              <a:xfrm>
                <a:off x="533400" y="45720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76656" y="4834890"/>
                <a:ext cx="99121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PWP S02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3421380" y="4867275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41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324856" y="4834890"/>
                <a:ext cx="2848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7A0000"/>
                    </a:solidFill>
                    <a:latin typeface="Consolas"/>
                    <a:ea typeface="Consolas"/>
                    <a:cs typeface="Consolas"/>
                  </a:rPr>
                  <a:t>27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421880" y="4867275"/>
                <a:ext cx="34842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≤12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517380" y="486727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设备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533400" y="5314950"/>
              <a:ext cx="11125200" cy="614934"/>
              <a:chOff x="533400" y="5314950"/>
              <a:chExt cx="11125200" cy="614934"/>
            </a:xfrm>
          </p:grpSpPr>
          <p:sp>
            <p:nvSpPr>
              <p:cNvPr id="48" name="Line 48"/>
              <p:cNvSpPr/>
              <p:nvPr/>
            </p:nvSpPr>
            <p:spPr>
              <a:xfrm>
                <a:off x="533400" y="531495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76656" y="5577840"/>
                <a:ext cx="69220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Adder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421380" y="5610225"/>
                <a:ext cx="5705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+0.38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5324856" y="5577840"/>
                <a:ext cx="68465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+0.24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421880" y="5610225"/>
                <a:ext cx="5705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+0.07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9517380" y="561022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当层</a:t>
                </a:r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56" name="TextBox 56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46310" y="6480810"/>
              <a:ext cx="2094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DEF-REC-W33-02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425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DEF-REC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862543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已关闭动作解释 0.16，剩余 0.09 仍是水印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P03 / 08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2080260"/>
            <a:ext cx="11010900" cy="4032885"/>
            <a:chOff x="609600" y="2080260"/>
            <a:chExt cx="11010900" cy="4032885"/>
          </a:xfrm>
        </p:grpSpPr>
        <p:sp>
          <p:nvSpPr>
            <p:cNvPr id="7" name="Line 7"/>
            <p:cNvSpPr/>
            <p:nvPr/>
          </p:nvSpPr>
          <p:spPr>
            <a:xfrm>
              <a:off x="609600" y="5334000"/>
              <a:ext cx="11010900" cy="9525"/>
            </a:xfrm>
            <a:custGeom>
              <a:avLst/>
              <a:gdLst/>
              <a:ahLst/>
              <a:cxnLst/>
              <a:rect l="l" t="t" r="r" b="b"/>
              <a:pathLst>
                <a:path w="11010900" h="9525">
                  <a:moveTo>
                    <a:pt x="0" y="0"/>
                  </a:moveTo>
                  <a:lnTo>
                    <a:pt x="110109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9600" y="4229100"/>
              <a:ext cx="11010900" cy="9525"/>
            </a:xfrm>
            <a:custGeom>
              <a:avLst/>
              <a:gdLst/>
              <a:ahLst/>
              <a:cxnLst/>
              <a:rect l="l" t="t" r="r" b="b"/>
              <a:pathLst>
                <a:path w="11010900" h="9525">
                  <a:moveTo>
                    <a:pt x="0" y="0"/>
                  </a:moveTo>
                  <a:lnTo>
                    <a:pt x="110109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  <a:custDash>
                <a:ds d="400000" sp="400000"/>
              </a:custDash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60654" y="4023360"/>
              <a:ext cx="7391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目标 0.20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66750" y="2438400"/>
              <a:ext cx="685800" cy="76200"/>
            </a:xfrm>
            <a:prstGeom prst="rect">
              <a:avLst/>
            </a:prstGeom>
            <a:noFill/>
            <a:ln w="19050">
              <a:solidFill>
                <a:srgbClr val="7A000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45668" y="22326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A0000"/>
                  </a:solidFill>
                  <a:latin typeface="Consolas"/>
                  <a:ea typeface="Consolas"/>
                  <a:cs typeface="Consolas"/>
                </a:rPr>
                <a:t>W31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352550" y="25146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714500" y="2286000"/>
              <a:ext cx="685800" cy="2286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89760" y="2080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阈值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400300" y="22860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762250" y="2286000"/>
              <a:ext cx="685800" cy="390525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37510" y="2080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台面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448050" y="22860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810000" y="2676525"/>
              <a:ext cx="685800" cy="333375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985260" y="24707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淋洗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495800" y="2676525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857750" y="3009900"/>
              <a:ext cx="685800" cy="17145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033010" y="28041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换桶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543550" y="30099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905500" y="3181350"/>
              <a:ext cx="685800" cy="5524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80760" y="29756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其他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31813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953250" y="3733800"/>
              <a:ext cx="685800" cy="16002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32168" y="35280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W33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9130" y="5819775"/>
              <a:ext cx="57857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阈值回退 +0.04 不计入工艺回收。残差 0.09 待 hood 与 EBR。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646310" y="6480810"/>
              <a:ext cx="2094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DEF-REC-W33-03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425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DEF-REC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58203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检测阈值回退，不算工艺回收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P04 / 08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57200" y="1600200"/>
            <a:ext cx="11277600" cy="4381500"/>
            <a:chOff x="457200" y="1600200"/>
            <a:chExt cx="11277600" cy="4381500"/>
          </a:xfrm>
        </p:grpSpPr>
        <p:sp>
          <p:nvSpPr>
            <p:cNvPr id="7" name="Rectangle 7"/>
            <p:cNvSpPr/>
            <p:nvPr/>
          </p:nvSpPr>
          <p:spPr>
            <a:xfrm>
              <a:off x="457200" y="1600200"/>
              <a:ext cx="3524250" cy="43815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17868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工艺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8180" y="22764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已关：换桶、部分后淋洗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180" y="2657475"/>
              <a:ext cx="2287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未关：EBR、全量后淋洗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8180" y="3190875"/>
              <a:ext cx="2202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A0000"/>
                  </a:solidFill>
                  <a:latin typeface="Arial"/>
                  <a:ea typeface="Microsoft YaHei"/>
                  <a:cs typeface="Arial"/>
                </a:rPr>
                <a:t>红线：不改 PEB 赶进度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24350" y="1600200"/>
              <a:ext cx="3524250" cy="43815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43806" y="17868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设备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45330" y="22764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已关：晶圆台清洁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45330" y="2657475"/>
              <a:ext cx="26075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未关：气帘复测、TOC 点检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45330" y="31908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A0000"/>
                  </a:solidFill>
                  <a:latin typeface="Arial"/>
                  <a:ea typeface="Microsoft YaHei"/>
                  <a:cs typeface="Arial"/>
                </a:rPr>
                <a:t>红线：不降扫描速度换缺陷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191500" y="1600200"/>
              <a:ext cx="3543300" cy="43815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rgbClr val="7A0000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8464550" y="1797050"/>
              <a:ext cx="177801" cy="177801"/>
              <a:chOff x="8464550" y="1797050"/>
              <a:chExt cx="177801" cy="17780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464550" y="184150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rgbClr val="7A0000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486775" y="17970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7A000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486775" y="188595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22225">
                <a:solidFill>
                  <a:srgbClr val="7A000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531225" y="190817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rgbClr val="7A000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553450" y="1797050"/>
                <a:ext cx="95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25">
                    <a:moveTo>
                      <a:pt x="0" y="0"/>
                    </a:moveTo>
                    <a:lnTo>
                      <a:pt x="0" y="111125"/>
                    </a:lnTo>
                  </a:path>
                </a:pathLst>
              </a:custGeom>
              <a:noFill/>
              <a:ln w="22225">
                <a:solidFill>
                  <a:srgbClr val="7A000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553450" y="1952626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rgbClr val="7A000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597901" y="1808163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rgbClr val="7A000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620126" y="1797050"/>
                <a:ext cx="9525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3">
                    <a:moveTo>
                      <a:pt x="0" y="0"/>
                    </a:move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rgbClr val="7A000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620126" y="1852613"/>
                <a:ext cx="95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238">
                    <a:moveTo>
                      <a:pt x="0" y="0"/>
                    </a:moveTo>
                    <a:lnTo>
                      <a:pt x="0" y="122238"/>
                    </a:lnTo>
                  </a:path>
                </a:pathLst>
              </a:custGeom>
              <a:noFill/>
              <a:ln w="22225">
                <a:solidFill>
                  <a:srgbClr val="7A000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8791956" y="17868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7A0000"/>
                  </a:solidFill>
                  <a:latin typeface="Arial"/>
                  <a:ea typeface="Microsoft YaHei"/>
                  <a:cs typeface="Arial"/>
                </a:rPr>
                <a:t>检测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12480" y="22764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已关：回退收阈值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12480" y="2657475"/>
              <a:ext cx="11140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冻结至 W35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12480" y="3190875"/>
              <a:ext cx="22981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A0000"/>
                  </a:solidFill>
                  <a:latin typeface="Arial"/>
                  <a:ea typeface="Microsoft YaHei"/>
                  <a:cs typeface="Arial"/>
                </a:rPr>
                <a:t>禁止用阈值制造 D0 下降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12480" y="3933825"/>
              <a:ext cx="1729740" cy="674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捕获率 84%→91%</a:t>
              </a:r>
              <a:br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假回收已从曲线剔除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34" name="TextBox 34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46310" y="6480810"/>
              <a:ext cx="2094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DEF-REC-W33-04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425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DEF-REC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73787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后淋洗有效但未完成，必须叠加 hood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P05 / 08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905000"/>
            <a:ext cx="10668000" cy="3429000"/>
            <a:chOff x="762000" y="1905000"/>
            <a:chExt cx="10668000" cy="3429000"/>
          </a:xfrm>
        </p:grpSpPr>
        <p:sp>
          <p:nvSpPr>
            <p:cNvPr id="7" name="Rectangle 7"/>
            <p:cNvSpPr/>
            <p:nvPr/>
          </p:nvSpPr>
          <p:spPr>
            <a:xfrm>
              <a:off x="762000" y="1905000"/>
              <a:ext cx="4572000" cy="3429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417978" y="2167890"/>
              <a:ext cx="12600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A 后淋洗开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69962" y="3040380"/>
              <a:ext cx="115607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0.24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60853" y="3743325"/>
              <a:ext cx="1774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D0 /cm² 六对 split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83142" y="4600575"/>
              <a:ext cx="15297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起停点富集 1.6×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858000" y="1905000"/>
              <a:ext cx="4572000" cy="3429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13978" y="2167890"/>
              <a:ext cx="12600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B 无后淋洗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65962" y="3040380"/>
              <a:ext cx="115607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0.33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8873" y="3743325"/>
              <a:ext cx="12702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D0 /cm² 对照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79142" y="4600575"/>
              <a:ext cx="15297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起停点富集 3.4×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18" name="TextBox 18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46310" y="6480810"/>
              <a:ext cx="2094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DEF-REC-W33-05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425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DEF-REC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659490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W33 的 0.29 仍在控制上限之上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P06 / 08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2500" y="2270760"/>
            <a:ext cx="10287000" cy="3549396"/>
            <a:chOff x="952500" y="2270760"/>
            <a:chExt cx="10287000" cy="3549396"/>
          </a:xfrm>
        </p:grpSpPr>
        <p:sp>
          <p:nvSpPr>
            <p:cNvPr id="7" name="Line 7"/>
            <p:cNvSpPr/>
            <p:nvPr/>
          </p:nvSpPr>
          <p:spPr>
            <a:xfrm>
              <a:off x="952500" y="5334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52500" y="42291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  <a:custDash>
                <a:ds d="400000" sp="400000"/>
              </a:custDash>
            </a:ln>
          </p:spPr>
        </p:sp>
        <p:sp>
          <p:nvSpPr>
            <p:cNvPr id="9" name="Line 9"/>
            <p:cNvSpPr/>
            <p:nvPr/>
          </p:nvSpPr>
          <p:spPr>
            <a:xfrm>
              <a:off x="952500" y="379095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14288">
              <a:solidFill>
                <a:srgbClr val="7A0000"/>
              </a:solidFill>
              <a:custDash>
                <a:ds d="266667" sp="400000"/>
              </a:custDash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41654" y="4023360"/>
              <a:ext cx="7391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目标 0.20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1654" y="3585210"/>
              <a:ext cx="7205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0000"/>
                  </a:solidFill>
                  <a:latin typeface="Arial"/>
                  <a:ea typeface="Arial"/>
                  <a:cs typeface="Arial"/>
                </a:rPr>
                <a:t>UCL 0.28</a:t>
              </a:r>
            </a:p>
          </p:txBody>
        </p:sp>
        <p:sp>
          <p:nvSpPr>
            <p:cNvPr id="12" name="Polyline 12"/>
            <p:cNvSpPr/>
            <p:nvPr/>
          </p:nvSpPr>
          <p:spPr>
            <a:xfrm>
              <a:off x="1143000" y="2514600"/>
              <a:ext cx="8667750" cy="1933575"/>
            </a:xfrm>
            <a:custGeom>
              <a:avLst/>
              <a:gdLst/>
              <a:ahLst/>
              <a:cxnLst/>
              <a:rect l="l" t="t" r="r" b="b"/>
              <a:pathLst>
                <a:path w="8667750" h="1933575">
                  <a:moveTo>
                    <a:pt x="0" y="1885950"/>
                  </a:moveTo>
                  <a:lnTo>
                    <a:pt x="1238250" y="1828800"/>
                  </a:lnTo>
                  <a:lnTo>
                    <a:pt x="2476500" y="1933575"/>
                  </a:lnTo>
                  <a:lnTo>
                    <a:pt x="3714750" y="1771650"/>
                  </a:lnTo>
                  <a:lnTo>
                    <a:pt x="4953000" y="1828800"/>
                  </a:lnTo>
                  <a:lnTo>
                    <a:pt x="6191250" y="0"/>
                  </a:lnTo>
                  <a:lnTo>
                    <a:pt x="7429500" y="771525"/>
                  </a:lnTo>
                  <a:lnTo>
                    <a:pt x="8667750" y="12192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085850" y="43434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79018" y="55854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W26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9206" y="415671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0.17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2324100" y="42862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17268" y="55854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W27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97456" y="409956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0.18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562350" y="439102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455518" y="55854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W28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35706" y="420433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0.16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4800600" y="42291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93768" y="55854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W29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73956" y="404241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0.19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038850" y="42862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32018" y="55854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W30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912206" y="409956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0.18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277100" y="2457450"/>
              <a:ext cx="114300" cy="114300"/>
            </a:xfrm>
            <a:prstGeom prst="ellipse">
              <a:avLst/>
            </a:prstGeom>
            <a:solidFill>
              <a:srgbClr val="7A000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70268" y="55854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W31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50456" y="227076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A0000"/>
                  </a:solidFill>
                  <a:latin typeface="Consolas"/>
                  <a:ea typeface="Consolas"/>
                  <a:cs typeface="Consolas"/>
                </a:rPr>
                <a:t>0.51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8515350" y="3228975"/>
              <a:ext cx="114300" cy="114300"/>
            </a:xfrm>
            <a:prstGeom prst="ellipse">
              <a:avLst/>
            </a:prstGeom>
            <a:solidFill>
              <a:srgbClr val="7A000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08518" y="55854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W32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88706" y="304228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A0000"/>
                  </a:solidFill>
                  <a:latin typeface="Consolas"/>
                  <a:ea typeface="Consolas"/>
                  <a:cs typeface="Consolas"/>
                </a:rPr>
                <a:t>0.37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9753600" y="3676650"/>
              <a:ext cx="114300" cy="114300"/>
            </a:xfrm>
            <a:prstGeom prst="ellipse">
              <a:avLst/>
            </a:prstGeom>
            <a:solidFill>
              <a:srgbClr val="7A000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646768" y="55854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W33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626956" y="348996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A0000"/>
                  </a:solidFill>
                  <a:latin typeface="Consolas"/>
                  <a:ea typeface="Consolas"/>
                  <a:cs typeface="Consolas"/>
                </a:rPr>
                <a:t>0.29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38" name="TextBox 38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646310" y="6480810"/>
              <a:ext cx="2094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DEF-REC-W33-06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425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DEF-REC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847673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若只做淋洗，W35 仍可能停在 0.24 以上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P07 / 08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600200"/>
            <a:ext cx="11125200" cy="4114800"/>
            <a:chOff x="533400" y="1600200"/>
            <a:chExt cx="11125200" cy="4114800"/>
          </a:xfrm>
        </p:grpSpPr>
        <p:sp>
          <p:nvSpPr>
            <p:cNvPr id="7" name="Rectangle 7"/>
            <p:cNvSpPr/>
            <p:nvPr/>
          </p:nvSpPr>
          <p:spPr>
            <a:xfrm>
              <a:off x="533400" y="1600200"/>
              <a:ext cx="11125200" cy="9144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rgbClr val="7A000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2856" y="1977390"/>
              <a:ext cx="47141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7A0000"/>
                  </a:solidFill>
                  <a:latin typeface="Arial"/>
                  <a:ea typeface="Microsoft YaHei"/>
                  <a:cs typeface="Arial"/>
                </a:rPr>
                <a:t>R01 Hood 气帘未复测，扫描起停点仍 1.6×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667000"/>
              <a:ext cx="11125200" cy="9144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2856" y="3044190"/>
              <a:ext cx="43452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R02 EBR 未做，边缘回运继续贡献残差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3733800"/>
              <a:ext cx="11125200" cy="9144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2856" y="4110990"/>
              <a:ext cx="49807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R03 只淋洗不叠加 hood，预测停在 0.24 以上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4800600"/>
              <a:ext cx="11125200" cy="9144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rgbClr val="7A000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2856" y="5177790"/>
              <a:ext cx="43580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7A0000"/>
                  </a:solidFill>
                  <a:latin typeface="Arial"/>
                  <a:ea typeface="Microsoft YaHei"/>
                  <a:cs typeface="Arial"/>
                </a:rPr>
                <a:t>R04 再次收阈值会让回收曲线不可审计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16" name="TextBox 16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646310" y="6480810"/>
              <a:ext cx="2094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DEF-REC-W33-07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425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DEF-REC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882958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W35 释放必须同时满足 D0、PWP 和捕获率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P08 / 08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400" y="1600200"/>
            <a:ext cx="11125200" cy="4114800"/>
            <a:chOff x="533400" y="1600200"/>
            <a:chExt cx="11125200" cy="4114800"/>
          </a:xfrm>
        </p:grpSpPr>
        <p:grpSp>
          <p:nvGrpSpPr>
            <p:cNvPr id="10" name="Group 10"/>
            <p:cNvGrpSpPr/>
            <p:nvPr/>
          </p:nvGrpSpPr>
          <p:grpSpPr>
            <a:xfrm>
              <a:off x="533400" y="1600200"/>
              <a:ext cx="11125200" cy="914400"/>
              <a:chOff x="533400" y="1600200"/>
              <a:chExt cx="11125200" cy="9144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33400" y="1600200"/>
                <a:ext cx="11125200" cy="9144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29056" y="1939290"/>
                <a:ext cx="2999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C1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705356" y="1939290"/>
                <a:ext cx="42812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连续 2 周 D0 ≤0.20，且 S02 PWP ≤12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533400" y="2667000"/>
              <a:ext cx="11125200" cy="914400"/>
              <a:chOff x="533400" y="2667000"/>
              <a:chExt cx="11125200" cy="9144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33400" y="2667000"/>
                <a:ext cx="11125200" cy="9144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29056" y="3006090"/>
                <a:ext cx="2999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C2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705356" y="3006090"/>
                <a:ext cx="493410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水印占 SEM 分类 ≤15%，起停点富集 ≤1.5×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33400" y="3733800"/>
              <a:ext cx="11125200" cy="914400"/>
              <a:chOff x="533400" y="3733800"/>
              <a:chExt cx="11125200" cy="9144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533400" y="3733800"/>
                <a:ext cx="11125200" cy="9144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29056" y="4072890"/>
                <a:ext cx="2999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C3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705356" y="4072890"/>
                <a:ext cx="524298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Capture ≥90%，Nuisance ≤12%，不得靠收阈值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533400" y="4800600"/>
              <a:ext cx="11125200" cy="914400"/>
              <a:chOff x="533400" y="4800600"/>
              <a:chExt cx="11125200" cy="9144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33400" y="4800600"/>
                <a:ext cx="11125200" cy="9144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29056" y="5139690"/>
                <a:ext cx="2999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C4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705356" y="5139690"/>
                <a:ext cx="512612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若 W35 仍高于 0.24，升级为浸没头更换评估</a:t>
                </a:r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646310" y="6480810"/>
              <a:ext cx="2094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DEF-REC-W33-08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immersion_defect_metric_recovery_redwhite">
  <a:themeElements>
    <a:clrScheme name="immersion_defect_metric_recovery_redwhite">
      <a:dk1>
        <a:srgbClr val="222222"/>
      </a:dk1>
      <a:lt1>
        <a:srgbClr val="FFFFFF"/>
      </a:lt1>
      <a:dk2>
        <a:srgbClr val="1F497D"/>
      </a:dk2>
      <a:lt2>
        <a:srgbClr val="F8F4F4"/>
      </a:lt2>
      <a:accent1>
        <a:srgbClr val="C00000"/>
      </a:accent1>
      <a:accent2>
        <a:srgbClr val="A00000"/>
      </a:accent2>
      <a:accent3>
        <a:srgbClr val="C00000"/>
      </a:accent3>
      <a:accent4>
        <a:srgbClr val="C00000"/>
      </a:accent4>
      <a:accent5>
        <a:srgbClr val="E8E8E8"/>
      </a:accent5>
      <a:accent6>
        <a:srgbClr val="6B6B6B"/>
      </a:accent6>
      <a:hlink>
        <a:srgbClr val="A00000"/>
      </a:hlink>
      <a:folHlink>
        <a:srgbClr val="C00000"/>
      </a:folHlink>
    </a:clrScheme>
    <a:fontScheme name="immersion_defect_metric_recovery_redwhite">
      <a:maj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mmersion_defect_metric_recovery_red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immersion_defect_metric_recovery_redwhite">
  <a:themeElements>
    <a:clrScheme name="immersion_defect_metric_recovery_redwhite">
      <a:dk1>
        <a:srgbClr val="222222"/>
      </a:dk1>
      <a:lt1>
        <a:srgbClr val="FFFFFF"/>
      </a:lt1>
      <a:dk2>
        <a:srgbClr val="1F497D"/>
      </a:dk2>
      <a:lt2>
        <a:srgbClr val="F8F4F4"/>
      </a:lt2>
      <a:accent1>
        <a:srgbClr val="C00000"/>
      </a:accent1>
      <a:accent2>
        <a:srgbClr val="A00000"/>
      </a:accent2>
      <a:accent3>
        <a:srgbClr val="C00000"/>
      </a:accent3>
      <a:accent4>
        <a:srgbClr val="C00000"/>
      </a:accent4>
      <a:accent5>
        <a:srgbClr val="E8E8E8"/>
      </a:accent5>
      <a:accent6>
        <a:srgbClr val="6B6B6B"/>
      </a:accent6>
      <a:hlink>
        <a:srgbClr val="A00000"/>
      </a:hlink>
      <a:folHlink>
        <a:srgbClr val="C00000"/>
      </a:folHlink>
    </a:clrScheme>
    <a:fontScheme name="immersion_defect_metric_recovery_redwhite">
      <a:maj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mmersion_defect_metric_recovery_red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2026-08-14T05:04:11Z</dcterms:created>
  <dcterms:modified xsi:type="dcterms:W3CDTF">2026-08-14T05:04:11Z</dcterms:modified>
  <cp:category/>
  <cp:contentStatus/>
</cp:coreProperties>
</file>