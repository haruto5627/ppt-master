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各位好。这是演示用虚构回收专题，数字不代表真实工厂。水印密度从峰值每平方厘米零点五一收到零点二九，目标零点二零，还差零点零九。请把真实工艺回收和检测阈值假象分开看。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主指标在下降，捕获率已经从百分之八十四拉回百分之九十一。干扰缺陷和 SEM 看不见比例仍高于内控。S02 空白片颗粒从四十一降到二十七，目标不超过十二。当层新增仍是正零点二四。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瀑布上，阈值回退让表观密度回升了零点零四，这一项不算工艺回收。台面清洁、后淋洗和换桶合计解释了大约零点一六。剩余零点零九还在水印路径上，要等气帘和切边。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请按三列记账。工艺可以继续淋洗和切边，但不改烘干温度赶进度。设备要复测气帘，不要靠降扫描速度换缺陷。检测列已经回退收阈值，冻到第三十五周。禁止再用阈值制造密度下降。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六对对照里，开后淋洗的一组平均零点二四，不开的一组零点三三。起停点富集从三点四倍降到一点六倍，仍高于 S01 的一点一倍。淋洗有效，但不够，必须叠加浸没头设定。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从第二十六周到第三十周都在零点二附近。第三十一周跳到零点五一，随后回落到零点三七、零点二九。目标线零点二零，控制上限零点二八。本周仍在上限之上。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如果只做淋洗，第三十五周仍可能停在零点二四以上。气帘未复测、切边未做、以及再次收阈值，是四条要写进纪要的风险。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释放要四条同时满足：连续两周密度不高于零点二零且空白片不超过十二；水印分类不超过百分之十五；捕获率不低于百分之九十且不得靠收阈值；若第三十五周仍高于零点二四，就评估更换浸没头。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metric_recovery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metric_recovery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9684" y="540068"/>
            <a:ext cx="4814316" cy="1279207"/>
            <a:chOff x="519684" y="540068"/>
            <a:chExt cx="48143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456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METRIC RECOVERY · 2026-W31–W33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9277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浸没式光刻缺陷指标回收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409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L28 水印 D0 ｜ 目标关闭 W35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19684" y="2349818"/>
            <a:ext cx="3619683" cy="2201227"/>
            <a:chOff x="519684" y="2349818"/>
            <a:chExt cx="3619683" cy="22012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795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31375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0.51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6332" y="301180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4784" y="31375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256" y="3806190"/>
              <a:ext cx="27322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 0.20 ｜ 剩余 0.09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780" y="4257675"/>
              <a:ext cx="3535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真实工艺回收约 0.16，不含阈值假象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0880" y="2521268"/>
            <a:ext cx="4198620" cy="2277427"/>
            <a:chOff x="7040880" y="2521268"/>
            <a:chExt cx="4198620" cy="2277427"/>
          </a:xfrm>
        </p:grpSpPr>
        <p:sp>
          <p:nvSpPr>
            <p:cNvPr id="15" name="TextBox 15"/>
            <p:cNvSpPr txBox="1"/>
            <p:nvPr/>
          </p:nvSpPr>
          <p:spPr>
            <a:xfrm>
              <a:off x="7041642" y="2521268"/>
              <a:ext cx="1552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REMAINING GAP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3048000"/>
              <a:ext cx="4191000" cy="2667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48500" y="3048000"/>
              <a:ext cx="188595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934450" y="3048000"/>
              <a:ext cx="14668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880" y="3552825"/>
              <a:ext cx="2884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已回收 0.22 表观 / 0.16 真实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0880" y="3933825"/>
              <a:ext cx="2746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剩余挂在后淋洗与 hood 气帘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4505325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禁止把 recipe 收热算作回收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729" y="623601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00083" y="62522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72859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主指标在回收，捕获率已从阈值假象拉回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P02 / 08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9704" y="1356360"/>
            <a:ext cx="9348826" cy="234696"/>
            <a:chOff x="679704" y="1356360"/>
            <a:chExt cx="9348826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1356360"/>
              <a:ext cx="6858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METRIC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2904" y="13563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W31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7904" y="13563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W33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3404" y="1356360"/>
              <a:ext cx="69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8904" y="1356360"/>
              <a:ext cx="509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ROLE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1600200"/>
            <a:ext cx="11125200" cy="4329684"/>
            <a:chOff x="533400" y="1600200"/>
            <a:chExt cx="11125200" cy="4329684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1600200"/>
              <a:ext cx="11125200" cy="614934"/>
              <a:chOff x="533400" y="1600200"/>
              <a:chExt cx="11125200" cy="614934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533400" y="16002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76656" y="1863090"/>
                <a:ext cx="10607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D0 /cm²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21380" y="1895475"/>
                <a:ext cx="4846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0.51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4856" y="1863090"/>
                <a:ext cx="5815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21880" y="1895475"/>
                <a:ext cx="4846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0.20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517380" y="1895475"/>
                <a:ext cx="6553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主指标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2343150"/>
              <a:ext cx="11125200" cy="614934"/>
              <a:chOff x="533400" y="2343150"/>
              <a:chExt cx="11125200" cy="614934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533400" y="23431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6656" y="2606040"/>
                <a:ext cx="10341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Capture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21380" y="2638425"/>
                <a:ext cx="409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92%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4856" y="260604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91%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21880" y="2638425"/>
                <a:ext cx="5273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≥90%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17380" y="2638425"/>
                <a:ext cx="441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监控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3400" y="3086100"/>
              <a:ext cx="11125200" cy="614934"/>
              <a:chOff x="533400" y="3086100"/>
              <a:chExt cx="11125200" cy="614934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533400" y="30861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6656" y="3348990"/>
                <a:ext cx="11092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Nuisance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21380" y="3381375"/>
                <a:ext cx="409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21%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4856" y="334899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21880" y="3381375"/>
                <a:ext cx="5273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≤12%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17380" y="3381375"/>
                <a:ext cx="441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监控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3829050"/>
              <a:ext cx="11125200" cy="614934"/>
              <a:chOff x="533400" y="3829050"/>
              <a:chExt cx="11125200" cy="614934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533400" y="38290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6656" y="409194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SNV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421380" y="4124325"/>
                <a:ext cx="409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28%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24856" y="409194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22%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421880" y="4124325"/>
                <a:ext cx="5273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≤15%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17380" y="4124325"/>
                <a:ext cx="441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监控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33400" y="4572000"/>
              <a:ext cx="11125200" cy="614934"/>
              <a:chOff x="533400" y="4572000"/>
              <a:chExt cx="11125200" cy="614934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533400" y="45720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6656" y="4834890"/>
                <a:ext cx="119969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PWP S02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421380" y="4867275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41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24856" y="48348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27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421880" y="4867275"/>
                <a:ext cx="3672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≤12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517380" y="4867275"/>
                <a:ext cx="441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设备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33400" y="5314950"/>
              <a:ext cx="11125200" cy="614934"/>
              <a:chOff x="533400" y="5314950"/>
              <a:chExt cx="11125200" cy="614934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533400" y="53149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6656" y="5577840"/>
                <a:ext cx="7525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Adder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421380" y="5610225"/>
                <a:ext cx="601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+0.38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24856" y="5577840"/>
                <a:ext cx="7223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+0.24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421880" y="5610225"/>
                <a:ext cx="601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+0.07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517380" y="5610225"/>
                <a:ext cx="441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当层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78101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已关闭动作解释 0.16，剩余 0.09 仍是水印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P03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080260"/>
            <a:ext cx="11010900" cy="4032885"/>
            <a:chOff x="609600" y="2080260"/>
            <a:chExt cx="11010900" cy="4032885"/>
          </a:xfrm>
        </p:grpSpPr>
        <p:sp>
          <p:nvSpPr>
            <p:cNvPr id="7" name="Line 7"/>
            <p:cNvSpPr/>
            <p:nvPr/>
          </p:nvSpPr>
          <p:spPr>
            <a:xfrm>
              <a:off x="609600" y="53340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42291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0654" y="4023360"/>
              <a:ext cx="780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 0.20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" y="2438400"/>
              <a:ext cx="685800" cy="762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1835" y="22326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W31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52550" y="2514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14500" y="2286000"/>
              <a:ext cx="685800" cy="2286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0616" y="20802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阈值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0030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62250" y="2286000"/>
              <a:ext cx="685800" cy="39052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28366" y="20802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台面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4805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2676525"/>
              <a:ext cx="685800" cy="3333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76116" y="2470785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淋洗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95800" y="26765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3009900"/>
              <a:ext cx="685800" cy="1714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23866" y="2804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换桶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543550" y="30099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3181350"/>
              <a:ext cx="685800" cy="5524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71616" y="297561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其他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3181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53250" y="3733800"/>
              <a:ext cx="685800" cy="16002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98335" y="35280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W33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130" y="5819775"/>
              <a:ext cx="6514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阈值回退 +0.04 不计入工艺回收。残差 0.09 待 hood 与 EBR。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52696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检测阈值回退，不算工艺回收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P04 / 08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7200" y="1600200"/>
            <a:ext cx="11277600" cy="4381500"/>
            <a:chOff x="457200" y="1600200"/>
            <a:chExt cx="11277600" cy="4381500"/>
          </a:xfrm>
        </p:grpSpPr>
        <p:sp>
          <p:nvSpPr>
            <p:cNvPr id="7" name="Rectangle 7"/>
            <p:cNvSpPr/>
            <p:nvPr/>
          </p:nvSpPr>
          <p:spPr>
            <a:xfrm>
              <a:off x="45720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178689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276475"/>
              <a:ext cx="236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已关：换桶、部分后淋洗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657475"/>
              <a:ext cx="27744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未关：EBR、全量后淋洗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190875"/>
              <a:ext cx="2670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红线：不改 PEB 赶进度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2435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3806" y="178689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5330" y="227647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已关：晶圆台清洁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45330" y="2657475"/>
              <a:ext cx="3163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未关：气帘复测、TOC 点检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5330" y="3190875"/>
              <a:ext cx="2575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红线：不降扫描速度换缺陷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1600200"/>
              <a:ext cx="354330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64550" y="1797050"/>
              <a:ext cx="177801" cy="177801"/>
              <a:chOff x="8464550" y="1797050"/>
              <a:chExt cx="177801" cy="1778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464550" y="18415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86775" y="1797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86775" y="18859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531225" y="19081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53450" y="17970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553450" y="195262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7901" y="1808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20126" y="179705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20126" y="185261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791956" y="178689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检测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2480" y="227647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已关：回退收阈值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2480" y="2657475"/>
              <a:ext cx="1349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冻结至 W35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2480" y="3190875"/>
              <a:ext cx="2787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禁止用阈值制造 D0 下降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2480" y="3933825"/>
              <a:ext cx="1729740" cy="674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捕获率 84%→91%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假回收已从曲线剔除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6810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后淋洗有效但未完成，必须叠加 hood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P05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10668000" cy="3429000"/>
            <a:chOff x="762000" y="1905000"/>
            <a:chExt cx="106680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84933" y="2167890"/>
              <a:ext cx="1526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后淋洗开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0709" y="31375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92881" y="3743325"/>
              <a:ext cx="1910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D0 /cm² 六对 split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40280" y="460057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起停点富集 1.6×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80933" y="2167890"/>
              <a:ext cx="1526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 无后淋洗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86709" y="31375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0" y="3743325"/>
              <a:ext cx="1409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D0 /cm² 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6280" y="460057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起停点富集 3.4×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85820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W33 的 0.29 仍在控制上限之上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P06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5185" y="2270760"/>
            <a:ext cx="10294315" cy="3549396"/>
            <a:chOff x="945185" y="2270760"/>
            <a:chExt cx="10294315" cy="3549396"/>
          </a:xfrm>
        </p:grpSpPr>
        <p:sp>
          <p:nvSpPr>
            <p:cNvPr id="7" name="Line 7"/>
            <p:cNvSpPr/>
            <p:nvPr/>
          </p:nvSpPr>
          <p:spPr>
            <a:xfrm>
              <a:off x="952500" y="5334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2291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7909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rgbClr val="7A0000"/>
              </a:solidFill>
              <a:custDash>
                <a:ds d="266667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1654" y="4023360"/>
              <a:ext cx="780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 0.20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3585210"/>
              <a:ext cx="872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UCL 0.28</a:t>
              </a:r>
            </a:p>
          </p:txBody>
        </p:sp>
        <p:sp>
          <p:nvSpPr>
            <p:cNvPr id="12" name="Polyline 12"/>
            <p:cNvSpPr/>
            <p:nvPr/>
          </p:nvSpPr>
          <p:spPr>
            <a:xfrm>
              <a:off x="1143000" y="2514600"/>
              <a:ext cx="8667750" cy="1933575"/>
            </a:xfrm>
            <a:custGeom>
              <a:avLst/>
              <a:gdLst/>
              <a:ahLst/>
              <a:cxnLst/>
              <a:rect l="l" t="t" r="r" b="b"/>
              <a:pathLst>
                <a:path w="8667750" h="1933575">
                  <a:moveTo>
                    <a:pt x="0" y="1885950"/>
                  </a:moveTo>
                  <a:lnTo>
                    <a:pt x="1238250" y="1828800"/>
                  </a:lnTo>
                  <a:lnTo>
                    <a:pt x="2476500" y="1933575"/>
                  </a:lnTo>
                  <a:lnTo>
                    <a:pt x="3714750" y="1771650"/>
                  </a:lnTo>
                  <a:lnTo>
                    <a:pt x="4953000" y="1828800"/>
                  </a:lnTo>
                  <a:lnTo>
                    <a:pt x="6191250" y="0"/>
                  </a:lnTo>
                  <a:lnTo>
                    <a:pt x="7429500" y="771525"/>
                  </a:lnTo>
                  <a:lnTo>
                    <a:pt x="8667750" y="1219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85850" y="43434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518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9147" y="41567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0.17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324100" y="42862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8343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7397" y="40995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0.18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62350" y="43910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2168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W28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5647" y="420433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0.16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800600" y="42291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5993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W29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3897" y="40424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0.19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8850" y="42862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818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02147" y="40995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0.18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77100" y="2457450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643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W31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40397" y="22707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0.51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15350" y="3228975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468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W32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8647" y="304228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0.37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53600" y="3676650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12935" y="55854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W33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16897" y="34899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88168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若只做淋洗，W35 仍可能停在 0.24 以上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P07 / 08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sp>
          <p:nvSpPr>
            <p:cNvPr id="7" name="Rectangle 7"/>
            <p:cNvSpPr/>
            <p:nvPr/>
          </p:nvSpPr>
          <p:spPr>
            <a:xfrm>
              <a:off x="533400" y="16002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2856" y="1977390"/>
              <a:ext cx="52859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R01 Hood 气帘未复测，扫描起停点仍 1.6×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6670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3044190"/>
              <a:ext cx="5272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R02 EBR 未做，边缘回运继续贡献残差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7338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10990"/>
              <a:ext cx="5425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R03 只淋洗不叠加 hood，预测停在 0.24 以上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8006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2856" y="5177790"/>
              <a:ext cx="528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R04 再次收阈值会让回收曲线不可审计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157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91840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W35 释放必须同时满足 D0、PWP 和捕获率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P08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3602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939290"/>
                <a:ext cx="51947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连续 2 周 D0 ≤0.20，且 S02 PWP ≤12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3006090"/>
                <a:ext cx="3602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3006090"/>
                <a:ext cx="59874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水印占 SEM 分类 ≤15%，起停点富集 ≤1.5×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4072890"/>
                <a:ext cx="3602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4072890"/>
                <a:ext cx="56539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Capture ≥90%，Nuisance ≤12%，不得靠收阈值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5139690"/>
                <a:ext cx="3602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5139690"/>
                <a:ext cx="62206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W35 仍高于 0.24，升级为浸没头更换评估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00083" y="6480810"/>
              <a:ext cx="254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DEF-REC-W33-08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metric_recovery_redwhite">
  <a:themeElements>
    <a:clrScheme name="immersion_defect_metric_recovery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metric_recovery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metric_recovery_redwhite">
  <a:themeElements>
    <a:clrScheme name="immersion_defect_metric_recovery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metric_recovery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2026-08-14T06:23:57Z</dcterms:created>
  <dcterms:modified xsi:type="dcterms:W3CDTF">2026-08-14T06:23:57Z</dcterms:modified>
  <cp:category/>
  <cp:contentStatus/>
</cp:coreProperties>
</file>