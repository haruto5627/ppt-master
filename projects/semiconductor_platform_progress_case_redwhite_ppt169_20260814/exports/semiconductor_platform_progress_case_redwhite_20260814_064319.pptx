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  <Relationship Id="rId1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一份演示用虚构案例，所有项目日期、设备状态、参数和预算都不代表真实企业或行业标准。当前项目总体完成度为百分之六十八点六，已经从基础建设进入设备集中安装和首批能力验证阶段。虽然相较基线落后四点一个百分点，但真正决定验收结果的，是接下来关键路径的关闭速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管理结论：项目仍有机会守住十二月十五日的阶段验收目标。十个设备包中已有六个到场、五个完成安装、三个进入联调，但目前只有一个通过阶段验收，二十类测试方法也只有八类可执行。UPS容量、数据平台合同、设备物流和量测资源构成四项高关注风险；如果五项管理决策按八月十六日至二十一日的窗口完成，项目预计可以追回七到十天，否则关键路径最大可能延误十五天。以上均为演示用虚构数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平台能力不是设备采购清单，而是设施底座、工艺设备、量测诊断和数据追溯共同构成的闭环。洁净环境、真空、特气、冷却水、供电和排风先满足设施可用，设备再依次通过安装检查、空载运行和工艺重复性验证。最后，只有跨设备数据链完整率和关键指标一次通过率达到案例门槛，平台才具备正式放行条件。这里的能力范围与四级阶段门均为演示用虚构设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工作包进度显示，需求定义、详细设计和安全评审已经完成，洁净环境也达到百分之九十二。当前偏差主要集中在公用工程百分之七十八、设备安装百分之四十八、系统联调百分之二十二以及能力验证百分之十二。全部设备到场、核心安装和多机联调分别预测延后十天、七天和五天，但项目仍计划通过并行验证维持十二月十五日的阶段验收目标。这些完成率和日期均为演示用虚构数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设施侧已经具备最多三台设备并行调试的基础条件，但并行能力仍受UPS和特气限制。洁净环境综合合格率为百分之九十四点二，普通供电完成十六个回路送电，冷却水十二个支路中九个可用；与此同时，UPS当前可用容量只有四百二十千伏安，特气还有六个末端点位和两项联锁逻辑待关闭。因此，在整改完成前，平台只能安排一台高负载设备和两台低负载设备同时联调，相关带片验证也必须服从EHS放行要求。所有参数均为案例内部虚构口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设备链路从十个采购包逐步收敛为九个合同生效、六个到场、五个安装完成、三个进入联调和一个阶段验收通过。这个漏斗说明瓶颈已经从采购端转移到联调与验收转化。E02需要完成厚度均匀性复测，E03等待特气联锁，E10则必须在八月十八日前锁定核心接口分段交付策略。设备名称、节点和完成度均为演示用虚构数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能力形成看，二十类测试方法中只有八类可执行，整体覆盖率为百分之四十。刻蚀三类方法已经全部可用，薄膜沉积和热处理处于爬坡阶段，而真空诊断与电学测试仍未形成能力。当前最小闭环已经覆盖E01处理、临时膜厚量测和批次数据归档，并完成十八批次、二百一十六个样品的案例验证。未来把覆盖率提升到百分之八十五，关键取决于量测设备到位和数据链打通；以上均为演示用虚构数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前十项阶段验收指标中四项通过、六项未通过，一次通过率只有百分之四十。通过项包括刻蚀与沉积重复性、刻蚀七十二小时可用率以及报警响应；未通过项则横跨设备稳定性、吞吐量、真空恢复、温度稳定性和数据完整性。关闭路径必须并行推进：三项依靠参数优化，两项依靠设施整改，一项依靠数据规则修订。同时，设备操作SOP仅批准十九份，认证操作员为三十一人，虽然EHS没有高风险开放项，但所有关键联锁仍必须百分之百通过后才能放行。这些门槛与实测值均为演示用虚构数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项高关注风险正在共同挤压关键路径。UPS容量不足可能使联调延后八到十二天，数据平台合同未锁定可能使数据验收延后十到十五天，E09物流延误会拖慢电学覆盖，量测资源不足则让验证日均多等待六小时。风险矩阵只表达管理分区，概率与影响通过标签给出，并不代表精密统计模型。若不干预，最大延期风险为十五天；若按节点完成扩容、合同、物流和租用决策，预计可追回七到十天，所有数字均为虚构案例数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未来十三周分为设施放行、设备收口、多机验证和预验收四段。前四周要关闭设施与特气联锁并完成UPS切换，第六周前完成九台设备安装，第八周打通四台设备、两套量测和一套数据平台，第十周完成十台设备安装收口。第十二周要让四台核心设备完成七十二小时稳定性验证，第十三周形成预验收报告。九十天目标是把安装率提升到百分之百、方法覆盖率提升到百分之八十五、一次通过率提升到至少百分之八十，并把认证操作员增加到四十二人；这些均为演示用虚构目标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需要管理层在五天决策窗口内确认五项事项：UPS扩容、数据平台分段交付、临时量测、E09加急与替代通道，以及六名专职人员调配。对应的演示预算分别为一百二十万元、首阶段二百六十万元、三十五万元和十八万元，人员投入持续十周。建议坚持阶段验收优先、设施与设备分层放行，但EHS红线不得豁免；当关键任务延期超过五天或预算偏差超过百分之十时，应自动升级。请对五项决策作出批准、调整或退回的明确结论；所有金额与日期均为演示用虚构数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miconductor_platform_progress_case_redwhi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miconductor_platform_progress_case_redwhit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557784" y="635318"/>
            <a:ext cx="4442841" cy="1345882"/>
            <a:chOff x="557784" y="635318"/>
            <a:chExt cx="4442841" cy="1345882"/>
          </a:xfrm>
        </p:grpSpPr>
        <p:sp>
          <p:nvSpPr>
            <p:cNvPr id="3" name="TextBox 3"/>
            <p:cNvSpPr txBox="1"/>
            <p:nvPr/>
          </p:nvSpPr>
          <p:spPr>
            <a:xfrm>
              <a:off x="564642" y="635318"/>
              <a:ext cx="4010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PROJECT REVIEW · 2026-08-12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784" y="965835"/>
              <a:ext cx="3627882" cy="1004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半导体设备实验平台</a:t>
              </a:r>
              <a:br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能力建设项目阶段汇报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971675"/>
              <a:ext cx="4429125" cy="9525"/>
            </a:xfrm>
            <a:custGeom>
              <a:avLst/>
              <a:gdLst/>
              <a:ahLst/>
              <a:cxnLst/>
              <a:rect l="l" t="t" r="r" b="b"/>
              <a:pathLst>
                <a:path w="4429125" h="9525">
                  <a:moveTo>
                    <a:pt x="0" y="0"/>
                  </a:moveTo>
                  <a:lnTo>
                    <a:pt x="442912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2711768"/>
            <a:ext cx="4631436" cy="2334577"/>
            <a:chOff x="557784" y="2711768"/>
            <a:chExt cx="4631436" cy="2334577"/>
          </a:xfrm>
        </p:grpSpPr>
        <p:sp>
          <p:nvSpPr>
            <p:cNvPr id="7" name="TextBox 7"/>
            <p:cNvSpPr txBox="1"/>
            <p:nvPr/>
          </p:nvSpPr>
          <p:spPr>
            <a:xfrm>
              <a:off x="564642" y="2711768"/>
              <a:ext cx="2832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OVERALL COMPLETION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7784" y="3566160"/>
              <a:ext cx="12170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68.6%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41148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71500" y="40195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095750" y="40195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2356" y="4320540"/>
              <a:ext cx="46268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设施收口｜设备集中安装｜首批能力验证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880" y="47529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较基线计划落后 4.1 个百分点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638800" y="1714500"/>
            <a:ext cx="5505450" cy="3775901"/>
            <a:chOff x="5638800" y="1714500"/>
            <a:chExt cx="5505450" cy="3775901"/>
          </a:xfrm>
        </p:grpSpPr>
        <p:sp>
          <p:nvSpPr>
            <p:cNvPr id="15" name="Polygon 15"/>
            <p:cNvSpPr/>
            <p:nvPr/>
          </p:nvSpPr>
          <p:spPr>
            <a:xfrm>
              <a:off x="6153150" y="2381250"/>
              <a:ext cx="4467225" cy="1409700"/>
            </a:xfrm>
            <a:custGeom>
              <a:avLst/>
              <a:gdLst/>
              <a:ahLst/>
              <a:cxnLst/>
              <a:rect l="l" t="t" r="r" b="b"/>
              <a:pathLst>
                <a:path w="4467225" h="1409700">
                  <a:moveTo>
                    <a:pt x="0" y="647700"/>
                  </a:moveTo>
                  <a:lnTo>
                    <a:pt x="2038350" y="0"/>
                  </a:lnTo>
                  <a:lnTo>
                    <a:pt x="4467225" y="704850"/>
                  </a:lnTo>
                  <a:lnTo>
                    <a:pt x="2371725" y="14097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6153150" y="3028950"/>
              <a:ext cx="2371725" cy="1733550"/>
            </a:xfrm>
            <a:custGeom>
              <a:avLst/>
              <a:gdLst/>
              <a:ahLst/>
              <a:cxnLst/>
              <a:rect l="l" t="t" r="r" b="b"/>
              <a:pathLst>
                <a:path w="2371725" h="1733550">
                  <a:moveTo>
                    <a:pt x="0" y="0"/>
                  </a:moveTo>
                  <a:lnTo>
                    <a:pt x="0" y="990600"/>
                  </a:lnTo>
                  <a:lnTo>
                    <a:pt x="2371725" y="1733550"/>
                  </a:lnTo>
                  <a:lnTo>
                    <a:pt x="2371725" y="7620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8524875" y="3086100"/>
              <a:ext cx="2095500" cy="1676400"/>
            </a:xfrm>
            <a:custGeom>
              <a:avLst/>
              <a:gdLst/>
              <a:ahLst/>
              <a:cxnLst/>
              <a:rect l="l" t="t" r="r" b="b"/>
              <a:pathLst>
                <a:path w="2095500" h="1676400">
                  <a:moveTo>
                    <a:pt x="0" y="704850"/>
                  </a:moveTo>
                  <a:lnTo>
                    <a:pt x="2095500" y="0"/>
                  </a:lnTo>
                  <a:lnTo>
                    <a:pt x="2095500" y="981075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6838950" y="2800350"/>
              <a:ext cx="1962150" cy="619125"/>
            </a:xfrm>
            <a:custGeom>
              <a:avLst/>
              <a:gdLst/>
              <a:ahLst/>
              <a:cxnLst/>
              <a:rect l="l" t="t" r="r" b="b"/>
              <a:pathLst>
                <a:path w="1962150" h="619125">
                  <a:moveTo>
                    <a:pt x="0" y="333375"/>
                  </a:moveTo>
                  <a:lnTo>
                    <a:pt x="1047750" y="0"/>
                  </a:lnTo>
                  <a:lnTo>
                    <a:pt x="1962150" y="276225"/>
                  </a:lnTo>
                  <a:lnTo>
                    <a:pt x="895350" y="619125"/>
                  </a:lnTo>
                  <a:close/>
                </a:path>
              </a:pathLst>
            </a:cu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6838950" y="3133725"/>
              <a:ext cx="895350" cy="857250"/>
            </a:xfrm>
            <a:custGeom>
              <a:avLst/>
              <a:gdLst/>
              <a:ahLst/>
              <a:cxnLst/>
              <a:rect l="l" t="t" r="r" b="b"/>
              <a:pathLst>
                <a:path w="895350" h="857250">
                  <a:moveTo>
                    <a:pt x="0" y="0"/>
                  </a:moveTo>
                  <a:lnTo>
                    <a:pt x="0" y="571500"/>
                  </a:lnTo>
                  <a:lnTo>
                    <a:pt x="895350" y="857250"/>
                  </a:lnTo>
                  <a:lnTo>
                    <a:pt x="895350" y="28575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7734300" y="3076575"/>
              <a:ext cx="1066800" cy="914400"/>
            </a:xfrm>
            <a:custGeom>
              <a:avLst/>
              <a:gdLst/>
              <a:ahLst/>
              <a:cxnLst/>
              <a:rect l="l" t="t" r="r" b="b"/>
              <a:pathLst>
                <a:path w="1066800" h="914400">
                  <a:moveTo>
                    <a:pt x="0" y="342900"/>
                  </a:moveTo>
                  <a:lnTo>
                    <a:pt x="1066800" y="0"/>
                  </a:lnTo>
                  <a:lnTo>
                    <a:pt x="1066800" y="5715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9001125" y="3009900"/>
              <a:ext cx="1285875" cy="419100"/>
            </a:xfrm>
            <a:custGeom>
              <a:avLst/>
              <a:gdLst/>
              <a:ahLst/>
              <a:cxnLst/>
              <a:rect l="l" t="t" r="r" b="b"/>
              <a:pathLst>
                <a:path w="1285875" h="419100">
                  <a:moveTo>
                    <a:pt x="0" y="238125"/>
                  </a:moveTo>
                  <a:lnTo>
                    <a:pt x="762000" y="0"/>
                  </a:lnTo>
                  <a:lnTo>
                    <a:pt x="1285875" y="171450"/>
                  </a:lnTo>
                  <a:lnTo>
                    <a:pt x="523875" y="419100"/>
                  </a:lnTo>
                  <a:close/>
                </a:path>
              </a:pathLst>
            </a:custGeom>
            <a:solidFill>
              <a:schemeClr val="accent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9001125" y="3248025"/>
              <a:ext cx="523875" cy="666750"/>
            </a:xfrm>
            <a:custGeom>
              <a:avLst/>
              <a:gdLst/>
              <a:ahLst/>
              <a:cxnLst/>
              <a:rect l="l" t="t" r="r" b="b"/>
              <a:pathLst>
                <a:path w="523875" h="666750">
                  <a:moveTo>
                    <a:pt x="0" y="0"/>
                  </a:moveTo>
                  <a:lnTo>
                    <a:pt x="0" y="495300"/>
                  </a:lnTo>
                  <a:lnTo>
                    <a:pt x="523875" y="666750"/>
                  </a:lnTo>
                  <a:lnTo>
                    <a:pt x="523875" y="180975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9525000" y="3181350"/>
              <a:ext cx="762000" cy="733425"/>
            </a:xfrm>
            <a:custGeom>
              <a:avLst/>
              <a:gdLst/>
              <a:ahLst/>
              <a:cxnLst/>
              <a:rect l="l" t="t" r="r" b="b"/>
              <a:pathLst>
                <a:path w="762000" h="733425">
                  <a:moveTo>
                    <a:pt x="0" y="247650"/>
                  </a:moveTo>
                  <a:lnTo>
                    <a:pt x="762000" y="0"/>
                  </a:lnTo>
                  <a:lnTo>
                    <a:pt x="762000" y="495300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762625" y="1809750"/>
              <a:ext cx="2619375" cy="838200"/>
            </a:xfrm>
            <a:custGeom>
              <a:avLst/>
              <a:gdLst/>
              <a:ahLst/>
              <a:cxnLst/>
              <a:rect l="l" t="t" r="r" b="b"/>
              <a:pathLst>
                <a:path w="2619375" h="838200">
                  <a:moveTo>
                    <a:pt x="0" y="838200"/>
                  </a:moveTo>
                  <a:lnTo>
                    <a:pt x="2619375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762625" y="25527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382000" y="1714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93892" y="2235518"/>
              <a:ext cx="3161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FACILITY / EQUIPMENT / DATA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5715000" y="4238625"/>
              <a:ext cx="5334000" cy="809625"/>
            </a:xfrm>
            <a:custGeom>
              <a:avLst/>
              <a:gdLst/>
              <a:ahLst/>
              <a:cxnLst/>
              <a:rect l="l" t="t" r="r" b="b"/>
              <a:pathLst>
                <a:path w="5334000" h="809625">
                  <a:moveTo>
                    <a:pt x="0" y="809625"/>
                  </a:moveTo>
                  <a:lnTo>
                    <a:pt x="1809750" y="809625"/>
                  </a:lnTo>
                  <a:lnTo>
                    <a:pt x="1809750" y="238125"/>
                  </a:lnTo>
                  <a:lnTo>
                    <a:pt x="3143250" y="238125"/>
                  </a:lnTo>
                  <a:lnTo>
                    <a:pt x="3143250" y="0"/>
                  </a:lnTo>
                  <a:lnTo>
                    <a:pt x="5334000" y="0"/>
                  </a:lnTo>
                </a:path>
              </a:pathLst>
            </a:custGeom>
            <a:noFill/>
            <a:ln w="47625" cap="rnd">
              <a:solidFill>
                <a:schemeClr val="accent1"/>
              </a:solidFill>
              <a:round/>
            </a:ln>
          </p:spPr>
        </p:sp>
        <p:sp>
          <p:nvSpPr>
            <p:cNvPr id="29" name="Ellipse 29"/>
            <p:cNvSpPr/>
            <p:nvPr/>
          </p:nvSpPr>
          <p:spPr>
            <a:xfrm>
              <a:off x="5638800" y="49720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7448550" y="44005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8782050" y="416242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953750" y="4143375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08142" y="5226368"/>
              <a:ext cx="923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FACILITY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27392" y="4188142"/>
              <a:ext cx="853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INSTALL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08517" y="3950018"/>
              <a:ext cx="7248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VERIFY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27767" y="3950018"/>
              <a:ext cx="7831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ACCEPT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6153150"/>
            <a:ext cx="11055096" cy="327851"/>
            <a:chOff x="571500" y="6153150"/>
            <a:chExt cx="11055096" cy="327851"/>
          </a:xfrm>
        </p:grpSpPr>
        <p:sp>
          <p:nvSpPr>
            <p:cNvPr id="38" name="Rectangle 38"/>
            <p:cNvSpPr/>
            <p:nvPr/>
          </p:nvSpPr>
          <p:spPr>
            <a:xfrm>
              <a:off x="571500" y="6153150"/>
              <a:ext cx="180975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3829" y="6216968"/>
              <a:ext cx="1425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演示用虚构案例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88350" y="6233160"/>
              <a:ext cx="3038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LAB-PLATFORM-PR-01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7784" y="451485"/>
            <a:ext cx="10149017" cy="724090"/>
            <a:chOff x="557784" y="451485"/>
            <a:chExt cx="10149017" cy="724090"/>
          </a:xfrm>
        </p:grpSpPr>
        <p:sp>
          <p:nvSpPr>
            <p:cNvPr id="3" name="TextBox 3"/>
            <p:cNvSpPr txBox="1"/>
            <p:nvPr/>
          </p:nvSpPr>
          <p:spPr>
            <a:xfrm>
              <a:off x="557784" y="451485"/>
              <a:ext cx="1014901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项目仍可守住12月验收，但四项高关注风险必须立即升级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11542"/>
              <a:ext cx="5365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EXECUTIVE SIGNAL BOARD · DATA DATE 2026-08-12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524000"/>
            <a:ext cx="3118104" cy="3905250"/>
            <a:chOff x="571500" y="1524000"/>
            <a:chExt cx="3118104" cy="3905250"/>
          </a:xfrm>
        </p:grpSpPr>
        <p:sp>
          <p:nvSpPr>
            <p:cNvPr id="6" name="Rectangle 6"/>
            <p:cNvSpPr/>
            <p:nvPr/>
          </p:nvSpPr>
          <p:spPr>
            <a:xfrm>
              <a:off x="571500" y="1524000"/>
              <a:ext cx="2781300" cy="39052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47725" y="1800225"/>
              <a:ext cx="285750" cy="285750"/>
              <a:chOff x="847725" y="1800225"/>
              <a:chExt cx="285750" cy="2857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47725" y="18319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22350" y="19589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8225" y="18002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7725" y="19907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42975" y="1998663"/>
                <a:ext cx="79375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23813">
                    <a:moveTo>
                      <a:pt x="0" y="23813"/>
                    </a:moveTo>
                    <a:lnTo>
                      <a:pt x="793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03288" y="1887538"/>
                <a:ext cx="123984" cy="85249"/>
              </a:xfrm>
              <a:custGeom>
                <a:avLst/>
                <a:gdLst/>
                <a:ahLst/>
                <a:cxnLst/>
                <a:rect l="l" t="t" r="r" b="b"/>
                <a:pathLst>
                  <a:path w="123984" h="85249">
                    <a:moveTo>
                      <a:pt x="0" y="0"/>
                    </a:moveTo>
                    <a:lnTo>
                      <a:pt x="123984" y="85249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1225" y="1847850"/>
                <a:ext cx="1270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5875">
                    <a:moveTo>
                      <a:pt x="0" y="15875"/>
                    </a:move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93242" y="2292668"/>
              <a:ext cx="2489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OVERALL PROGRESS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384" y="2966085"/>
              <a:ext cx="12170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68.6%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00100" y="3524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0956" y="3729990"/>
              <a:ext cx="28986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较基线落后 4.1 个百分点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2480" y="4219575"/>
              <a:ext cx="23835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关键路径最大风险：15天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2480" y="4600575"/>
              <a:ext cx="2404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及时决策可追回：7–10天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3242" y="5035868"/>
              <a:ext cx="2333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TARGET · 2026-12-15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29050" y="1600200"/>
            <a:ext cx="2260854" cy="1699451"/>
            <a:chOff x="3829050" y="1600200"/>
            <a:chExt cx="2260854" cy="1699451"/>
          </a:xfrm>
        </p:grpSpPr>
        <p:sp>
          <p:nvSpPr>
            <p:cNvPr id="23" name="Line 23"/>
            <p:cNvSpPr/>
            <p:nvPr/>
          </p:nvSpPr>
          <p:spPr>
            <a:xfrm>
              <a:off x="3829050" y="1600200"/>
              <a:ext cx="9525" cy="1581150"/>
            </a:xfrm>
            <a:custGeom>
              <a:avLst/>
              <a:gdLst/>
              <a:ahLst/>
              <a:cxnLst/>
              <a:rect l="l" t="t" r="r" b="b"/>
              <a:pathLst>
                <a:path w="9525" h="1581150">
                  <a:moveTo>
                    <a:pt x="0" y="0"/>
                  </a:moveTo>
                  <a:lnTo>
                    <a:pt x="0" y="15811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4098131" y="1639270"/>
              <a:ext cx="244299" cy="244299"/>
              <a:chOff x="4098131" y="1639270"/>
              <a:chExt cx="244299" cy="24429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098131" y="1639270"/>
                <a:ext cx="244299" cy="244299"/>
              </a:xfrm>
              <a:custGeom>
                <a:avLst/>
                <a:gdLst/>
                <a:ahLst/>
                <a:cxnLst/>
                <a:rect l="l" t="t" r="r" b="b"/>
                <a:pathLst>
                  <a:path w="244299" h="244299">
                    <a:moveTo>
                      <a:pt x="0" y="244299"/>
                    </a:moveTo>
                    <a:lnTo>
                      <a:pt x="53975" y="244299"/>
                    </a:lnTo>
                    <a:lnTo>
                      <a:pt x="229394" y="68880"/>
                    </a:lnTo>
                    <a:cubicBezTo>
                      <a:pt x="244299" y="53975"/>
                      <a:pt x="244299" y="29810"/>
                      <a:pt x="229394" y="14905"/>
                    </a:cubicBezTo>
                    <a:cubicBezTo>
                      <a:pt x="214489" y="0"/>
                      <a:pt x="190324" y="0"/>
                      <a:pt x="175419" y="14905"/>
                    </a:cubicBezTo>
                    <a:lnTo>
                      <a:pt x="0" y="190324"/>
                    </a:lnTo>
                    <a:lnTo>
                      <a:pt x="0" y="244299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253310" y="167441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098131" y="1640681"/>
                <a:ext cx="121444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21444">
                    <a:moveTo>
                      <a:pt x="121444" y="67469"/>
                    </a:moveTo>
                    <a:lnTo>
                      <a:pt x="53975" y="0"/>
                    </a:lnTo>
                    <a:lnTo>
                      <a:pt x="0" y="53975"/>
                    </a:lnTo>
                    <a:lnTo>
                      <a:pt x="67469" y="121444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131866" y="1708150"/>
                <a:ext cx="20241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20241" h="20241">
                    <a:moveTo>
                      <a:pt x="20241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219575" y="1762125"/>
                <a:ext cx="121444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21444">
                    <a:moveTo>
                      <a:pt x="53975" y="0"/>
                    </a:moveTo>
                    <a:lnTo>
                      <a:pt x="121444" y="67469"/>
                    </a:lnTo>
                    <a:lnTo>
                      <a:pt x="67469" y="121444"/>
                    </a:ln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253310" y="1829594"/>
                <a:ext cx="20241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20241" h="20241">
                    <a:moveTo>
                      <a:pt x="20241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542282" y="16021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48506" y="1977390"/>
              <a:ext cx="2041398" cy="599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个设备包已到场，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个完成安装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48506" y="2510790"/>
              <a:ext cx="1812798" cy="599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个进入联调，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个阶段验收通过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50792" y="3035618"/>
              <a:ext cx="1857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 → 9 → 6 → 5 → 3 → 1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772400" y="1600200"/>
            <a:ext cx="3371621" cy="1699451"/>
            <a:chOff x="7772400" y="1600200"/>
            <a:chExt cx="3371621" cy="1699451"/>
          </a:xfrm>
        </p:grpSpPr>
        <p:sp>
          <p:nvSpPr>
            <p:cNvPr id="36" name="Line 36"/>
            <p:cNvSpPr/>
            <p:nvPr/>
          </p:nvSpPr>
          <p:spPr>
            <a:xfrm>
              <a:off x="7772400" y="1600200"/>
              <a:ext cx="9525" cy="1581150"/>
            </a:xfrm>
            <a:custGeom>
              <a:avLst/>
              <a:gdLst/>
              <a:ahLst/>
              <a:cxnLst/>
              <a:rect l="l" t="t" r="r" b="b"/>
              <a:pathLst>
                <a:path w="9525" h="1581150">
                  <a:moveTo>
                    <a:pt x="0" y="0"/>
                  </a:moveTo>
                  <a:lnTo>
                    <a:pt x="0" y="158115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027988" y="1694656"/>
              <a:ext cx="269876" cy="134938"/>
            </a:xfrm>
            <a:custGeom>
              <a:avLst/>
              <a:gdLst/>
              <a:ahLst/>
              <a:cxnLst/>
              <a:rect l="l" t="t" r="r" b="b"/>
              <a:pathLst>
                <a:path w="269876" h="134938">
                  <a:moveTo>
                    <a:pt x="0" y="67469"/>
                  </a:moveTo>
                  <a:lnTo>
                    <a:pt x="26988" y="67469"/>
                  </a:lnTo>
                  <a:lnTo>
                    <a:pt x="53975" y="0"/>
                  </a:lnTo>
                  <a:lnTo>
                    <a:pt x="94456" y="134938"/>
                  </a:lnTo>
                  <a:lnTo>
                    <a:pt x="134938" y="0"/>
                  </a:lnTo>
                  <a:lnTo>
                    <a:pt x="175419" y="134938"/>
                  </a:lnTo>
                  <a:lnTo>
                    <a:pt x="215901" y="0"/>
                  </a:lnTo>
                  <a:lnTo>
                    <a:pt x="236141" y="67469"/>
                  </a:lnTo>
                  <a:lnTo>
                    <a:pt x="269876" y="67469"/>
                  </a:lnTo>
                </a:path>
              </a:pathLst>
            </a:custGeom>
            <a:noFill/>
            <a:ln w="26988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85632" y="16021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91856" y="1977390"/>
              <a:ext cx="2350008" cy="599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已打通首条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“处理—量测—归档”闭环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91856" y="2510790"/>
              <a:ext cx="2658618" cy="599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 类方法中 8 类可执行，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覆盖率 40%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94142" y="3035618"/>
              <a:ext cx="31498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MINIMUM CLOSED LOOP · E01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29050" y="3467100"/>
            <a:ext cx="2535174" cy="1548384"/>
            <a:chOff x="3829050" y="3467100"/>
            <a:chExt cx="2535174" cy="1548384"/>
          </a:xfrm>
        </p:grpSpPr>
        <p:sp>
          <p:nvSpPr>
            <p:cNvPr id="43" name="Line 43"/>
            <p:cNvSpPr/>
            <p:nvPr/>
          </p:nvSpPr>
          <p:spPr>
            <a:xfrm>
              <a:off x="3829050" y="3467100"/>
              <a:ext cx="9525" cy="1485900"/>
            </a:xfrm>
            <a:custGeom>
              <a:avLst/>
              <a:gdLst/>
              <a:ahLst/>
              <a:cxnLst/>
              <a:rect l="l" t="t" r="r" b="b"/>
              <a:pathLst>
                <a:path w="9525" h="1485900">
                  <a:moveTo>
                    <a:pt x="0" y="0"/>
                  </a:moveTo>
                  <a:lnTo>
                    <a:pt x="0" y="148590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083489" y="3503098"/>
              <a:ext cx="272162" cy="233823"/>
              <a:chOff x="4083489" y="3503098"/>
              <a:chExt cx="272162" cy="2338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219575" y="3588544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083489" y="3503098"/>
                <a:ext cx="272162" cy="233823"/>
              </a:xfrm>
              <a:custGeom>
                <a:avLst/>
                <a:gdLst/>
                <a:ahLst/>
                <a:cxnLst/>
                <a:rect l="l" t="t" r="r" b="b"/>
                <a:pathLst>
                  <a:path w="272162" h="233823">
                    <a:moveTo>
                      <a:pt x="113997" y="12458"/>
                    </a:moveTo>
                    <a:lnTo>
                      <a:pt x="4616" y="195083"/>
                    </a:lnTo>
                    <a:cubicBezTo>
                      <a:pt x="28" y="203029"/>
                      <a:pt x="0" y="212812"/>
                      <a:pt x="4543" y="220785"/>
                    </a:cubicBezTo>
                    <a:cubicBezTo>
                      <a:pt x="9086" y="228757"/>
                      <a:pt x="17517" y="233720"/>
                      <a:pt x="26692" y="233823"/>
                    </a:cubicBezTo>
                    <a:lnTo>
                      <a:pt x="245480" y="233823"/>
                    </a:lnTo>
                    <a:cubicBezTo>
                      <a:pt x="254651" y="233717"/>
                      <a:pt x="263078" y="228756"/>
                      <a:pt x="267620" y="220788"/>
                    </a:cubicBezTo>
                    <a:cubicBezTo>
                      <a:pt x="272162" y="212820"/>
                      <a:pt x="272138" y="203041"/>
                      <a:pt x="267556" y="195096"/>
                    </a:cubicBezTo>
                    <a:lnTo>
                      <a:pt x="158176" y="12444"/>
                    </a:lnTo>
                    <a:cubicBezTo>
                      <a:pt x="153495" y="4719"/>
                      <a:pt x="145119" y="0"/>
                      <a:pt x="136086" y="0"/>
                    </a:cubicBezTo>
                    <a:cubicBezTo>
                      <a:pt x="127054" y="0"/>
                      <a:pt x="118677" y="4719"/>
                      <a:pt x="113997" y="1244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219575" y="36830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4542282" y="34690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048506" y="3882390"/>
              <a:ext cx="1538478" cy="599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UPS｜数据合同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物流｜量测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048506" y="4415790"/>
              <a:ext cx="2315718" cy="599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R01 / R02 / R04 / R06</a:t>
              </a:r>
              <a:br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管理升级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772400" y="3467100"/>
            <a:ext cx="4015130" cy="1219200"/>
            <a:chOff x="7772400" y="3467100"/>
            <a:chExt cx="4015130" cy="1219200"/>
          </a:xfrm>
        </p:grpSpPr>
        <p:sp>
          <p:nvSpPr>
            <p:cNvPr id="52" name="Line 52"/>
            <p:cNvSpPr/>
            <p:nvPr/>
          </p:nvSpPr>
          <p:spPr>
            <a:xfrm>
              <a:off x="7772400" y="3467100"/>
              <a:ext cx="9525" cy="1219200"/>
            </a:xfrm>
            <a:custGeom>
              <a:avLst/>
              <a:gdLst/>
              <a:ahLst/>
              <a:cxnLst/>
              <a:rect l="l" t="t" r="r" b="b"/>
              <a:pathLst>
                <a:path w="9525" h="1219200">
                  <a:moveTo>
                    <a:pt x="0" y="0"/>
                  </a:moveTo>
                  <a:lnTo>
                    <a:pt x="0" y="121920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068469" y="3521075"/>
              <a:ext cx="202407" cy="229394"/>
              <a:chOff x="8068469" y="3521075"/>
              <a:chExt cx="202407" cy="229394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068469" y="3521075"/>
                <a:ext cx="161925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15901">
                    <a:moveTo>
                      <a:pt x="62274" y="215901"/>
                    </a:move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89913" y="369649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2444" y="3575050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2444" y="3629025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485632" y="34690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91856" y="3939540"/>
              <a:ext cx="3795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D01–D05｜8月16–21日完成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91856" y="4301490"/>
              <a:ext cx="36027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按时确认即可维持阶段验收目标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441840" y="5286375"/>
            <a:ext cx="8165821" cy="565976"/>
            <a:chOff x="3441840" y="5286375"/>
            <a:chExt cx="8165821" cy="565976"/>
          </a:xfrm>
        </p:grpSpPr>
        <p:sp>
          <p:nvSpPr>
            <p:cNvPr id="62" name="Line 62"/>
            <p:cNvSpPr/>
            <p:nvPr/>
          </p:nvSpPr>
          <p:spPr>
            <a:xfrm>
              <a:off x="4000500" y="5391150"/>
              <a:ext cx="7334250" cy="9525"/>
            </a:xfrm>
            <a:custGeom>
              <a:avLst/>
              <a:gdLst/>
              <a:ahLst/>
              <a:cxnLst/>
              <a:rect l="l" t="t" r="r" b="b"/>
              <a:pathLst>
                <a:path w="7334250" h="9525">
                  <a:moveTo>
                    <a:pt x="0" y="0"/>
                  </a:moveTo>
                  <a:lnTo>
                    <a:pt x="73342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3990975" y="5286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5705475" y="5286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7419975" y="5286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9134475" y="5286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0848975" y="52863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441840" y="5588318"/>
              <a:ext cx="1307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D01 · 08/16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156340" y="5588318"/>
              <a:ext cx="1307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D02 · 08/18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70840" y="5588318"/>
              <a:ext cx="1307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D03 · 08/19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85340" y="5588318"/>
              <a:ext cx="1307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D04 · 08/20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299840" y="5588318"/>
              <a:ext cx="1307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D05 · 08/21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74" name="TextBox 74"/>
            <p:cNvSpPr txBox="1"/>
            <p:nvPr/>
          </p:nvSpPr>
          <p:spPr>
            <a:xfrm>
              <a:off x="565404" y="62903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演示用虚构数据｜不代表真实项目或行业标准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042599" y="6290310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7784" y="451485"/>
            <a:ext cx="9705442" cy="733616"/>
            <a:chOff x="557784" y="451485"/>
            <a:chExt cx="9705442" cy="733616"/>
          </a:xfrm>
        </p:grpSpPr>
        <p:sp>
          <p:nvSpPr>
            <p:cNvPr id="3" name="TextBox 3"/>
            <p:cNvSpPr txBox="1"/>
            <p:nvPr/>
          </p:nvSpPr>
          <p:spPr>
            <a:xfrm>
              <a:off x="557784" y="451485"/>
              <a:ext cx="97054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平台能力由设施、设备、量测数据与四级放行共同闭环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7510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SYSTEM ARCHITECTURE · CAPABILITY IS MORE THAN EQUIPMENT ARRIVAL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4762500"/>
            <a:ext cx="8382000" cy="971550"/>
            <a:chOff x="571500" y="4762500"/>
            <a:chExt cx="8382000" cy="971550"/>
          </a:xfrm>
        </p:grpSpPr>
        <p:sp>
          <p:nvSpPr>
            <p:cNvPr id="6" name="Rectangle 6"/>
            <p:cNvSpPr/>
            <p:nvPr/>
          </p:nvSpPr>
          <p:spPr>
            <a:xfrm>
              <a:off x="571500" y="4762500"/>
              <a:ext cx="8382000" cy="9715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31056" y="5060150"/>
              <a:ext cx="300038" cy="309569"/>
              <a:chOff x="831056" y="5060150"/>
              <a:chExt cx="300038" cy="30956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31056" y="5360194"/>
                <a:ext cx="3000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9525">
                    <a:moveTo>
                      <a:pt x="0" y="0"/>
                    </a:moveTo>
                    <a:lnTo>
                      <a:pt x="300038" y="0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64394" y="5160169"/>
                <a:ext cx="23336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00025">
                    <a:moveTo>
                      <a:pt x="0" y="200025"/>
                    </a:moveTo>
                    <a:lnTo>
                      <a:pt x="0" y="0"/>
                    </a:lnTo>
                    <a:lnTo>
                      <a:pt x="83344" y="66675"/>
                    </a:lnTo>
                    <a:lnTo>
                      <a:pt x="83344" y="0"/>
                    </a:lnTo>
                    <a:lnTo>
                      <a:pt x="166688" y="66675"/>
                    </a:lnTo>
                    <a:lnTo>
                      <a:pt x="233362" y="66675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14412" y="5060150"/>
                <a:ext cx="83344" cy="3000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300044">
                    <a:moveTo>
                      <a:pt x="83344" y="300044"/>
                    </a:moveTo>
                    <a:lnTo>
                      <a:pt x="83344" y="166694"/>
                    </a:lnTo>
                    <a:lnTo>
                      <a:pt x="59407" y="7107"/>
                    </a:lnTo>
                    <a:cubicBezTo>
                      <a:pt x="58796" y="3023"/>
                      <a:pt x="55286" y="2"/>
                      <a:pt x="51156" y="6"/>
                    </a:cubicBezTo>
                    <a:lnTo>
                      <a:pt x="32071" y="6"/>
                    </a:lnTo>
                    <a:cubicBezTo>
                      <a:pt x="27990" y="0"/>
                      <a:pt x="24505" y="2949"/>
                      <a:pt x="23836" y="6974"/>
                    </a:cubicBezTo>
                    <a:lnTo>
                      <a:pt x="0" y="150025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31069" y="5293519"/>
                <a:ext cx="166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9" h="9525">
                    <a:moveTo>
                      <a:pt x="0" y="0"/>
                    </a:moveTo>
                    <a:lnTo>
                      <a:pt x="16669" y="0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14412" y="5293519"/>
                <a:ext cx="166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9" h="9525">
                    <a:moveTo>
                      <a:pt x="0" y="0"/>
                    </a:moveTo>
                    <a:lnTo>
                      <a:pt x="16669" y="0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41882" y="4916805"/>
              <a:ext cx="12758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设施底座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44930" y="5343525"/>
              <a:ext cx="75156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洁净环境 · 中央真空 · 特气 · 冷却水 · 普通/UPS供电 · 排风监测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810000" y="4905375"/>
              <a:ext cx="9525" cy="695325"/>
            </a:xfrm>
            <a:custGeom>
              <a:avLst/>
              <a:gdLst/>
              <a:ahLst/>
              <a:cxnLst/>
              <a:rect l="l" t="t" r="r" b="b"/>
              <a:pathLst>
                <a:path w="9525" h="695325">
                  <a:moveTo>
                    <a:pt x="0" y="0"/>
                  </a:moveTo>
                  <a:lnTo>
                    <a:pt x="0" y="695325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088892" y="5073968"/>
              <a:ext cx="2158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G1 · FACILITY READY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88892" y="5378768"/>
              <a:ext cx="14923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高风险整改项 = 0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3238500"/>
            <a:ext cx="8382000" cy="1104900"/>
            <a:chOff x="571500" y="3238500"/>
            <a:chExt cx="8382000" cy="1104900"/>
          </a:xfrm>
        </p:grpSpPr>
        <p:sp>
          <p:nvSpPr>
            <p:cNvPr id="19" name="Rectangle 19"/>
            <p:cNvSpPr/>
            <p:nvPr/>
          </p:nvSpPr>
          <p:spPr>
            <a:xfrm>
              <a:off x="571500" y="3238500"/>
              <a:ext cx="8382000" cy="11049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14388" y="3679031"/>
              <a:ext cx="333375" cy="166688"/>
            </a:xfrm>
            <a:custGeom>
              <a:avLst/>
              <a:gdLst/>
              <a:ahLst/>
              <a:cxnLst/>
              <a:rect l="l" t="t" r="r" b="b"/>
              <a:pathLst>
                <a:path w="333375" h="166688">
                  <a:moveTo>
                    <a:pt x="0" y="83344"/>
                  </a:moveTo>
                  <a:lnTo>
                    <a:pt x="33338" y="83344"/>
                  </a:lnTo>
                  <a:lnTo>
                    <a:pt x="66675" y="0"/>
                  </a:lnTo>
                  <a:lnTo>
                    <a:pt x="116681" y="166688"/>
                  </a:lnTo>
                  <a:lnTo>
                    <a:pt x="166688" y="0"/>
                  </a:lnTo>
                  <a:lnTo>
                    <a:pt x="216694" y="166688"/>
                  </a:lnTo>
                  <a:lnTo>
                    <a:pt x="266700" y="0"/>
                  </a:lnTo>
                  <a:lnTo>
                    <a:pt x="291703" y="83344"/>
                  </a:lnTo>
                  <a:lnTo>
                    <a:pt x="333375" y="83344"/>
                  </a:lnTo>
                </a:path>
              </a:pathLst>
            </a:custGeom>
            <a:noFill/>
            <a:ln w="33338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41882" y="3430905"/>
              <a:ext cx="22168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工艺与设备能力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44930" y="3876675"/>
              <a:ext cx="5119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刻蚀 · PVD · CVD · ALD · 热处理 · 湿法清洗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334000" y="33813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12892" y="3492818"/>
              <a:ext cx="18557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G2 · TOOL READY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12892" y="3797618"/>
              <a:ext cx="2250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安装检查 100%｜空载 24h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2892" y="4064318"/>
              <a:ext cx="21938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G3 · PROCESS READY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1733550"/>
            <a:ext cx="8382000" cy="1104900"/>
            <a:chOff x="571500" y="1733550"/>
            <a:chExt cx="8382000" cy="1104900"/>
          </a:xfrm>
        </p:grpSpPr>
        <p:sp>
          <p:nvSpPr>
            <p:cNvPr id="28" name="Rectangle 28"/>
            <p:cNvSpPr/>
            <p:nvPr/>
          </p:nvSpPr>
          <p:spPr>
            <a:xfrm>
              <a:off x="571500" y="1733550"/>
              <a:ext cx="8382000" cy="11049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47725" y="2107406"/>
              <a:ext cx="266700" cy="300038"/>
              <a:chOff x="847725" y="2107406"/>
              <a:chExt cx="266700" cy="30003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47725" y="2107406"/>
                <a:ext cx="2667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00012">
                    <a:moveTo>
                      <a:pt x="0" y="50006"/>
                    </a:moveTo>
                    <a:cubicBezTo>
                      <a:pt x="0" y="77624"/>
                      <a:pt x="59703" y="100012"/>
                      <a:pt x="133350" y="100012"/>
                    </a:cubicBezTo>
                    <a:cubicBezTo>
                      <a:pt x="206997" y="100012"/>
                      <a:pt x="266700" y="77624"/>
                      <a:pt x="266700" y="50006"/>
                    </a:cubicBezTo>
                    <a:cubicBezTo>
                      <a:pt x="266700" y="22389"/>
                      <a:pt x="206997" y="0"/>
                      <a:pt x="133350" y="0"/>
                    </a:cubicBezTo>
                    <a:cubicBezTo>
                      <a:pt x="59703" y="0"/>
                      <a:pt x="0" y="22389"/>
                      <a:pt x="0" y="50006"/>
                    </a:cubicBez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47725" y="2157412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7725" y="2257425"/>
                <a:ext cx="26670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33338">
                <a:solidFill>
                  <a:schemeClr val="accent2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341882" y="1925955"/>
              <a:ext cx="31577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量测、诊断与数据追溯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44930" y="2371725"/>
              <a:ext cx="5263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膜厚量测 · 真空诊断 · 电学测试 · 样品流转 · 数据归档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00750" y="187642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79642" y="2025968"/>
              <a:ext cx="2368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G4 · PLATFORM READY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46292" y="2349818"/>
              <a:ext cx="2798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数据链 ≥99.5%｜一次通过 ≥90%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878786" y="1854518"/>
            <a:ext cx="2755430" cy="4087177"/>
            <a:chOff x="8878786" y="1854518"/>
            <a:chExt cx="2755430" cy="4087177"/>
          </a:xfrm>
        </p:grpSpPr>
        <p:sp>
          <p:nvSpPr>
            <p:cNvPr id="39" name="Line 39"/>
            <p:cNvSpPr/>
            <p:nvPr/>
          </p:nvSpPr>
          <p:spPr>
            <a:xfrm>
              <a:off x="9525000" y="2143125"/>
              <a:ext cx="9525" cy="3143250"/>
            </a:xfrm>
            <a:custGeom>
              <a:avLst/>
              <a:gdLst/>
              <a:ahLst/>
              <a:cxnLst/>
              <a:rect l="l" t="t" r="r" b="b"/>
              <a:pathLst>
                <a:path w="9525" h="3143250">
                  <a:moveTo>
                    <a:pt x="0" y="314325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391650" y="5153025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391650" y="38671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9391650" y="2581275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88830" y="5172075"/>
              <a:ext cx="1945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INFRASTRUCTURE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98380" y="3886200"/>
              <a:ext cx="1336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EQUIPMENT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98380" y="2600325"/>
              <a:ext cx="1310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CAPABILITY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78786" y="1854518"/>
              <a:ext cx="911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RELEASE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9334500" y="21431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31630" y="5648325"/>
              <a:ext cx="19674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设备到场 ≠ 平台可用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50" name="TextBox 50"/>
            <p:cNvSpPr txBox="1"/>
            <p:nvPr/>
          </p:nvSpPr>
          <p:spPr>
            <a:xfrm>
              <a:off x="565404" y="6290310"/>
              <a:ext cx="49347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演示用虚构数据｜能力范围和G1–G4门槛均为案例设定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042599" y="6290310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7784" y="451485"/>
            <a:ext cx="10108692" cy="733616"/>
            <a:chOff x="557784" y="451485"/>
            <a:chExt cx="10108692" cy="733616"/>
          </a:xfrm>
        </p:grpSpPr>
        <p:sp>
          <p:nvSpPr>
            <p:cNvPr id="3" name="TextBox 3"/>
            <p:cNvSpPr txBox="1"/>
            <p:nvPr/>
          </p:nvSpPr>
          <p:spPr>
            <a:xfrm>
              <a:off x="557784" y="451485"/>
              <a:ext cx="1010869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设计已闭环，当前落后集中在公用工程、设备安装与联调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60995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WORK PACKAGE PROGRESS · CRITICAL MILESTONES M5–M8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62356" y="1386840"/>
            <a:ext cx="7563460" cy="3842385"/>
            <a:chOff x="562356" y="1386840"/>
            <a:chExt cx="7563460" cy="3842385"/>
          </a:xfrm>
        </p:grpSpPr>
        <p:sp>
          <p:nvSpPr>
            <p:cNvPr id="6" name="TextBox 6"/>
            <p:cNvSpPr txBox="1"/>
            <p:nvPr/>
          </p:nvSpPr>
          <p:spPr>
            <a:xfrm>
              <a:off x="562356" y="1386840"/>
              <a:ext cx="16312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工作包完成率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048000" y="1714500"/>
              <a:ext cx="9525" cy="3505200"/>
            </a:xfrm>
            <a:custGeom>
              <a:avLst/>
              <a:gdLst/>
              <a:ahLst/>
              <a:cxnLst/>
              <a:rect l="l" t="t" r="r" b="b"/>
              <a:pathLst>
                <a:path w="9525" h="3505200">
                  <a:moveTo>
                    <a:pt x="0" y="0"/>
                  </a:moveTo>
                  <a:lnTo>
                    <a:pt x="0" y="35052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5219700"/>
              <a:ext cx="4476750" cy="9525"/>
            </a:xfrm>
            <a:custGeom>
              <a:avLst/>
              <a:gdLst/>
              <a:ahLst/>
              <a:cxnLst/>
              <a:rect l="l" t="t" r="r" b="b"/>
              <a:pathLst>
                <a:path w="4476750" h="9525">
                  <a:moveTo>
                    <a:pt x="0" y="0"/>
                  </a:moveTo>
                  <a:lnTo>
                    <a:pt x="4476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3880" y="1876425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需求与方案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048000" y="1847850"/>
              <a:ext cx="447675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51242" y="1844992"/>
              <a:ext cx="474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3880" y="2295525"/>
              <a:ext cx="1935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详细设计与安全评审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048000" y="2266950"/>
              <a:ext cx="447675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51242" y="2264092"/>
              <a:ext cx="474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3880" y="2714625"/>
              <a:ext cx="1508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场地与洁净环境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048000" y="2686050"/>
              <a:ext cx="411861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51242" y="2683192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92%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880" y="3133725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公用工程系统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048000" y="3105150"/>
              <a:ext cx="3491865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51242" y="3102292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78%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3880" y="3552825"/>
              <a:ext cx="1508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设备采购与物流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048000" y="3524250"/>
              <a:ext cx="3178492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51242" y="3521392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71%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3880" y="397192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设备安装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48000" y="3943350"/>
              <a:ext cx="214884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51242" y="3940492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880" y="439102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系统联调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048000" y="4362450"/>
              <a:ext cx="984885" cy="152400"/>
            </a:xfrm>
            <a:prstGeom prst="rect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51242" y="4359592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22%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3880" y="4810125"/>
              <a:ext cx="1508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能力验证与验收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781550"/>
              <a:ext cx="537210" cy="152400"/>
            </a:xfrm>
            <a:prstGeom prst="rect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51242" y="4778692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12%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182356" y="1386840"/>
            <a:ext cx="3159252" cy="4021455"/>
            <a:chOff x="8182356" y="1386840"/>
            <a:chExt cx="3159252" cy="4021455"/>
          </a:xfrm>
        </p:grpSpPr>
        <p:sp>
          <p:nvSpPr>
            <p:cNvPr id="34" name="TextBox 34"/>
            <p:cNvSpPr txBox="1"/>
            <p:nvPr/>
          </p:nvSpPr>
          <p:spPr>
            <a:xfrm>
              <a:off x="8182356" y="1386840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关键里程碑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572500" y="1952625"/>
              <a:ext cx="9525" cy="3267075"/>
            </a:xfrm>
            <a:custGeom>
              <a:avLst/>
              <a:gdLst/>
              <a:ahLst/>
              <a:cxnLst/>
              <a:rect l="l" t="t" r="r" b="b"/>
              <a:pathLst>
                <a:path w="9525" h="3267075">
                  <a:moveTo>
                    <a:pt x="0" y="0"/>
                  </a:moveTo>
                  <a:lnTo>
                    <a:pt x="0" y="3267075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467725" y="2085975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850630" y="2085975"/>
              <a:ext cx="2087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M4 · 首批6包到场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69397" y="2102168"/>
              <a:ext cx="772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完成 +3d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467725" y="28479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50630" y="2847975"/>
              <a:ext cx="2230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M5 · 全部10包到场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63784" y="2864168"/>
              <a:ext cx="8778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预测 +10d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8467725" y="36099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50630" y="3609975"/>
              <a:ext cx="22044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M6 · 核心安装完成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69397" y="3626168"/>
              <a:ext cx="772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预测 +7d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467725" y="43719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50630" y="4371975"/>
              <a:ext cx="22044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M7 · 多机联调完成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69397" y="4388168"/>
              <a:ext cx="772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预测 +5d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448675" y="50958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50630" y="5114925"/>
              <a:ext cx="22044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M8 · 阶段能力验收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58171" y="5131118"/>
              <a:ext cx="9834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12/15 维持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5676900"/>
            <a:ext cx="11049000" cy="379095"/>
            <a:chOff x="571500" y="5676900"/>
            <a:chExt cx="11049000" cy="379095"/>
          </a:xfrm>
        </p:grpSpPr>
        <p:sp>
          <p:nvSpPr>
            <p:cNvPr id="52" name="Rectangle 52"/>
            <p:cNvSpPr/>
            <p:nvPr/>
          </p:nvSpPr>
          <p:spPr>
            <a:xfrm>
              <a:off x="571500" y="5676900"/>
              <a:ext cx="11049000" cy="3619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3430" y="5762625"/>
              <a:ext cx="84706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总体完成度 </a:t>
              </a:r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68.6%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｜　落后基线 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4.1个百分点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｜　关键路径已由采购转向安装与联调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565404" y="6290310"/>
              <a:ext cx="3938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演示用虚构数据｜完成率、日期和偏差均为案例设定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042599" y="6290310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7784" y="451485"/>
            <a:ext cx="11118258" cy="733616"/>
            <a:chOff x="557784" y="451485"/>
            <a:chExt cx="11118258" cy="733616"/>
          </a:xfrm>
        </p:grpSpPr>
        <p:sp>
          <p:nvSpPr>
            <p:cNvPr id="3" name="TextBox 3"/>
            <p:cNvSpPr txBox="1"/>
            <p:nvPr/>
          </p:nvSpPr>
          <p:spPr>
            <a:xfrm>
              <a:off x="557784" y="451485"/>
              <a:ext cx="1111825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三机并行已具备，UPS与特气决定下一阶段放量上限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6694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FACILITY READINESS MAP · CURRENT PARALLEL LIMIT = 3 TOOLS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53000" y="2476500"/>
            <a:ext cx="2286000" cy="2461451"/>
            <a:chOff x="4953000" y="2476500"/>
            <a:chExt cx="2286000" cy="2461451"/>
          </a:xfrm>
        </p:grpSpPr>
        <p:sp>
          <p:nvSpPr>
            <p:cNvPr id="6" name="Polygon 6"/>
            <p:cNvSpPr/>
            <p:nvPr/>
          </p:nvSpPr>
          <p:spPr>
            <a:xfrm>
              <a:off x="4953000" y="2476500"/>
              <a:ext cx="2286000" cy="762000"/>
            </a:xfrm>
            <a:custGeom>
              <a:avLst/>
              <a:gdLst/>
              <a:ahLst/>
              <a:cxnLst/>
              <a:rect l="l" t="t" r="r" b="b"/>
              <a:pathLst>
                <a:path w="2286000" h="762000">
                  <a:moveTo>
                    <a:pt x="0" y="381000"/>
                  </a:moveTo>
                  <a:lnTo>
                    <a:pt x="1143000" y="0"/>
                  </a:lnTo>
                  <a:lnTo>
                    <a:pt x="2286000" y="381000"/>
                  </a:lnTo>
                  <a:lnTo>
                    <a:pt x="1143000" y="762000"/>
                  </a:lnTo>
                  <a:close/>
                </a:path>
              </a:pathLst>
            </a:cu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4953000" y="2857500"/>
              <a:ext cx="1143000" cy="1333500"/>
            </a:xfrm>
            <a:custGeom>
              <a:avLst/>
              <a:gdLst/>
              <a:ahLst/>
              <a:cxnLst/>
              <a:rect l="l" t="t" r="r" b="b"/>
              <a:pathLst>
                <a:path w="1143000" h="1333500">
                  <a:moveTo>
                    <a:pt x="0" y="0"/>
                  </a:moveTo>
                  <a:lnTo>
                    <a:pt x="0" y="952500"/>
                  </a:lnTo>
                  <a:lnTo>
                    <a:pt x="1143000" y="1333500"/>
                  </a:lnTo>
                  <a:lnTo>
                    <a:pt x="1143000" y="3810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6096000" y="2857500"/>
              <a:ext cx="1143000" cy="1333500"/>
            </a:xfrm>
            <a:custGeom>
              <a:avLst/>
              <a:gdLst/>
              <a:ahLst/>
              <a:cxnLst/>
              <a:rect l="l" t="t" r="r" b="b"/>
              <a:pathLst>
                <a:path w="1143000" h="1333500">
                  <a:moveTo>
                    <a:pt x="0" y="381000"/>
                  </a:moveTo>
                  <a:lnTo>
                    <a:pt x="1143000" y="0"/>
                  </a:lnTo>
                  <a:lnTo>
                    <a:pt x="1143000" y="95250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895975" y="3133717"/>
              <a:ext cx="400049" cy="409582"/>
              <a:chOff x="5895975" y="3133717"/>
              <a:chExt cx="400049" cy="40958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895975" y="3533774"/>
                <a:ext cx="40004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0049" h="9525">
                    <a:moveTo>
                      <a:pt x="0" y="0"/>
                    </a:moveTo>
                    <a:lnTo>
                      <a:pt x="400049" y="0"/>
                    </a:lnTo>
                  </a:path>
                </a:pathLst>
              </a:custGeom>
              <a:noFill/>
              <a:ln w="44450">
                <a:solidFill>
                  <a:schemeClr val="accent3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940425" y="3267075"/>
                <a:ext cx="3111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266700">
                    <a:moveTo>
                      <a:pt x="0" y="266700"/>
                    </a:moveTo>
                    <a:lnTo>
                      <a:pt x="0" y="0"/>
                    </a:lnTo>
                    <a:lnTo>
                      <a:pt x="111125" y="88900"/>
                    </a:lnTo>
                    <a:lnTo>
                      <a:pt x="111125" y="0"/>
                    </a:lnTo>
                    <a:lnTo>
                      <a:pt x="222250" y="88900"/>
                    </a:lnTo>
                    <a:lnTo>
                      <a:pt x="311150" y="88900"/>
                    </a:lnTo>
                  </a:path>
                </a:pathLst>
              </a:custGeom>
              <a:noFill/>
              <a:ln w="44450">
                <a:solidFill>
                  <a:schemeClr val="accent3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140450" y="3133717"/>
                <a:ext cx="111125" cy="400058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400058">
                    <a:moveTo>
                      <a:pt x="111125" y="400058"/>
                    </a:moveTo>
                    <a:lnTo>
                      <a:pt x="111125" y="222258"/>
                    </a:lnTo>
                    <a:lnTo>
                      <a:pt x="79210" y="9476"/>
                    </a:lnTo>
                    <a:cubicBezTo>
                      <a:pt x="78395" y="4030"/>
                      <a:pt x="73715" y="3"/>
                      <a:pt x="68208" y="8"/>
                    </a:cubicBezTo>
                    <a:lnTo>
                      <a:pt x="42761" y="8"/>
                    </a:lnTo>
                    <a:cubicBezTo>
                      <a:pt x="37320" y="0"/>
                      <a:pt x="32674" y="3932"/>
                      <a:pt x="31782" y="9298"/>
                    </a:cubicBezTo>
                    <a:lnTo>
                      <a:pt x="0" y="200033"/>
                    </a:lnTo>
                  </a:path>
                </a:pathLst>
              </a:custGeom>
              <a:noFill/>
              <a:ln w="44450">
                <a:solidFill>
                  <a:schemeClr val="accent3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029325" y="3444874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44450">
                <a:solidFill>
                  <a:schemeClr val="accent3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140450" y="3444874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44450">
                <a:solidFill>
                  <a:schemeClr val="accent3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4987595" y="4288155"/>
              <a:ext cx="22168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实验平台核心区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74844" y="4673918"/>
              <a:ext cx="2042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 TOOLS PARALLEL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524000"/>
            <a:ext cx="4381500" cy="1524000"/>
            <a:chOff x="571500" y="1524000"/>
            <a:chExt cx="4381500" cy="1524000"/>
          </a:xfrm>
        </p:grpSpPr>
        <p:sp>
          <p:nvSpPr>
            <p:cNvPr id="18" name="Line 18"/>
            <p:cNvSpPr/>
            <p:nvPr/>
          </p:nvSpPr>
          <p:spPr>
            <a:xfrm>
              <a:off x="3638550" y="2190750"/>
              <a:ext cx="1314450" cy="857250"/>
            </a:xfrm>
            <a:custGeom>
              <a:avLst/>
              <a:gdLst/>
              <a:ahLst/>
              <a:cxnLst/>
              <a:rect l="l" t="t" r="r" b="b"/>
              <a:pathLst>
                <a:path w="1314450" h="857250">
                  <a:moveTo>
                    <a:pt x="0" y="0"/>
                  </a:moveTo>
                  <a:lnTo>
                    <a:pt x="1314450" y="8572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1524000"/>
              <a:ext cx="3048000" cy="895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1906" y="165354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洁净环境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192" y="2006918"/>
              <a:ext cx="1284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94.2% PASS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45792" y="2006918"/>
              <a:ext cx="1463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2个回风口待整改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2800350"/>
            <a:ext cx="4381500" cy="895350"/>
            <a:chOff x="571500" y="2800350"/>
            <a:chExt cx="4381500" cy="895350"/>
          </a:xfrm>
        </p:grpSpPr>
        <p:sp>
          <p:nvSpPr>
            <p:cNvPr id="24" name="Line 24"/>
            <p:cNvSpPr/>
            <p:nvPr/>
          </p:nvSpPr>
          <p:spPr>
            <a:xfrm>
              <a:off x="3638550" y="3238500"/>
              <a:ext cx="1314450" cy="190500"/>
            </a:xfrm>
            <a:custGeom>
              <a:avLst/>
              <a:gdLst/>
              <a:ahLst/>
              <a:cxnLst/>
              <a:rect l="l" t="t" r="r" b="b"/>
              <a:pathLst>
                <a:path w="1314450" h="190500">
                  <a:moveTo>
                    <a:pt x="0" y="0"/>
                  </a:moveTo>
                  <a:lnTo>
                    <a:pt x="1314450" y="190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71500" y="2800350"/>
              <a:ext cx="3048000" cy="895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1906" y="292989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中央真空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192" y="32832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BACKUP TEST 60%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60092" y="3283268"/>
              <a:ext cx="13482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1支路压降+18%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3810000"/>
            <a:ext cx="4381500" cy="1162050"/>
            <a:chOff x="571500" y="3810000"/>
            <a:chExt cx="4381500" cy="1162050"/>
          </a:xfrm>
        </p:grpSpPr>
        <p:sp>
          <p:nvSpPr>
            <p:cNvPr id="30" name="Line 30"/>
            <p:cNvSpPr/>
            <p:nvPr/>
          </p:nvSpPr>
          <p:spPr>
            <a:xfrm>
              <a:off x="3638550" y="3810000"/>
              <a:ext cx="1314450" cy="666750"/>
            </a:xfrm>
            <a:custGeom>
              <a:avLst/>
              <a:gdLst/>
              <a:ahLst/>
              <a:cxnLst/>
              <a:rect l="l" t="t" r="r" b="b"/>
              <a:pathLst>
                <a:path w="1314450" h="666750">
                  <a:moveTo>
                    <a:pt x="0" y="66675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" y="4076700"/>
              <a:ext cx="3048000" cy="895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1906" y="420624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特气系统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4192" y="4559618"/>
              <a:ext cx="14943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/ 14 POINTS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88642" y="4559618"/>
              <a:ext cx="12714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2项联锁待复核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4191000"/>
            <a:ext cx="4762500" cy="1794701"/>
            <a:chOff x="571500" y="4191000"/>
            <a:chExt cx="4762500" cy="1794701"/>
          </a:xfrm>
        </p:grpSpPr>
        <p:sp>
          <p:nvSpPr>
            <p:cNvPr id="36" name="Line 36"/>
            <p:cNvSpPr/>
            <p:nvPr/>
          </p:nvSpPr>
          <p:spPr>
            <a:xfrm>
              <a:off x="3638550" y="4191000"/>
              <a:ext cx="1695450" cy="1352550"/>
            </a:xfrm>
            <a:custGeom>
              <a:avLst/>
              <a:gdLst/>
              <a:ahLst/>
              <a:cxnLst/>
              <a:rect l="l" t="t" r="r" b="b"/>
              <a:pathLst>
                <a:path w="1695450" h="1352550">
                  <a:moveTo>
                    <a:pt x="0" y="1352550"/>
                  </a:moveTo>
                  <a:lnTo>
                    <a:pt x="16954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1500" y="5353050"/>
              <a:ext cx="304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1906" y="5425440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工艺冷却水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60092" y="5474018"/>
              <a:ext cx="13777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 / 12 READY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192" y="57216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3个支路待二次平衡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239000" y="1524000"/>
            <a:ext cx="4381500" cy="1524000"/>
            <a:chOff x="7239000" y="1524000"/>
            <a:chExt cx="4381500" cy="1524000"/>
          </a:xfrm>
        </p:grpSpPr>
        <p:sp>
          <p:nvSpPr>
            <p:cNvPr id="42" name="Line 42"/>
            <p:cNvSpPr/>
            <p:nvPr/>
          </p:nvSpPr>
          <p:spPr>
            <a:xfrm>
              <a:off x="7239000" y="2190750"/>
              <a:ext cx="1295400" cy="857250"/>
            </a:xfrm>
            <a:custGeom>
              <a:avLst/>
              <a:gdLst/>
              <a:ahLst/>
              <a:cxnLst/>
              <a:rect l="l" t="t" r="r" b="b"/>
              <a:pathLst>
                <a:path w="1295400" h="857250">
                  <a:moveTo>
                    <a:pt x="1295400" y="0"/>
                  </a:moveTo>
                  <a:lnTo>
                    <a:pt x="0" y="8572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572500" y="1524000"/>
              <a:ext cx="3048000" cy="895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72906" y="165354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普通供电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75192" y="2006918"/>
              <a:ext cx="131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16 / 18 LIVE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94392" y="2006918"/>
              <a:ext cx="1079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2回路待复核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239000" y="2800350"/>
            <a:ext cx="4381500" cy="895350"/>
            <a:chOff x="7239000" y="2800350"/>
            <a:chExt cx="4381500" cy="895350"/>
          </a:xfrm>
        </p:grpSpPr>
        <p:sp>
          <p:nvSpPr>
            <p:cNvPr id="48" name="Line 48"/>
            <p:cNvSpPr/>
            <p:nvPr/>
          </p:nvSpPr>
          <p:spPr>
            <a:xfrm>
              <a:off x="7239000" y="3238500"/>
              <a:ext cx="1295400" cy="190500"/>
            </a:xfrm>
            <a:custGeom>
              <a:avLst/>
              <a:gdLst/>
              <a:ahLst/>
              <a:cxnLst/>
              <a:rect l="l" t="t" r="r" b="b"/>
              <a:pathLst>
                <a:path w="1295400" h="190500">
                  <a:moveTo>
                    <a:pt x="129540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572500" y="2800350"/>
              <a:ext cx="3048000" cy="895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772906" y="2929890"/>
              <a:ext cx="13077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UPS 供电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75192" y="3283268"/>
              <a:ext cx="1418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420 / 600 kVA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108692" y="328326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限制并行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239000" y="3810000"/>
            <a:ext cx="4381500" cy="1162050"/>
            <a:chOff x="7239000" y="3810000"/>
            <a:chExt cx="4381500" cy="1162050"/>
          </a:xfrm>
        </p:grpSpPr>
        <p:sp>
          <p:nvSpPr>
            <p:cNvPr id="54" name="Line 54"/>
            <p:cNvSpPr/>
            <p:nvPr/>
          </p:nvSpPr>
          <p:spPr>
            <a:xfrm>
              <a:off x="7239000" y="3810000"/>
              <a:ext cx="1295400" cy="666750"/>
            </a:xfrm>
            <a:custGeom>
              <a:avLst/>
              <a:gdLst/>
              <a:ahLst/>
              <a:cxnLst/>
              <a:rect l="l" t="t" r="r" b="b"/>
              <a:pathLst>
                <a:path w="1295400" h="666750">
                  <a:moveTo>
                    <a:pt x="1295400" y="666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572500" y="4076700"/>
              <a:ext cx="3048000" cy="895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772906" y="4206240"/>
              <a:ext cx="19001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监控与数据采集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75192" y="4559618"/>
              <a:ext cx="868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118 / 126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80092" y="4559618"/>
              <a:ext cx="11562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接入率93.7%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858000" y="4191000"/>
            <a:ext cx="4762500" cy="1794701"/>
            <a:chOff x="6858000" y="4191000"/>
            <a:chExt cx="4762500" cy="1794701"/>
          </a:xfrm>
        </p:grpSpPr>
        <p:sp>
          <p:nvSpPr>
            <p:cNvPr id="60" name="Line 60"/>
            <p:cNvSpPr/>
            <p:nvPr/>
          </p:nvSpPr>
          <p:spPr>
            <a:xfrm>
              <a:off x="6858000" y="4191000"/>
              <a:ext cx="1676400" cy="1352550"/>
            </a:xfrm>
            <a:custGeom>
              <a:avLst/>
              <a:gdLst/>
              <a:ahLst/>
              <a:cxnLst/>
              <a:rect l="l" t="t" r="r" b="b"/>
              <a:pathLst>
                <a:path w="1676400" h="1352550">
                  <a:moveTo>
                    <a:pt x="1676400" y="13525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572500" y="5353050"/>
              <a:ext cx="30480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774430" y="5457825"/>
              <a:ext cx="1359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当前放量上限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75192" y="5721668"/>
              <a:ext cx="23372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1台高负载＋2台低负载设备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65" name="TextBox 65"/>
            <p:cNvSpPr txBox="1"/>
            <p:nvPr/>
          </p:nvSpPr>
          <p:spPr>
            <a:xfrm>
              <a:off x="565404" y="6290310"/>
              <a:ext cx="4108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演示用虚构数据｜设施参数与门槛为案例内部管理口径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042599" y="6290310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7784" y="451485"/>
            <a:ext cx="9987717" cy="733616"/>
            <a:chOff x="557784" y="451485"/>
            <a:chExt cx="9987717" cy="733616"/>
          </a:xfrm>
        </p:grpSpPr>
        <p:sp>
          <p:nvSpPr>
            <p:cNvPr id="3" name="TextBox 3"/>
            <p:cNvSpPr txBox="1"/>
            <p:nvPr/>
          </p:nvSpPr>
          <p:spPr>
            <a:xfrm>
              <a:off x="557784" y="451485"/>
              <a:ext cx="998771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设备链路呈“10→9→6→5→3→1”收敛，瓶颈已转向联调验收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5679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EQUIPMENT PIPELINE · PROCUREMENT TO ACCEPTANCE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62356" y="1520190"/>
            <a:ext cx="6505194" cy="4612005"/>
            <a:chOff x="562356" y="1520190"/>
            <a:chExt cx="6505194" cy="4612005"/>
          </a:xfrm>
        </p:grpSpPr>
        <p:sp>
          <p:nvSpPr>
            <p:cNvPr id="6" name="TextBox 6"/>
            <p:cNvSpPr txBox="1"/>
            <p:nvPr/>
          </p:nvSpPr>
          <p:spPr>
            <a:xfrm>
              <a:off x="562356" y="1520190"/>
              <a:ext cx="27335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10个设备包的阶段收敛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571500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857250" y="2000250"/>
              <a:ext cx="6191250" cy="476250"/>
            </a:xfrm>
            <a:custGeom>
              <a:avLst/>
              <a:gdLst/>
              <a:ahLst/>
              <a:cxnLst/>
              <a:rect l="l" t="t" r="r" b="b"/>
              <a:pathLst>
                <a:path w="6191250" h="476250">
                  <a:moveTo>
                    <a:pt x="0" y="0"/>
                  </a:moveTo>
                  <a:lnTo>
                    <a:pt x="6191250" y="0"/>
                  </a:lnTo>
                  <a:lnTo>
                    <a:pt x="5881688" y="476250"/>
                  </a:lnTo>
                  <a:lnTo>
                    <a:pt x="309562" y="47625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45168" y="2162175"/>
              <a:ext cx="14154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采购启动 · 10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166812" y="2619375"/>
              <a:ext cx="5572125" cy="476250"/>
            </a:xfrm>
            <a:custGeom>
              <a:avLst/>
              <a:gdLst/>
              <a:ahLst/>
              <a:cxnLst/>
              <a:rect l="l" t="t" r="r" b="b"/>
              <a:pathLst>
                <a:path w="5572125" h="476250">
                  <a:moveTo>
                    <a:pt x="0" y="0"/>
                  </a:moveTo>
                  <a:lnTo>
                    <a:pt x="5572125" y="0"/>
                  </a:lnTo>
                  <a:lnTo>
                    <a:pt x="4643438" y="476250"/>
                  </a:lnTo>
                  <a:lnTo>
                    <a:pt x="928688" y="47625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306775" y="2781300"/>
              <a:ext cx="129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合同生效 · 9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2095500" y="3238500"/>
              <a:ext cx="3714750" cy="476250"/>
            </a:xfrm>
            <a:custGeom>
              <a:avLst/>
              <a:gdLst/>
              <a:ahLst/>
              <a:cxnLst/>
              <a:rect l="l" t="t" r="r" b="b"/>
              <a:pathLst>
                <a:path w="3714750" h="476250">
                  <a:moveTo>
                    <a:pt x="0" y="0"/>
                  </a:moveTo>
                  <a:lnTo>
                    <a:pt x="3714750" y="0"/>
                  </a:lnTo>
                  <a:lnTo>
                    <a:pt x="3405188" y="476250"/>
                  </a:lnTo>
                  <a:lnTo>
                    <a:pt x="309562" y="47625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30803" y="3400425"/>
              <a:ext cx="8441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到场 · 6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2405062" y="3857625"/>
              <a:ext cx="3095625" cy="476250"/>
            </a:xfrm>
            <a:custGeom>
              <a:avLst/>
              <a:gdLst/>
              <a:ahLst/>
              <a:cxnLst/>
              <a:rect l="l" t="t" r="r" b="b"/>
              <a:pathLst>
                <a:path w="3095625" h="476250">
                  <a:moveTo>
                    <a:pt x="0" y="0"/>
                  </a:moveTo>
                  <a:lnTo>
                    <a:pt x="3095625" y="0"/>
                  </a:lnTo>
                  <a:lnTo>
                    <a:pt x="2476500" y="476250"/>
                  </a:lnTo>
                  <a:lnTo>
                    <a:pt x="619125" y="47625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06775" y="4019550"/>
              <a:ext cx="129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安装完成 · 5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3024188" y="4476750"/>
              <a:ext cx="1857375" cy="476250"/>
            </a:xfrm>
            <a:custGeom>
              <a:avLst/>
              <a:gdLst/>
              <a:ahLst/>
              <a:cxnLst/>
              <a:rect l="l" t="t" r="r" b="b"/>
              <a:pathLst>
                <a:path w="1857375" h="476250">
                  <a:moveTo>
                    <a:pt x="0" y="0"/>
                  </a:moveTo>
                  <a:lnTo>
                    <a:pt x="1857375" y="0"/>
                  </a:lnTo>
                  <a:lnTo>
                    <a:pt x="1238250" y="476250"/>
                  </a:lnTo>
                  <a:lnTo>
                    <a:pt x="619125" y="47625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06775" y="4638675"/>
              <a:ext cx="129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进入联调 · 3</a:t>
              </a:r>
            </a:p>
          </p:txBody>
        </p:sp>
        <p:sp>
          <p:nvSpPr>
            <p:cNvPr id="18" name="Polygon 18"/>
            <p:cNvSpPr/>
            <p:nvPr/>
          </p:nvSpPr>
          <p:spPr>
            <a:xfrm>
              <a:off x="3643312" y="5095875"/>
              <a:ext cx="619125" cy="476250"/>
            </a:xfrm>
            <a:custGeom>
              <a:avLst/>
              <a:gdLst/>
              <a:ahLst/>
              <a:cxnLst/>
              <a:rect l="l" t="t" r="r" b="b"/>
              <a:pathLst>
                <a:path w="619125" h="476250">
                  <a:moveTo>
                    <a:pt x="0" y="0"/>
                  </a:moveTo>
                  <a:lnTo>
                    <a:pt x="619125" y="0"/>
                  </a:lnTo>
                  <a:lnTo>
                    <a:pt x="619125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chemeClr val="lt2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06775" y="5257800"/>
              <a:ext cx="129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阶段验收 ·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7255" y="5838825"/>
              <a:ext cx="3898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主要损失发生在“到场→联调→验收”转化段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96200" y="1657350"/>
            <a:ext cx="3594354" cy="1104900"/>
            <a:chOff x="7696200" y="1657350"/>
            <a:chExt cx="3594354" cy="1104900"/>
          </a:xfrm>
        </p:grpSpPr>
        <p:sp>
          <p:nvSpPr>
            <p:cNvPr id="22" name="Line 22"/>
            <p:cNvSpPr/>
            <p:nvPr/>
          </p:nvSpPr>
          <p:spPr>
            <a:xfrm>
              <a:off x="7696200" y="1657350"/>
              <a:ext cx="9525" cy="1104900"/>
            </a:xfrm>
            <a:custGeom>
              <a:avLst/>
              <a:gdLst/>
              <a:ahLst/>
              <a:cxnLst/>
              <a:rect l="l" t="t" r="r" b="b"/>
              <a:pathLst>
                <a:path w="9525" h="1104900">
                  <a:moveTo>
                    <a:pt x="0" y="0"/>
                  </a:moveTo>
                  <a:lnTo>
                    <a:pt x="0" y="110490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36230" y="1762125"/>
              <a:ext cx="12257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E02 · PVD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34706" y="2091690"/>
              <a:ext cx="18489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联调完成度 80%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36230" y="2466975"/>
              <a:ext cx="3354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下一节点：8月22日厚度均匀性复测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96200" y="3086100"/>
            <a:ext cx="3380994" cy="1104900"/>
            <a:chOff x="7696200" y="3086100"/>
            <a:chExt cx="3380994" cy="1104900"/>
          </a:xfrm>
        </p:grpSpPr>
        <p:sp>
          <p:nvSpPr>
            <p:cNvPr id="27" name="Line 27"/>
            <p:cNvSpPr/>
            <p:nvPr/>
          </p:nvSpPr>
          <p:spPr>
            <a:xfrm>
              <a:off x="7696200" y="3086100"/>
              <a:ext cx="9525" cy="1104900"/>
            </a:xfrm>
            <a:custGeom>
              <a:avLst/>
              <a:gdLst/>
              <a:ahLst/>
              <a:cxnLst/>
              <a:rect l="l" t="t" r="r" b="b"/>
              <a:pathLst>
                <a:path w="9525" h="1104900">
                  <a:moveTo>
                    <a:pt x="0" y="0"/>
                  </a:moveTo>
                  <a:lnTo>
                    <a:pt x="0" y="110490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36230" y="3190875"/>
              <a:ext cx="12257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E03 · CVD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34706" y="3520440"/>
              <a:ext cx="2834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安装完成，等待特气联锁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36230" y="3895725"/>
              <a:ext cx="3140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下一节点：8月29日启动带片联调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96200" y="4514850"/>
            <a:ext cx="3879647" cy="1104900"/>
            <a:chOff x="7696200" y="4514850"/>
            <a:chExt cx="3879647" cy="1104900"/>
          </a:xfrm>
        </p:grpSpPr>
        <p:sp>
          <p:nvSpPr>
            <p:cNvPr id="32" name="Line 32"/>
            <p:cNvSpPr/>
            <p:nvPr/>
          </p:nvSpPr>
          <p:spPr>
            <a:xfrm>
              <a:off x="7696200" y="4514850"/>
              <a:ext cx="9525" cy="1104900"/>
            </a:xfrm>
            <a:custGeom>
              <a:avLst/>
              <a:gdLst/>
              <a:ahLst/>
              <a:cxnLst/>
              <a:rect l="l" t="t" r="r" b="b"/>
              <a:pathLst>
                <a:path w="9525" h="1104900">
                  <a:moveTo>
                    <a:pt x="0" y="0"/>
                  </a:moveTo>
                  <a:lnTo>
                    <a:pt x="0" y="1104900"/>
                  </a:lnTo>
                </a:path>
              </a:pathLst>
            </a:custGeom>
            <a:noFill/>
            <a:ln w="47625">
              <a:solidFill>
                <a:srgbClr val="7A000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36230" y="4619625"/>
              <a:ext cx="27627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E10 · DATA PLATFORM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34706" y="4949190"/>
              <a:ext cx="36411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合同谈判 90%，核心接口待锁定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36230" y="5324475"/>
              <a:ext cx="2714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决策节点：8月18日分段交付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565404" y="6290310"/>
              <a:ext cx="4450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演示用虚构数据｜设备包、状态、日期和阻塞均为案例设定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42599" y="6290310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06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7784" y="451485"/>
            <a:ext cx="8838453" cy="733616"/>
            <a:chOff x="557784" y="451485"/>
            <a:chExt cx="8838453" cy="733616"/>
          </a:xfrm>
        </p:grpSpPr>
        <p:sp>
          <p:nvSpPr>
            <p:cNvPr id="3" name="TextBox 3"/>
            <p:cNvSpPr txBox="1"/>
            <p:nvPr/>
          </p:nvSpPr>
          <p:spPr>
            <a:xfrm>
              <a:off x="557784" y="451485"/>
              <a:ext cx="88384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当前仅40%方法可执行，量测与数据链是共同瓶颈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73236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CAPABILITY COVERAGE · 8 AVAILABLE / 5 COMMISSIONING / 7 MISSING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2356" y="1520190"/>
            <a:ext cx="6152769" cy="4042410"/>
            <a:chOff x="562356" y="1520190"/>
            <a:chExt cx="6152769" cy="4042410"/>
          </a:xfrm>
        </p:grpSpPr>
        <p:sp>
          <p:nvSpPr>
            <p:cNvPr id="6" name="TextBox 6"/>
            <p:cNvSpPr txBox="1"/>
            <p:nvPr/>
          </p:nvSpPr>
          <p:spPr>
            <a:xfrm>
              <a:off x="562356" y="1520190"/>
              <a:ext cx="27335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20类测试方法覆盖矩阵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48356" y="1854518"/>
              <a:ext cx="589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可执行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277106" y="1854518"/>
              <a:ext cx="589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联调中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05856" y="1854518"/>
              <a:ext cx="589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未具备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381250" y="2133600"/>
              <a:ext cx="4333875" cy="3429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8180" y="2314575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等离子刻蚀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524125" y="22669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83585" y="23498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857625" y="22669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17085" y="23498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191125" y="2266950"/>
              <a:ext cx="1381125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26785" y="23498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8180" y="273367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薄膜沉积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524125" y="26860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83585" y="27689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57625" y="26860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17085" y="27689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191125" y="2686050"/>
              <a:ext cx="1381125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26785" y="27689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8180" y="3152775"/>
              <a:ext cx="655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热处理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524125" y="31051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083585" y="31880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57625" y="31051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417085" y="31880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191125" y="3105150"/>
              <a:ext cx="1381125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26785" y="31880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8180" y="357187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湿法清洗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524125" y="35242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83585" y="36071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57625" y="35242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417085" y="36071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191125" y="3524250"/>
              <a:ext cx="1381125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26785" y="36071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8180" y="399097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真空诊断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524125" y="39433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083585" y="40262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857625" y="39433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17085" y="40262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191125" y="3943350"/>
              <a:ext cx="1381125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26785" y="40262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8180" y="441007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膜厚量测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524125" y="43624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83585" y="44453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857625" y="43624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417085" y="44453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191125" y="4362450"/>
              <a:ext cx="1381125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26785" y="44453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8180" y="482917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电学测试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524125" y="47815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083585" y="48644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857625" y="47815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417085" y="48644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191125" y="4781550"/>
              <a:ext cx="1381125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826785" y="48644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8180" y="524827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数据追溯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524125" y="52006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083585" y="52835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857625" y="5200650"/>
              <a:ext cx="123825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417085" y="52835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191125" y="5200650"/>
              <a:ext cx="1381125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26785" y="5283518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801356" y="1520190"/>
            <a:ext cx="3342894" cy="2670810"/>
            <a:chOff x="7801356" y="1520190"/>
            <a:chExt cx="3342894" cy="2670810"/>
          </a:xfrm>
        </p:grpSpPr>
        <p:sp>
          <p:nvSpPr>
            <p:cNvPr id="68" name="TextBox 68"/>
            <p:cNvSpPr txBox="1"/>
            <p:nvPr/>
          </p:nvSpPr>
          <p:spPr>
            <a:xfrm>
              <a:off x="7801356" y="1520190"/>
              <a:ext cx="2706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已形成的最小能力闭环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810500" y="2000250"/>
              <a:ext cx="3333750" cy="514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012430" y="2162175"/>
              <a:ext cx="20360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E01 · 等离子刻蚀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9477375" y="25146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810500" y="2838450"/>
              <a:ext cx="3333750" cy="514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012430" y="3000375"/>
              <a:ext cx="1295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临时膜厚量测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9477375" y="33528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7810500" y="3676650"/>
              <a:ext cx="3333750" cy="514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012430" y="3838575"/>
              <a:ext cx="1935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批次日志与结果归档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772400" y="4381500"/>
            <a:ext cx="3707740" cy="1394651"/>
            <a:chOff x="7772400" y="4381500"/>
            <a:chExt cx="3707740" cy="1394651"/>
          </a:xfrm>
        </p:grpSpPr>
        <p:sp>
          <p:nvSpPr>
            <p:cNvPr id="78" name="Line 78"/>
            <p:cNvSpPr/>
            <p:nvPr/>
          </p:nvSpPr>
          <p:spPr>
            <a:xfrm>
              <a:off x="7772400" y="4381500"/>
              <a:ext cx="9525" cy="1238250"/>
            </a:xfrm>
            <a:custGeom>
              <a:avLst/>
              <a:gdLst/>
              <a:ahLst/>
              <a:cxnLst/>
              <a:rect l="l" t="t" r="r" b="b"/>
              <a:pathLst>
                <a:path w="9525" h="1238250">
                  <a:moveTo>
                    <a:pt x="0" y="0"/>
                  </a:moveTo>
                  <a:lnTo>
                    <a:pt x="0" y="12382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012430" y="4467225"/>
              <a:ext cx="3227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18 BATCHES · 216 SAMPLES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010906" y="4796790"/>
              <a:ext cx="34692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E01 已验证 3 类案例配方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010906" y="5139690"/>
              <a:ext cx="28730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自动归档字段覆盖率 92%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013192" y="5512118"/>
              <a:ext cx="2538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下一目标：覆盖率 40% → 85%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84" name="TextBox 84"/>
            <p:cNvSpPr txBox="1"/>
            <p:nvPr/>
          </p:nvSpPr>
          <p:spPr>
            <a:xfrm>
              <a:off x="565404" y="6290310"/>
              <a:ext cx="479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演示用虚构数据｜方法数、批次、样品数和覆盖率均为案例设定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042599" y="6290310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7784" y="451485"/>
            <a:ext cx="9644954" cy="733616"/>
            <a:chOff x="557784" y="451485"/>
            <a:chExt cx="9644954" cy="733616"/>
          </a:xfrm>
        </p:grpSpPr>
        <p:sp>
          <p:nvSpPr>
            <p:cNvPr id="3" name="TextBox 3"/>
            <p:cNvSpPr txBox="1"/>
            <p:nvPr/>
          </p:nvSpPr>
          <p:spPr>
            <a:xfrm>
              <a:off x="557784" y="451485"/>
              <a:ext cx="96449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一次通过率仅40%，参数、设施与数据规则需并行收敛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4642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ACCEPTANCE SCOREBOARD · 4 PASS / 6 FAIL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2356" y="1520190"/>
            <a:ext cx="6676644" cy="4160711"/>
            <a:chOff x="562356" y="1520190"/>
            <a:chExt cx="6676644" cy="4160711"/>
          </a:xfrm>
        </p:grpSpPr>
        <p:sp>
          <p:nvSpPr>
            <p:cNvPr id="6" name="TextBox 6"/>
            <p:cNvSpPr txBox="1"/>
            <p:nvPr/>
          </p:nvSpPr>
          <p:spPr>
            <a:xfrm>
              <a:off x="562356" y="1520190"/>
              <a:ext cx="2195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10项阶段验收指标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184142" y="1568768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门槛 / 实测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95694" y="1568768"/>
              <a:ext cx="397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18288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59892" y="1987868"/>
              <a:ext cx="973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刻蚀重复性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4142" y="1987868"/>
              <a:ext cx="12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≤2.0% / 1.6%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867525" y="199072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9892" y="2368868"/>
              <a:ext cx="973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沉积重复性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4142" y="2368868"/>
              <a:ext cx="12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≤2.5% / 2.2%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867525" y="237172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9892" y="2749868"/>
              <a:ext cx="1290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刻蚀72h可用率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84142" y="2749868"/>
              <a:ext cx="12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≥95% / 96.2%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867525" y="275272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9892" y="313086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报警响应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84142" y="3130868"/>
              <a:ext cx="1377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≤3min / 2.4min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867525" y="313372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9892" y="3511868"/>
              <a:ext cx="1290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沉积72h可用率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84142" y="3511868"/>
              <a:ext cx="12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≥95% / 93.8%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867525" y="3514725"/>
              <a:ext cx="171450" cy="17145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9892" y="3892868"/>
              <a:ext cx="973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刻蚀吞吐量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84142" y="3892868"/>
              <a:ext cx="164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≥18 / 17.2 个·h⁻¹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867525" y="3895725"/>
              <a:ext cx="171450" cy="17145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9892" y="4273868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真空恢复时间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4142" y="4273868"/>
              <a:ext cx="1338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≤12 / 13.5 min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867525" y="4276725"/>
              <a:ext cx="171450" cy="17145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9892" y="4654868"/>
              <a:ext cx="1549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热处理温度稳定性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84142" y="4654868"/>
              <a:ext cx="13962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≤±0.5℃ / ±0.7℃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867525" y="4657725"/>
              <a:ext cx="171450" cy="17145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9892" y="5035868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数据链完整率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84142" y="5035868"/>
              <a:ext cx="14730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≥99.5% / 98.8%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867525" y="5038725"/>
              <a:ext cx="171450" cy="17145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9892" y="5416868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样品身份匹配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84142" y="5416868"/>
              <a:ext cx="12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100% / 99.6%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867525" y="5419725"/>
              <a:ext cx="171450" cy="17145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7810500" y="1524000"/>
            <a:ext cx="3810000" cy="1714500"/>
            <a:chOff x="7810500" y="1524000"/>
            <a:chExt cx="3810000" cy="1714500"/>
          </a:xfrm>
        </p:grpSpPr>
        <p:sp>
          <p:nvSpPr>
            <p:cNvPr id="41" name="Rectangle 41"/>
            <p:cNvSpPr/>
            <p:nvPr/>
          </p:nvSpPr>
          <p:spPr>
            <a:xfrm>
              <a:off x="7810500" y="1524000"/>
              <a:ext cx="3810000" cy="17145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010906" y="1672590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一次通过率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06334" y="2318385"/>
              <a:ext cx="7734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07880" y="2009775"/>
              <a:ext cx="1103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当前 4 / 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07880" y="2390775"/>
              <a:ext cx="16687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10/31 目标 ≥80%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07880" y="2752725"/>
              <a:ext cx="16687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12/10 目标 ≥90%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848600" y="3543300"/>
            <a:ext cx="3817620" cy="1045845"/>
            <a:chOff x="7848600" y="3543300"/>
            <a:chExt cx="3817620" cy="1045845"/>
          </a:xfrm>
        </p:grpSpPr>
        <p:sp>
          <p:nvSpPr>
            <p:cNvPr id="48" name="Line 48"/>
            <p:cNvSpPr/>
            <p:nvPr/>
          </p:nvSpPr>
          <p:spPr>
            <a:xfrm>
              <a:off x="7848600" y="35433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087106" y="3615690"/>
              <a:ext cx="1699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SOP 与人员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88630" y="4010025"/>
              <a:ext cx="2709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 / 28 SOP APPROVED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88630" y="4295775"/>
              <a:ext cx="35775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31 / 46 OPERATORS CERTIFIED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848600" y="4762500"/>
            <a:ext cx="3403702" cy="1127951"/>
            <a:chOff x="7848600" y="4762500"/>
            <a:chExt cx="3403702" cy="1127951"/>
          </a:xfrm>
        </p:grpSpPr>
        <p:sp>
          <p:nvSpPr>
            <p:cNvPr id="53" name="Line 53"/>
            <p:cNvSpPr/>
            <p:nvPr/>
          </p:nvSpPr>
          <p:spPr>
            <a:xfrm>
              <a:off x="7848600" y="47625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8121141" y="4902994"/>
              <a:ext cx="294509" cy="271462"/>
              <a:chOff x="8121141" y="4902994"/>
              <a:chExt cx="294509" cy="27146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121141" y="4902994"/>
                <a:ext cx="294509" cy="269139"/>
              </a:xfrm>
              <a:custGeom>
                <a:avLst/>
                <a:gdLst/>
                <a:ahLst/>
                <a:cxnLst/>
                <a:rect l="l" t="t" r="r" b="b"/>
                <a:pathLst>
                  <a:path w="294509" h="269139">
                    <a:moveTo>
                      <a:pt x="147940" y="269139"/>
                    </a:moveTo>
                    <a:cubicBezTo>
                      <a:pt x="53463" y="239854"/>
                      <a:pt x="0" y="140141"/>
                      <a:pt x="27893" y="45244"/>
                    </a:cubicBezTo>
                    <a:cubicBezTo>
                      <a:pt x="74879" y="47394"/>
                      <a:pt x="120857" y="31166"/>
                      <a:pt x="156084" y="0"/>
                    </a:cubicBezTo>
                    <a:cubicBezTo>
                      <a:pt x="191311" y="31166"/>
                      <a:pt x="237288" y="47394"/>
                      <a:pt x="284274" y="45244"/>
                    </a:cubicBezTo>
                    <a:cubicBezTo>
                      <a:pt x="294509" y="80068"/>
                      <a:pt x="294037" y="117165"/>
                      <a:pt x="282917" y="151717"/>
                    </a:cubicBezTo>
                  </a:path>
                </a:pathLst>
              </a:custGeom>
              <a:noFill/>
              <a:ln w="30162">
                <a:solidFill>
                  <a:schemeClr val="accent3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22468" y="511413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3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8601456" y="4930140"/>
              <a:ext cx="13077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EHS 放行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88630" y="5343525"/>
              <a:ext cx="2639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开放问题 7 项｜高风险 0 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89392" y="5626418"/>
              <a:ext cx="3162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特气、排风与报警联锁必须100%通过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3880" y="5895975"/>
            <a:ext cx="6319266" cy="293370"/>
            <a:chOff x="563880" y="5895975"/>
            <a:chExt cx="6319266" cy="293370"/>
          </a:xfrm>
        </p:grpSpPr>
        <p:sp>
          <p:nvSpPr>
            <p:cNvPr id="61" name="TextBox 61"/>
            <p:cNvSpPr txBox="1"/>
            <p:nvPr/>
          </p:nvSpPr>
          <p:spPr>
            <a:xfrm>
              <a:off x="563880" y="5895975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关闭路径：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649730" y="5895975"/>
              <a:ext cx="1263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参数优化 3项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421380" y="5895975"/>
              <a:ext cx="1263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设施整改 2项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193030" y="5895975"/>
              <a:ext cx="1690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数据规则修订 1项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5404" y="6309360"/>
            <a:ext cx="11061192" cy="234696"/>
            <a:chOff x="565404" y="6309360"/>
            <a:chExt cx="11061192" cy="234696"/>
          </a:xfrm>
        </p:grpSpPr>
        <p:sp>
          <p:nvSpPr>
            <p:cNvPr id="66" name="TextBox 66"/>
            <p:cNvSpPr txBox="1"/>
            <p:nvPr/>
          </p:nvSpPr>
          <p:spPr>
            <a:xfrm>
              <a:off x="565404" y="6309360"/>
              <a:ext cx="4108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演示用虚构数据｜门槛与实测值均为案例内部管理口径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042599" y="6309360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7784" y="451485"/>
            <a:ext cx="10149017" cy="733616"/>
            <a:chOff x="557784" y="451485"/>
            <a:chExt cx="10149017" cy="733616"/>
          </a:xfrm>
        </p:grpSpPr>
        <p:sp>
          <p:nvSpPr>
            <p:cNvPr id="3" name="TextBox 3"/>
            <p:cNvSpPr txBox="1"/>
            <p:nvPr/>
          </p:nvSpPr>
          <p:spPr>
            <a:xfrm>
              <a:off x="557784" y="451485"/>
              <a:ext cx="1014901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四项高关注风险共同挤压关键路径，最坏可造成15天延期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6297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CRITICAL PATH RISK · MANAGEMENT INTERVENTION REQUIRED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2356" y="1539240"/>
            <a:ext cx="5628894" cy="3894011"/>
            <a:chOff x="562356" y="1539240"/>
            <a:chExt cx="5628894" cy="3894011"/>
          </a:xfrm>
        </p:grpSpPr>
        <p:sp>
          <p:nvSpPr>
            <p:cNvPr id="6" name="TextBox 6"/>
            <p:cNvSpPr txBox="1"/>
            <p:nvPr/>
          </p:nvSpPr>
          <p:spPr>
            <a:xfrm>
              <a:off x="562356" y="1539240"/>
              <a:ext cx="16312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四个风险杠杆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047750" y="22098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23925" y="2162175"/>
              <a:ext cx="247650" cy="24765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23925" y="3114675"/>
              <a:ext cx="247650" cy="24765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23925" y="40671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23925" y="50196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1171575" y="2286000"/>
              <a:ext cx="5019675" cy="9525"/>
            </a:xfrm>
            <a:custGeom>
              <a:avLst/>
              <a:gdLst/>
              <a:ahLst/>
              <a:cxnLst/>
              <a:rect l="l" t="t" r="r" b="b"/>
              <a:pathLst>
                <a:path w="5019675" h="9525">
                  <a:moveTo>
                    <a:pt x="0" y="0"/>
                  </a:moveTo>
                  <a:lnTo>
                    <a:pt x="5019675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21130" y="1990725"/>
              <a:ext cx="12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R01 · 70%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57856" y="1958340"/>
              <a:ext cx="17748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UPS容量不足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1892" y="2311718"/>
              <a:ext cx="3700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多机联调延后8–12天｜动作：夜间切换扩容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171575" y="3238500"/>
              <a:ext cx="5019675" cy="9525"/>
            </a:xfrm>
            <a:custGeom>
              <a:avLst/>
              <a:gdLst/>
              <a:ahLst/>
              <a:cxnLst/>
              <a:rect l="l" t="t" r="r" b="b"/>
              <a:pathLst>
                <a:path w="5019675" h="9525">
                  <a:moveTo>
                    <a:pt x="0" y="0"/>
                  </a:moveTo>
                  <a:lnTo>
                    <a:pt x="5019675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21130" y="2943225"/>
              <a:ext cx="12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R02 · 60%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57856" y="2910840"/>
              <a:ext cx="2322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数据平台合同未锁定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21892" y="3264218"/>
              <a:ext cx="3806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数据验收延后10–15天｜动作：核心接口先行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171575" y="4191000"/>
              <a:ext cx="5019675" cy="9525"/>
            </a:xfrm>
            <a:custGeom>
              <a:avLst/>
              <a:gdLst/>
              <a:ahLst/>
              <a:cxnLst/>
              <a:rect l="l" t="t" r="r" b="b"/>
              <a:pathLst>
                <a:path w="5019675" h="9525">
                  <a:moveTo>
                    <a:pt x="0" y="0"/>
                  </a:moveTo>
                  <a:lnTo>
                    <a:pt x="5019675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21130" y="3895725"/>
              <a:ext cx="12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R04 · 65%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57856" y="3863340"/>
              <a:ext cx="30495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E09物流晚于基线10天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1892" y="4216718"/>
              <a:ext cx="39598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电学覆盖延至9月下旬｜动作：加急＋临时通道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171575" y="5143500"/>
              <a:ext cx="5019675" cy="9525"/>
            </a:xfrm>
            <a:custGeom>
              <a:avLst/>
              <a:gdLst/>
              <a:ahLst/>
              <a:cxnLst/>
              <a:rect l="l" t="t" r="r" b="b"/>
              <a:pathLst>
                <a:path w="5019675" h="9525">
                  <a:moveTo>
                    <a:pt x="0" y="0"/>
                  </a:moveTo>
                  <a:lnTo>
                    <a:pt x="5019675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21130" y="4848225"/>
              <a:ext cx="1280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R06 · 55%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57856" y="481584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量测资源不足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21892" y="5169218"/>
              <a:ext cx="34893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日均等待增加6小时｜动作：8周临时租用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03670" y="1539240"/>
            <a:ext cx="4742688" cy="3817811"/>
            <a:chOff x="6503670" y="1539240"/>
            <a:chExt cx="4742688" cy="3817811"/>
          </a:xfrm>
        </p:grpSpPr>
        <p:sp>
          <p:nvSpPr>
            <p:cNvPr id="29" name="TextBox 29"/>
            <p:cNvSpPr txBox="1"/>
            <p:nvPr/>
          </p:nvSpPr>
          <p:spPr>
            <a:xfrm>
              <a:off x="6944106" y="1539240"/>
              <a:ext cx="1402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概率 × 影响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239000" y="495300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239000" y="200025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2952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9239250" y="200025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0"/>
                  </a:moveTo>
                  <a:lnTo>
                    <a:pt x="0" y="2952750"/>
                  </a:lnTo>
                </a:path>
              </a:pathLst>
            </a:custGeom>
            <a:noFill/>
            <a:ln w="19050">
              <a:solidFill>
                <a:schemeClr val="accent5"/>
              </a:solidFill>
              <a:prstDash val="dash"/>
            </a:ln>
          </p:spPr>
        </p:sp>
        <p:sp>
          <p:nvSpPr>
            <p:cNvPr id="33" name="Line 33"/>
            <p:cNvSpPr/>
            <p:nvPr/>
          </p:nvSpPr>
          <p:spPr>
            <a:xfrm>
              <a:off x="7239000" y="3476625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  <a:prstDash val="dash"/>
            </a:ln>
          </p:spPr>
        </p:sp>
        <p:sp>
          <p:nvSpPr>
            <p:cNvPr id="34" name="Ellipse 34"/>
            <p:cNvSpPr/>
            <p:nvPr/>
          </p:nvSpPr>
          <p:spPr>
            <a:xfrm>
              <a:off x="9906000" y="2190750"/>
              <a:ext cx="571500" cy="571500"/>
            </a:xfrm>
            <a:prstGeom prst="ellipse">
              <a:avLst/>
            </a:prstGeom>
            <a:solidFill>
              <a:srgbClr val="7A0000">
                <a:alpha val="85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959702" y="2381250"/>
              <a:ext cx="464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R01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9296400" y="1943100"/>
              <a:ext cx="647700" cy="647700"/>
            </a:xfrm>
            <a:prstGeom prst="ellipse">
              <a:avLst/>
            </a:prstGeom>
            <a:solidFill>
              <a:srgbClr val="7A0000">
                <a:alpha val="85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88202" y="2171700"/>
              <a:ext cx="464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R02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9658350" y="2895600"/>
              <a:ext cx="495300" cy="495300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673952" y="3048000"/>
              <a:ext cx="464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R04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105900" y="3124200"/>
              <a:ext cx="457200" cy="457200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02452" y="3257550"/>
              <a:ext cx="464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R06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32142" y="5093018"/>
              <a:ext cx="589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低概率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56570" y="5093018"/>
              <a:ext cx="589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高概率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03670" y="4807268"/>
              <a:ext cx="589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低影响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03670" y="1949768"/>
              <a:ext cx="589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高影响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5715000"/>
            <a:ext cx="11049000" cy="398145"/>
            <a:chOff x="571500" y="5715000"/>
            <a:chExt cx="11049000" cy="398145"/>
          </a:xfrm>
        </p:grpSpPr>
        <p:sp>
          <p:nvSpPr>
            <p:cNvPr id="47" name="Rectangle 47"/>
            <p:cNvSpPr/>
            <p:nvPr/>
          </p:nvSpPr>
          <p:spPr>
            <a:xfrm>
              <a:off x="571500" y="5715000"/>
              <a:ext cx="4953000" cy="381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7A000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3430" y="5819775"/>
              <a:ext cx="31100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不干预：关键路径最大延误 </a:t>
              </a:r>
              <a:r>
                <a:rPr lang="zh-CN" sz="1500" b="1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15天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905500" y="5715000"/>
              <a:ext cx="5715000" cy="381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07430" y="5819775"/>
              <a:ext cx="29297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按节点决策：预计追回 </a:t>
              </a:r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7–10天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5404" y="6309360"/>
            <a:ext cx="11061192" cy="234696"/>
            <a:chOff x="565404" y="6309360"/>
            <a:chExt cx="11061192" cy="234696"/>
          </a:xfrm>
        </p:grpSpPr>
        <p:sp>
          <p:nvSpPr>
            <p:cNvPr id="52" name="TextBox 52"/>
            <p:cNvSpPr txBox="1"/>
            <p:nvPr/>
          </p:nvSpPr>
          <p:spPr>
            <a:xfrm>
              <a:off x="565404" y="6309360"/>
              <a:ext cx="4620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演示用虚构数据｜风险、概率、影响和追回天数均为案例设定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42599" y="6309360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09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5715000"/>
                </a:moveTo>
                <a:lnTo>
                  <a:pt x="12192000" y="5715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7784" y="451485"/>
            <a:ext cx="10149017" cy="733616"/>
            <a:chOff x="557784" y="451485"/>
            <a:chExt cx="10149017" cy="733616"/>
          </a:xfrm>
        </p:grpSpPr>
        <p:sp>
          <p:nvSpPr>
            <p:cNvPr id="3" name="TextBox 3"/>
            <p:cNvSpPr txBox="1"/>
            <p:nvPr/>
          </p:nvSpPr>
          <p:spPr>
            <a:xfrm>
              <a:off x="557784" y="451485"/>
              <a:ext cx="1014901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未来13周按设施放行、设备收口、多机验证、预验收推进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52017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90-DAY EXECUTION ROADMAP · SEVEN EXIT GATES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43840" y="1501140"/>
            <a:ext cx="7017791" cy="4332161"/>
            <a:chOff x="243840" y="1501140"/>
            <a:chExt cx="7017791" cy="4332161"/>
          </a:xfrm>
        </p:grpSpPr>
        <p:sp>
          <p:nvSpPr>
            <p:cNvPr id="6" name="TextBox 6"/>
            <p:cNvSpPr txBox="1"/>
            <p:nvPr/>
          </p:nvSpPr>
          <p:spPr>
            <a:xfrm>
              <a:off x="562356" y="1501140"/>
              <a:ext cx="1658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13周执行路线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428750" y="2000250"/>
              <a:ext cx="9525" cy="3571875"/>
            </a:xfrm>
            <a:custGeom>
              <a:avLst/>
              <a:gdLst/>
              <a:ahLst/>
              <a:cxnLst/>
              <a:rect l="l" t="t" r="r" b="b"/>
              <a:pathLst>
                <a:path w="9525" h="3571875">
                  <a:moveTo>
                    <a:pt x="0" y="0"/>
                  </a:moveTo>
                  <a:lnTo>
                    <a:pt x="0" y="3571875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428750" y="5572125"/>
              <a:ext cx="5810250" cy="9525"/>
            </a:xfrm>
            <a:custGeom>
              <a:avLst/>
              <a:gdLst/>
              <a:ahLst/>
              <a:cxnLst/>
              <a:rect l="l" t="t" r="r" b="b"/>
              <a:pathLst>
                <a:path w="5810250" h="9525">
                  <a:moveTo>
                    <a:pt x="0" y="0"/>
                  </a:moveTo>
                  <a:lnTo>
                    <a:pt x="581025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14450" y="19812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00329" y="2006918"/>
              <a:ext cx="573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W1–2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4505" y="1876425"/>
              <a:ext cx="4150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关闭9个设施整改项，完成E04安装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55267" y="2140268"/>
              <a:ext cx="3919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出口：除UPS外，G1设施可用条件满足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314450" y="25527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00329" y="2578418"/>
              <a:ext cx="573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W3–4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54505" y="2447925"/>
              <a:ext cx="5507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特气联锁关闭，3台设备联调，UPS达到600 kVA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55267" y="2711768"/>
              <a:ext cx="22027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出口：关键联锁100%通过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314450" y="3124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00329" y="3149918"/>
              <a:ext cx="573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W5–6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4505" y="3019425"/>
              <a:ext cx="5347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E07/E08/E09安装完成，新增4类可执行方法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55267" y="3283268"/>
              <a:ext cx="2884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出口：9台设备安装检查100%关闭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1314450" y="36957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0329" y="3721418"/>
              <a:ext cx="573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W7–8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54505" y="3590925"/>
              <a:ext cx="37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打通4台设备、2套量测与1套数据平台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55267" y="3854768"/>
              <a:ext cx="2442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出口：连续300条记录无断链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314450" y="42672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2085" y="4292918"/>
              <a:ext cx="7015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W9–10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54505" y="4162425"/>
              <a:ext cx="41933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10台设备安装收口，至少8项核心指标通过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55267" y="4426268"/>
              <a:ext cx="2881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出口：M6核心设备安装完成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1314450" y="48387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43840" y="4864418"/>
              <a:ext cx="829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W11–12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54505" y="4733925"/>
              <a:ext cx="3521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4台核心设备完成72小时稳定性验证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55267" y="4997768"/>
              <a:ext cx="2778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出口：核心指标一次通过率≥80%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1295400" y="53911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574" y="5435918"/>
              <a:ext cx="445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W13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54505" y="5305425"/>
              <a:ext cx="33756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形成预验收报告，冻结重大未决项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55267" y="5569268"/>
              <a:ext cx="3348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出口：具备M7多机联调验收条件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39100" y="1543050"/>
            <a:ext cx="3581400" cy="4095750"/>
            <a:chOff x="8039100" y="1543050"/>
            <a:chExt cx="3581400" cy="4095750"/>
          </a:xfrm>
        </p:grpSpPr>
        <p:sp>
          <p:nvSpPr>
            <p:cNvPr id="38" name="Rectangle 38"/>
            <p:cNvSpPr/>
            <p:nvPr/>
          </p:nvSpPr>
          <p:spPr>
            <a:xfrm>
              <a:off x="8039100" y="1543050"/>
              <a:ext cx="3581400" cy="40957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336756" y="1840706"/>
              <a:ext cx="300038" cy="300038"/>
              <a:chOff x="8336756" y="1840706"/>
              <a:chExt cx="300038" cy="300038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36756" y="207406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570119" y="184070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70094" y="1874044"/>
                <a:ext cx="250031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233362">
                    <a:moveTo>
                      <a:pt x="100012" y="233362"/>
                    </a:moveTo>
                    <a:lnTo>
                      <a:pt x="191691" y="233362"/>
                    </a:lnTo>
                    <a:cubicBezTo>
                      <a:pt x="223911" y="233362"/>
                      <a:pt x="250031" y="207243"/>
                      <a:pt x="250031" y="175022"/>
                    </a:cubicBezTo>
                    <a:cubicBezTo>
                      <a:pt x="250031" y="142801"/>
                      <a:pt x="223911" y="116681"/>
                      <a:pt x="191691" y="116681"/>
                    </a:cubicBezTo>
                    <a:lnTo>
                      <a:pt x="58341" y="116681"/>
                    </a:lnTo>
                    <a:cubicBezTo>
                      <a:pt x="26120" y="116681"/>
                      <a:pt x="0" y="90561"/>
                      <a:pt x="0" y="58341"/>
                    </a:cubicBezTo>
                    <a:cubicBezTo>
                      <a:pt x="0" y="26120"/>
                      <a:pt x="26120" y="0"/>
                      <a:pt x="58341" y="0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33338">
                <a:solidFill>
                  <a:schemeClr val="accent3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8849106" y="1882140"/>
              <a:ext cx="1658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90天预期结果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286750" y="2381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79892" y="2654618"/>
              <a:ext cx="1482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INSTALLATION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73905" y="2606040"/>
              <a:ext cx="14699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50% → 100%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79892" y="3226118"/>
              <a:ext cx="2018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METHOD COVERAGE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21763" y="3177540"/>
              <a:ext cx="13221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40% → 85%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79892" y="3797618"/>
              <a:ext cx="18207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FIRST-PASS RATE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73905" y="3749040"/>
              <a:ext cx="14699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40% → ≥80%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79892" y="4369118"/>
              <a:ext cx="1762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CERTIFIED STAFF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25013" y="4320540"/>
              <a:ext cx="918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31 → 42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8286750" y="48577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79130" y="4962525"/>
              <a:ext cx="1510665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四项结果均依赖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D01–D05按期决策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65404" y="6290310"/>
            <a:ext cx="11061192" cy="234696"/>
            <a:chOff x="565404" y="6290310"/>
            <a:chExt cx="11061192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565404" y="6290310"/>
              <a:ext cx="4450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演示用虚构数据｜时间窗、任务、交付和目标均为案例设定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42599" y="6290310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57784" y="451485"/>
            <a:ext cx="8757803" cy="733616"/>
            <a:chOff x="557784" y="451485"/>
            <a:chExt cx="8757803" cy="733616"/>
          </a:xfrm>
        </p:grpSpPr>
        <p:sp>
          <p:nvSpPr>
            <p:cNvPr id="3" name="TextBox 3"/>
            <p:cNvSpPr txBox="1"/>
            <p:nvPr/>
          </p:nvSpPr>
          <p:spPr>
            <a:xfrm>
              <a:off x="557784" y="451485"/>
              <a:ext cx="875780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五项决策须在8月21日前完成，才能守住阶段验收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64642" y="921068"/>
              <a:ext cx="6460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MANAGEMENT DECISION BOARD · APPROVE / ADJUST / RETURN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42950" y="1704975"/>
            <a:ext cx="4994910" cy="4072509"/>
            <a:chOff x="742950" y="1704975"/>
            <a:chExt cx="4994910" cy="4072509"/>
          </a:xfrm>
        </p:grpSpPr>
        <p:sp>
          <p:nvSpPr>
            <p:cNvPr id="6" name="Line 6"/>
            <p:cNvSpPr/>
            <p:nvPr/>
          </p:nvSpPr>
          <p:spPr>
            <a:xfrm>
              <a:off x="857250" y="180975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83832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5380" y="1704975"/>
              <a:ext cx="15250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D01 · 08/16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3856" y="1996440"/>
              <a:ext cx="4153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UPS配电屏扩容｜追加120万元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6142" y="2311718"/>
              <a:ext cx="2548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不决策：多机联调延后8–12天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2950" y="269557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5380" y="2562225"/>
              <a:ext cx="15250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D02 · 08/18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2853690"/>
              <a:ext cx="40251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数据平台分段交付｜首阶段260万元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142" y="3168968"/>
              <a:ext cx="2846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不决策：数据链验收延后10–15天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2950" y="355282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5380" y="3419475"/>
              <a:ext cx="15250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D03 · 08/19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3856" y="3710940"/>
              <a:ext cx="37691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8周临时量测与校准服务｜35万元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6142" y="4026218"/>
              <a:ext cx="2807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不决策：验证排队日均增加6小时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42950" y="441007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5380" y="4276725"/>
              <a:ext cx="15250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D04 · 08/20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3856" y="4568190"/>
              <a:ext cx="46040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E09加急物流＋临时通道｜18万元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6142" y="4883468"/>
              <a:ext cx="2999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不决策：电学能力覆盖延至9月下旬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42950" y="5267325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35380" y="5133975"/>
              <a:ext cx="15250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D05 · 08/21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3856" y="5425440"/>
              <a:ext cx="32570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调配6名全职人员，持续10周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987284" y="1664018"/>
            <a:ext cx="3252216" cy="1808416"/>
            <a:chOff x="7987284" y="1664018"/>
            <a:chExt cx="3252216" cy="1808416"/>
          </a:xfrm>
        </p:grpSpPr>
        <p:sp>
          <p:nvSpPr>
            <p:cNvPr id="27" name="TextBox 27"/>
            <p:cNvSpPr txBox="1"/>
            <p:nvPr/>
          </p:nvSpPr>
          <p:spPr>
            <a:xfrm>
              <a:off x="7994142" y="1664018"/>
              <a:ext cx="2253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DECISION WINDOW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87284" y="2394585"/>
              <a:ext cx="15208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 DAYS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001000" y="29527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91856" y="3120390"/>
              <a:ext cx="21817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8月16日 → 8月21日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91856" y="3729990"/>
            <a:ext cx="3323844" cy="1354455"/>
            <a:chOff x="7991856" y="3729990"/>
            <a:chExt cx="3323844" cy="1354455"/>
          </a:xfrm>
        </p:grpSpPr>
        <p:sp>
          <p:nvSpPr>
            <p:cNvPr id="32" name="TextBox 32"/>
            <p:cNvSpPr txBox="1"/>
            <p:nvPr/>
          </p:nvSpPr>
          <p:spPr>
            <a:xfrm>
              <a:off x="7991856" y="372999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管理原则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3380" y="4143375"/>
              <a:ext cx="2788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阶段验收优先，允许分层放行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93380" y="4467225"/>
              <a:ext cx="17381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EHS红线不豁免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93380" y="4791075"/>
              <a:ext cx="3322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延期&gt;5天或预算偏差&gt;10%自动升级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0" y="5353050"/>
            <a:ext cx="3717097" cy="657606"/>
            <a:chOff x="8001000" y="5353050"/>
            <a:chExt cx="3717097" cy="657606"/>
          </a:xfrm>
        </p:grpSpPr>
        <p:sp>
          <p:nvSpPr>
            <p:cNvPr id="37" name="Rectangle 37"/>
            <p:cNvSpPr/>
            <p:nvPr/>
          </p:nvSpPr>
          <p:spPr>
            <a:xfrm>
              <a:off x="8001000" y="5353050"/>
              <a:ext cx="3524250" cy="6477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258969" y="5559425"/>
              <a:ext cx="202407" cy="229394"/>
              <a:chOff x="8258969" y="5559425"/>
              <a:chExt cx="202407" cy="229394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258969" y="5559425"/>
                <a:ext cx="161925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15901">
                    <a:moveTo>
                      <a:pt x="62274" y="215901"/>
                    </a:move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0413" y="57348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12944" y="5613400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12944" y="5667375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8715756" y="5539740"/>
              <a:ext cx="30023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批准　/　调整　/　退回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66377" y="5775960"/>
              <a:ext cx="2074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TARGET · 2026-12-15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5404" y="6309360"/>
            <a:ext cx="11061192" cy="234696"/>
            <a:chOff x="565404" y="6309360"/>
            <a:chExt cx="11061192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565404" y="6309360"/>
              <a:ext cx="5303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演示用虚构数据｜金额、日期、资源和后果不构成真实投资或采购建议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42599" y="6309360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11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miconductor_platform_progress_case_redwhite">
  <a:themeElements>
    <a:clrScheme name="semiconductor_platform_progress_case_redwhite">
      <a:dk1>
        <a:srgbClr val="222222"/>
      </a:dk1>
      <a:lt1>
        <a:srgbClr val="FFFFFF"/>
      </a:lt1>
      <a:dk2>
        <a:srgbClr val="1F497D"/>
      </a:dk2>
      <a:lt2>
        <a:srgbClr val="E7F6FB"/>
      </a:lt2>
      <a:accent1>
        <a:srgbClr val="C00000"/>
      </a:accent1>
      <a:accent2>
        <a:srgbClr val="87D9F5"/>
      </a:accent2>
      <a:accent3>
        <a:srgbClr val="3D9EC4"/>
      </a:accent3>
      <a:accent4>
        <a:srgbClr val="C00000"/>
      </a:accent4>
      <a:accent5>
        <a:srgbClr val="D4EEF6"/>
      </a:accent5>
      <a:accent6>
        <a:srgbClr val="6B6B6B"/>
      </a:accent6>
      <a:hlink>
        <a:srgbClr val="87D9F5"/>
      </a:hlink>
      <a:folHlink>
        <a:srgbClr val="3D9EC4"/>
      </a:folHlink>
    </a:clrScheme>
    <a:fontScheme name="semiconductor_platform_progress_case_redwhite">
      <a:maj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miconductor_platform_progress_case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emiconductor_platform_progress_case_redwhite">
  <a:themeElements>
    <a:clrScheme name="semiconductor_platform_progress_case_redwhite">
      <a:dk1>
        <a:srgbClr val="222222"/>
      </a:dk1>
      <a:lt1>
        <a:srgbClr val="FFFFFF"/>
      </a:lt1>
      <a:dk2>
        <a:srgbClr val="1F497D"/>
      </a:dk2>
      <a:lt2>
        <a:srgbClr val="E7F6FB"/>
      </a:lt2>
      <a:accent1>
        <a:srgbClr val="C00000"/>
      </a:accent1>
      <a:accent2>
        <a:srgbClr val="87D9F5"/>
      </a:accent2>
      <a:accent3>
        <a:srgbClr val="3D9EC4"/>
      </a:accent3>
      <a:accent4>
        <a:srgbClr val="C00000"/>
      </a:accent4>
      <a:accent5>
        <a:srgbClr val="D4EEF6"/>
      </a:accent5>
      <a:accent6>
        <a:srgbClr val="6B6B6B"/>
      </a:accent6>
      <a:hlink>
        <a:srgbClr val="87D9F5"/>
      </a:hlink>
      <a:folHlink>
        <a:srgbClr val="3D9EC4"/>
      </a:folHlink>
    </a:clrScheme>
    <a:fontScheme name="semiconductor_platform_progress_case_redwhite">
      <a:maj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miconductor_platform_progress_case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2026-08-14T06:43:19Z</dcterms:created>
  <dcterms:modified xsi:type="dcterms:W3CDTF">2026-08-14T06:43:19Z</dcterms:modified>
  <cp:category/>
  <cp:contentStatus/>
</cp:coreProperties>
</file>